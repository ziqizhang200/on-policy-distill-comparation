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ef8a4abcdc4de2" /><Relationship Type="http://schemas.openxmlformats.org/officeDocument/2006/relationships/extended-properties" Target="/docProps/app.xml" Id="Rbad4b36fb2cc4cd7" /><Relationship Type="http://schemas.openxmlformats.org/officeDocument/2006/relationships/officeDocument" Target="/ppt/presentation.xml" Id="Rab6e6871311640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36a8f9d7b44dff"/>
  </p:sldMasterIdLst>
  <p:notesMasterIdLst>
    <p:notesMasterId xmlns:r="http://schemas.openxmlformats.org/officeDocument/2006/relationships" r:id="R0211fd4c97344019"/>
  </p:notesMasterIdLst>
  <p:sldIdLst>
    <p:sldId xmlns:r="http://schemas.openxmlformats.org/officeDocument/2006/relationships" id="256" r:id="R32e20fea64de4a7e"/>
    <p:sldId xmlns:r="http://schemas.openxmlformats.org/officeDocument/2006/relationships" id="257" r:id="R9726240327c1478f"/>
    <p:sldId xmlns:r="http://schemas.openxmlformats.org/officeDocument/2006/relationships" id="258" r:id="Rd075925e58b24a3b"/>
    <p:sldId xmlns:r="http://schemas.openxmlformats.org/officeDocument/2006/relationships" id="259" r:id="Rc852e9a630a44264"/>
    <p:sldId xmlns:r="http://schemas.openxmlformats.org/officeDocument/2006/relationships" id="260" r:id="Ra687567af3934a31"/>
    <p:sldId xmlns:r="http://schemas.openxmlformats.org/officeDocument/2006/relationships" id="261" r:id="R91c763a8b1144625"/>
    <p:sldId xmlns:r="http://schemas.openxmlformats.org/officeDocument/2006/relationships" id="262" r:id="Re32e4616100f43b3"/>
    <p:sldId xmlns:r="http://schemas.openxmlformats.org/officeDocument/2006/relationships" id="263" r:id="Rf5af1ee8bd1f44fd"/>
    <p:sldId xmlns:r="http://schemas.openxmlformats.org/officeDocument/2006/relationships" id="264" r:id="Rf5a7c4cdcb3b4030"/>
    <p:sldId xmlns:r="http://schemas.openxmlformats.org/officeDocument/2006/relationships" id="265" r:id="Re5fb90e6d7234b69"/>
    <p:sldId xmlns:r="http://schemas.openxmlformats.org/officeDocument/2006/relationships" id="266" r:id="Rd7029300e35144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dcb98d7e9b43de" /><Relationship Type="http://schemas.openxmlformats.org/officeDocument/2006/relationships/slideMaster" Target="/ppt/slideMasters/slideMaster1.xml" Id="R8336a8f9d7b44dff" /><Relationship Type="http://schemas.openxmlformats.org/officeDocument/2006/relationships/notesMaster" Target="/ppt/notesMasters/notesMaster1.xml" Id="R0211fd4c97344019" /><Relationship Type="http://schemas.openxmlformats.org/officeDocument/2006/relationships/presProps" Target="/ppt/presProps.xml" Id="Rd7191a9462534061" /><Relationship Type="http://schemas.openxmlformats.org/officeDocument/2006/relationships/viewProps" Target="/ppt/viewProps.xml" Id="R30afbdab5dfd42f3" /><Relationship Type="http://schemas.openxmlformats.org/officeDocument/2006/relationships/tableStyles" Target="/ppt/tableStyles.xml" Id="R457ffaf849a84ef2" /><Relationship Type="http://schemas.openxmlformats.org/officeDocument/2006/relationships/slide" Target="/ppt/slides/slide1.xml" Id="R32e20fea64de4a7e" /><Relationship Type="http://schemas.openxmlformats.org/officeDocument/2006/relationships/slide" Target="/ppt/slides/slide2.xml" Id="R9726240327c1478f" /><Relationship Type="http://schemas.openxmlformats.org/officeDocument/2006/relationships/slide" Target="/ppt/slides/slide3.xml" Id="Rd075925e58b24a3b" /><Relationship Type="http://schemas.openxmlformats.org/officeDocument/2006/relationships/slide" Target="/ppt/slides/slide4.xml" Id="Rc852e9a630a44264" /><Relationship Type="http://schemas.openxmlformats.org/officeDocument/2006/relationships/slide" Target="/ppt/slides/slide5.xml" Id="Ra687567af3934a31" /><Relationship Type="http://schemas.openxmlformats.org/officeDocument/2006/relationships/slide" Target="/ppt/slides/slide6.xml" Id="R91c763a8b1144625" /><Relationship Type="http://schemas.openxmlformats.org/officeDocument/2006/relationships/slide" Target="/ppt/slides/slide7.xml" Id="Re32e4616100f43b3" /><Relationship Type="http://schemas.openxmlformats.org/officeDocument/2006/relationships/slide" Target="/ppt/slides/slide8.xml" Id="Rf5af1ee8bd1f44fd" /><Relationship Type="http://schemas.openxmlformats.org/officeDocument/2006/relationships/slide" Target="/ppt/slides/slide9.xml" Id="Rf5a7c4cdcb3b4030" /><Relationship Type="http://schemas.openxmlformats.org/officeDocument/2006/relationships/slide" Target="/ppt/slides/slide10.xml" Id="Re5fb90e6d7234b69" /><Relationship Type="http://schemas.openxmlformats.org/officeDocument/2006/relationships/slide" Target="/ppt/slides/slide11.xml" Id="Rd7029300e35144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7d368be9d248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a92766cb774378" /><Relationship Type="http://schemas.openxmlformats.org/officeDocument/2006/relationships/notesMaster" Target="/ppt/notesMasters/notesMaster1.xml" Id="R331e4d087e0141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05fea004604170" /><Relationship Type="http://schemas.openxmlformats.org/officeDocument/2006/relationships/notesMaster" Target="/ppt/notesMasters/notesMaster1.xml" Id="Raebb686a6da14c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33cd71d86047d3" /><Relationship Type="http://schemas.openxmlformats.org/officeDocument/2006/relationships/notesMaster" Target="/ppt/notesMasters/notesMaster1.xml" Id="R61ab8fc58af843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d69532948f4232" /><Relationship Type="http://schemas.openxmlformats.org/officeDocument/2006/relationships/notesMaster" Target="/ppt/notesMasters/notesMaster1.xml" Id="Rbe3784cc8d784d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94a1dca7a9446e" /><Relationship Type="http://schemas.openxmlformats.org/officeDocument/2006/relationships/notesMaster" Target="/ppt/notesMasters/notesMaster1.xml" Id="Rdc1ed9d63f6844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072f51cc9b4e03" /><Relationship Type="http://schemas.openxmlformats.org/officeDocument/2006/relationships/notesMaster" Target="/ppt/notesMasters/notesMaster1.xml" Id="Rce572d8020214a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7bfbcb9c9c4f70" /><Relationship Type="http://schemas.openxmlformats.org/officeDocument/2006/relationships/notesMaster" Target="/ppt/notesMasters/notesMaster1.xml" Id="Rb48dfc7087df45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7d69e106614544" /><Relationship Type="http://schemas.openxmlformats.org/officeDocument/2006/relationships/notesMaster" Target="/ppt/notesMasters/notesMaster1.xml" Id="Redf55a74fe5f4d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8420c89993455a" /><Relationship Type="http://schemas.openxmlformats.org/officeDocument/2006/relationships/notesMaster" Target="/ppt/notesMasters/notesMaster1.xml" Id="Rf0cd63d3567e47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221328e4de4a31" /><Relationship Type="http://schemas.openxmlformats.org/officeDocument/2006/relationships/notesMaster" Target="/ppt/notesMasters/notesMaster1.xml" Id="R1d7d8ff2b4c243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5d52b217d4455e" /><Relationship Type="http://schemas.openxmlformats.org/officeDocument/2006/relationships/notesMaster" Target="/ppt/notesMasters/notesMaster1.xml" Id="R4d97912e60b94c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时间：0:30</a:t>
            </a:r>
          </a:p>
          <a:p xmlns:a="http://schemas.openxmlformats.org/drawingml/2006/main">
            <a:r>
              <a:t>要点：介绍课题名称、研究对象与汇报人。</a:t>
            </a:r>
          </a:p>
          <a:p xmlns:a="http://schemas.openxmlformats.org/drawingml/2006/main">
            <a:r>
              <a:t>过渡：从在线策略蒸馏的研究动机开始，说明为什么需要把学生真实生成状态纳入训练。</a:t>
            </a:r>
          </a:p>
          <a:p xmlns:a="http://schemas.openxmlformats.org/drawingml/2006/main">
            <a:r>
              <a:t>提示：封面信息为项目当前开题阶段信息。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时间：0:50</a:t>
            </a:r>
          </a:p>
          <a:p xmlns:a="http://schemas.openxmlformats.org/drawingml/2006/main">
            <a:r>
              <a:t>要点：强调三类缺口：状态分布偏移、目标函数与监督粒度的耦合、token 指标和端到端工具调用之间的断层。</a:t>
            </a:r>
          </a:p>
          <a:p xmlns:a="http://schemas.openxmlformats.org/drawingml/2006/main">
            <a:r>
              <a:t>过渡：下面把这些缺口压缩成三个可检验的研究问题。</a:t>
            </a:r>
          </a:p>
          <a:p xmlns:a="http://schemas.openxmlformats.org/drawingml/2006/main">
            <a:r>
              <a:t>提示：此页是研究动机与问题缺口，不报告实验结论。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要点：依次解释 RQ1 状态分布、RQ2 散度目标、RQ3 监督信息粒度；三者分别对应在线性、目标函数、反馈成本。</a:t>
            </a:r>
          </a:p>
          <a:p xmlns:a="http://schemas.openxmlformats.org/drawingml/2006/main">
            <a:r>
              <a:t>过渡：三个问题共享同一条可复现训练与评测流水线。</a:t>
            </a:r>
          </a:p>
          <a:p xmlns:a="http://schemas.openxmlformats.org/drawingml/2006/main">
            <a:r>
              <a:t>提示：图示来自开题报告图2，具体结论仍待实验验证。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要点：说明从数据、模型和模板对齐开始，经过训练脚本、统一评测与统计，最后形成可追溯结论。</a:t>
            </a:r>
          </a:p>
          <a:p xmlns:a="http://schemas.openxmlformats.org/drawingml/2006/main">
            <a:r>
              <a:t>过渡：下一页展开其中的在线训练与性能评测闭环。</a:t>
            </a:r>
          </a:p>
          <a:p xmlns:a="http://schemas.openxmlformats.org/drawingml/2006/main">
            <a:r>
              <a:t>提示：路线图是计划中的工程流程，尚未代表已完成实验。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要点：学生先按当前策略 rollout，教师在真实学生状态上反馈，随后只更新 LoRA；图4展示训练到评测的闭环。</a:t>
            </a:r>
          </a:p>
          <a:p xmlns:a="http://schemas.openxmlformats.org/drawingml/2006/main">
            <a:r>
              <a:t>过渡：状态固定后，第二个变量是散度目标本身。</a:t>
            </a:r>
          </a:p>
          <a:p xmlns:a="http://schemas.openxmlformats.org/drawingml/2006/main">
            <a:r>
              <a:t>提示：图4为计划流程，实际收益待实验验证。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要点：Forward KL、Reverse KL 与广义散度的权重位置不同，可能引起不同的覆盖或聚焦行为；本研究在相同状态和预算下比较。</a:t>
            </a:r>
          </a:p>
          <a:p xmlns:a="http://schemas.openxmlformats.org/drawingml/2006/main">
            <a:r>
              <a:t>过渡：目标函数之外，还要控制教师反馈保留了多少信息。</a:t>
            </a:r>
          </a:p>
          <a:p xmlns:a="http://schemas.openxmlformats.org/drawingml/2006/main">
            <a:r>
              <a:t>提示：行为解释是研究假设，结论待实验验证。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要点：比较全词表、Top-K、K=1 采样 token 三种监督粒度，强调信息量和教师反馈成本的共同权衡。</a:t>
            </a:r>
          </a:p>
          <a:p xmlns:a="http://schemas.openxmlformats.org/drawingml/2006/main">
            <a:r>
              <a:t>过渡：接下来说明如何控制变量并进行公平比较。</a:t>
            </a:r>
          </a:p>
          <a:p xmlns:a="http://schemas.openxmlformats.org/drawingml/2006/main">
            <a:r>
              <a:t>提示：三种粒度的效果、稳定性和成本均待实验验证。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要点：固定模型、数据、LoRA、训练预算、生成参数与评测脚本；同时报告任务、稳定性、资源和可追溯性指标。</a:t>
            </a:r>
          </a:p>
          <a:p xmlns:a="http://schemas.openxmlformats.org/drawingml/2006/main">
            <a:r>
              <a:t>过渡：最后给出当前计划、风险与预期产出。</a:t>
            </a:r>
          </a:p>
          <a:p xmlns:a="http://schemas.openxmlformats.org/drawingml/2006/main">
            <a:r>
              <a:t>提示：正式实验至少 3 个随机种子，所有性能结论待实验验证。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要点：按月份说明文献与方案、基线实现、正式实验、论文初稿、修改与答辩的安排。</a:t>
            </a:r>
          </a:p>
          <a:p xmlns:a="http://schemas.openxmlformats.org/drawingml/2006/main">
            <a:r>
              <a:t>过渡：计划之外，还需要提前识别预期贡献与主要风险。</a:t>
            </a:r>
          </a:p>
          <a:p xmlns:a="http://schemas.openxmlformats.org/drawingml/2006/main">
            <a:r>
              <a:t>提示：时间表是当前计划，实际节点将随实验进展调整。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要点：预期产出是统一协议、受控比较、分层评测与资源报告；风险集中在兼容性、成本、指标脱节和算力窗口。</a:t>
            </a:r>
          </a:p>
          <a:p xmlns:a="http://schemas.openxmlformats.org/drawingml/2006/main">
            <a:r>
              <a:t>过渡：以上内容汇报完毕，进入答辩交流。</a:t>
            </a:r>
          </a:p>
          <a:p xmlns:a="http://schemas.openxmlformats.org/drawingml/2006/main">
            <a:r>
              <a:t>提示：此页只列出预期贡献和风险，不把预期写成已验证结果。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时间：0:20 + 交流</a:t>
            </a:r>
          </a:p>
          <a:p xmlns:a="http://schemas.openxmlformats.org/drawingml/2006/main">
            <a:r>
              <a:t>要点：感谢老师，准备围绕研究问题、控制变量、成本预算与待验证实验假设回答。</a:t>
            </a:r>
          </a:p>
          <a:p xmlns:a="http://schemas.openxmlformats.org/drawingml/2006/main">
            <a:r>
              <a:t>过渡：邀请老师提问。</a:t>
            </a:r>
          </a:p>
          <a:p xmlns:a="http://schemas.openxmlformats.org/drawingml/2006/main">
            <a:r>
              <a:t>提示：交流页不包含任何实验结果。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c66ee366854e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0b5d647b36432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6faa23df704c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aee0e858474b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b44dd4ea7f434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1ed67da82a4af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ac99aa1527453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122820d635443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b50e23b2e8454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02b164565b497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0680b10f264496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jpeg" Id="R0bb068443b2f4dea" /><Relationship Type="http://schemas.openxmlformats.org/officeDocument/2006/relationships/theme" Target="/ppt/slideMasters/theme/theme2.xml" Id="R0d2ef75b7fc844d0" /><Relationship Type="http://schemas.openxmlformats.org/officeDocument/2006/relationships/slideLayout" Target="/ppt/slideLayouts/slideLayout1.xml" Id="R0321059b9ce6463a" /><Relationship Type="http://schemas.openxmlformats.org/officeDocument/2006/relationships/slideLayout" Target="/ppt/slideLayouts/slideLayout2.xml" Id="R99c9e6c9a9c14406" /><Relationship Type="http://schemas.openxmlformats.org/officeDocument/2006/relationships/slideLayout" Target="/ppt/slideLayouts/slideLayout3.xml" Id="R73616b4e18b74648" /><Relationship Type="http://schemas.openxmlformats.org/officeDocument/2006/relationships/slideLayout" Target="/ppt/slideLayouts/slideLayout4.xml" Id="Rd7c91a08d3934c52" /><Relationship Type="http://schemas.openxmlformats.org/officeDocument/2006/relationships/slideLayout" Target="/ppt/slideLayouts/slideLayout5.xml" Id="R4fad9b93d0404bae" /><Relationship Type="http://schemas.openxmlformats.org/officeDocument/2006/relationships/slideLayout" Target="/ppt/slideLayouts/slideLayout6.xml" Id="R708058d529e5434a" /><Relationship Type="http://schemas.openxmlformats.org/officeDocument/2006/relationships/slideLayout" Target="/ppt/slideLayouts/slideLayout7.xml" Id="Rb0de06ea413c4bee" /><Relationship Type="http://schemas.openxmlformats.org/officeDocument/2006/relationships/slideLayout" Target="/ppt/slideLayouts/slideLayout8.xml" Id="Ra59bac696c15466a" /><Relationship Type="http://schemas.openxmlformats.org/officeDocument/2006/relationships/slideLayout" Target="/ppt/slideLayouts/slideLayout9.xml" Id="R03f75c1508064bbd" /><Relationship Type="http://schemas.openxmlformats.org/officeDocument/2006/relationships/slideLayout" Target="/ppt/slideLayouts/slideLayout10.xml" Id="R5eba4deca36d4bfd" /><Relationship Type="http://schemas.openxmlformats.org/officeDocument/2006/relationships/slideLayout" Target="/ppt/slideLayouts/slideLayout11.xml" Id="Rf8e019fbe8204006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bb068443b2f4de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21059b9ce6463a"/>
    <p:sldLayoutId xmlns:r="http://schemas.openxmlformats.org/officeDocument/2006/relationships" id="2147483650" r:id="R99c9e6c9a9c14406"/>
    <p:sldLayoutId xmlns:r="http://schemas.openxmlformats.org/officeDocument/2006/relationships" id="2147483651" r:id="R73616b4e18b74648"/>
    <p:sldLayoutId xmlns:r="http://schemas.openxmlformats.org/officeDocument/2006/relationships" id="2147483652" r:id="Rd7c91a08d3934c52"/>
    <p:sldLayoutId xmlns:r="http://schemas.openxmlformats.org/officeDocument/2006/relationships" id="2147483653" r:id="R4fad9b93d0404bae"/>
    <p:sldLayoutId xmlns:r="http://schemas.openxmlformats.org/officeDocument/2006/relationships" id="2147483654" r:id="R708058d529e5434a"/>
    <p:sldLayoutId xmlns:r="http://schemas.openxmlformats.org/officeDocument/2006/relationships" id="2147483655" r:id="Rb0de06ea413c4bee"/>
    <p:sldLayoutId xmlns:r="http://schemas.openxmlformats.org/officeDocument/2006/relationships" id="2147483656" r:id="Ra59bac696c15466a"/>
    <p:sldLayoutId xmlns:r="http://schemas.openxmlformats.org/officeDocument/2006/relationships" id="2147483657" r:id="R03f75c1508064bbd"/>
    <p:sldLayoutId xmlns:r="http://schemas.openxmlformats.org/officeDocument/2006/relationships" id="2147483658" r:id="R5eba4deca36d4bfd"/>
    <p:sldLayoutId xmlns:r="http://schemas.openxmlformats.org/officeDocument/2006/relationships" id="2147483659" r:id="Rf8e019fbe820400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64499b8b44fdd" /><Relationship Type="http://schemas.openxmlformats.org/officeDocument/2006/relationships/image" Target="/ppt/media/image.png" Id="Ra8568058e6d04e5c" /><Relationship Type="http://schemas.openxmlformats.org/officeDocument/2006/relationships/image" Target="/ppt/media/image2.png" Id="Rce8edbc8f67f4ebe" /><Relationship Type="http://schemas.openxmlformats.org/officeDocument/2006/relationships/image" Target="/ppt/media/image3.png" Id="R23fb481530134a58" /><Relationship Type="http://schemas.openxmlformats.org/officeDocument/2006/relationships/notesSlide" Target="/ppt/notesSlides/notesSlide1.xml" Id="R163457657f3a4d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650ed47b554946" /><Relationship Type="http://schemas.openxmlformats.org/officeDocument/2006/relationships/notesSlide" Target="/ppt/notesSlides/notesSlide2.xml" Id="Rf4242098bd3f48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579338be2b4677" /><Relationship Type="http://schemas.openxmlformats.org/officeDocument/2006/relationships/image" Target="/ppt/media/image4.png" Id="R6626bedbad3a471c" /><Relationship Type="http://schemas.openxmlformats.org/officeDocument/2006/relationships/notesSlide" Target="/ppt/notesSlides/notesSlide3.xml" Id="Ra9d84403e69a4b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305bb5e5024d84" /><Relationship Type="http://schemas.openxmlformats.org/officeDocument/2006/relationships/image" Target="/ppt/media/image5.png" Id="R070bb67514c64190" /><Relationship Type="http://schemas.openxmlformats.org/officeDocument/2006/relationships/notesSlide" Target="/ppt/notesSlides/notesSlide4.xml" Id="R6322082ce6034c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31b9ceb63a457c" /><Relationship Type="http://schemas.openxmlformats.org/officeDocument/2006/relationships/image" Target="/ppt/media/image6.png" Id="R44e7927d7aef4e1d" /><Relationship Type="http://schemas.openxmlformats.org/officeDocument/2006/relationships/notesSlide" Target="/ppt/notesSlides/notesSlide5.xml" Id="R29e872106bef47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8e1c93e04b47e9" /><Relationship Type="http://schemas.openxmlformats.org/officeDocument/2006/relationships/notesSlide" Target="/ppt/notesSlides/notesSlide6.xml" Id="Rb1f3c5b7291e4d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558c8ffe4c4934" /><Relationship Type="http://schemas.openxmlformats.org/officeDocument/2006/relationships/notesSlide" Target="/ppt/notesSlides/notesSlide7.xml" Id="R49b21806a93145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a02824fb9b4696" /><Relationship Type="http://schemas.openxmlformats.org/officeDocument/2006/relationships/notesSlide" Target="/ppt/notesSlides/notesSlide8.xml" Id="Raa48e3bab89047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c2d358363a46b3" /><Relationship Type="http://schemas.openxmlformats.org/officeDocument/2006/relationships/image" Target="/ppt/media/image2.jpeg" Id="R99595a0854c640f9" /><Relationship Type="http://schemas.openxmlformats.org/officeDocument/2006/relationships/image" Target="/ppt/media/image.png" Id="R2940e33741eb4155" /><Relationship Type="http://schemas.openxmlformats.org/officeDocument/2006/relationships/image" Target="/ppt/media/image2.png" Id="R7e6db7aa34194680" /><Relationship Type="http://schemas.openxmlformats.org/officeDocument/2006/relationships/image" Target="/ppt/media/image3.png" Id="R88aef989da0e4305" /><Relationship Type="http://schemas.openxmlformats.org/officeDocument/2006/relationships/image" Target="/ppt/media/image7.png" Id="R82f137125da14a00" /><Relationship Type="http://schemas.openxmlformats.org/officeDocument/2006/relationships/notesSlide" Target="/ppt/notesSlides/notesSlide9.xml" Id="R4e5297c2aef546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a18e63c2fd498e" /><Relationship Type="http://schemas.openxmlformats.org/officeDocument/2006/relationships/image" Target="/ppt/media/image2.jpeg" Id="Re5a4b3609bae4463" /><Relationship Type="http://schemas.openxmlformats.org/officeDocument/2006/relationships/image" Target="/ppt/media/image.png" Id="R3aa8fe91c04f45b0" /><Relationship Type="http://schemas.openxmlformats.org/officeDocument/2006/relationships/image" Target="/ppt/media/image2.png" Id="R99ee718d7f5c495b" /><Relationship Type="http://schemas.openxmlformats.org/officeDocument/2006/relationships/image" Target="/ppt/media/image3.png" Id="R9a39c09e89cd4347" /><Relationship Type="http://schemas.openxmlformats.org/officeDocument/2006/relationships/notesSlide" Target="/ppt/notesSlides/notesSlide10.xml" Id="R3164fd7795934a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3f44569b68406d" /><Relationship Type="http://schemas.openxmlformats.org/officeDocument/2006/relationships/notesSlide" Target="/ppt/notesSlides/notesSlide11.xml" Id="Rc349a01a47c045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68058e6d04e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79282" y="3602075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0DD24A5-5F45-405A-8C58-06DD33D7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AF2D0DF-9F10-4956-91A3-560F026A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30206"/>
            <a:ext cx="12192000" cy="21736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直接连接符 5">
            <a:extLst xmlns:a="http://schemas.openxmlformats.org/drawingml/2006/main">
              <a:ext uri="{FF2B5EF4-FFF2-40B4-BE49-F238E27FC236}">
                <a16:creationId xmlns:a16="http://schemas.microsoft.com/office/drawing/2014/main" id="{A240280B-CD50-48F7-B2F8-06F1498B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" y="672215"/>
            <a:ext cx="11174288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副标题 2">
            <a:extLst xmlns:a="http://schemas.openxmlformats.org/drawingml/2006/main">
              <a:ext uri="{FF2B5EF4-FFF2-40B4-BE49-F238E27FC236}">
                <a16:creationId xmlns:a16="http://schemas.microsoft.com/office/drawing/2014/main" id="{67551A8D-D277-4D63-A5D1-CEF790E2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5386000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/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725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2026年9月27日</a:t>
            </a: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CE3320CC-C53D-4C90-B3C4-D0742C77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4934"/>
            <a:ext cx="411988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本科毕业设计开题答辩</a:t>
            </a:r>
          </a:p>
        </p:txBody>
      </p:sp>
      <p:pic>
        <p:nvPicPr>
          <p:cNvPr id="24" name="图片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edbc8f67f4e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48710" y="228600"/>
            <a:ext cx="1061070" cy="463936"/>
          </a:xfrm>
          <a:prstGeom xmlns:a="http://schemas.openxmlformats.org/drawingml/2006/main" prst="rect">
            <a:avLst/>
          </a:prstGeom>
        </p:spPr>
      </p:pic>
      <p:pic>
        <p:nvPicPr>
          <p:cNvPr id="25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fb481530134a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0314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077F7373-2BDF-4355-8F9E-745B8B33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070300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/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80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计算机科学与技术</a:t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92CDB-4CFC-491E-A84F-0EEB9919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682" y="1382173"/>
            <a:ext cx="11201400" cy="2069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基于在线策略蒸馏的</a:t>
            </a:r>
          </a:p>
          <a:p xmlns:a="http://schemas.openxmlformats.org/drawingml/2006/main">
            <a:pPr algn="ctr"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大语言模型后训练方法研究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BE2CC9-9487-4E79-8427-9DF8C579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18" y="4728115"/>
            <a:ext cx="11214068" cy="6803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2100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汇报人：张子琦</a:t>
            </a:r>
          </a:p>
        </p:txBody>
      </p:sp>
    </p:spTree>
    <p:extLst>
      <p:ext uri="{BB962C8B-B14F-4D97-AF65-F5344CB8AC3E}">
        <p14:creationId xmlns:p14="http://schemas.microsoft.com/office/powerpoint/2010/main" val="96790054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gwheels_376015">
            <a:extLst xmlns:a="http://schemas.openxmlformats.org/drawingml/2006/main">
              <a:ext uri="{FF2B5EF4-FFF2-40B4-BE49-F238E27FC236}">
                <a16:creationId xmlns:a16="http://schemas.microsoft.com/office/drawing/2014/main" id="{38D9DEC8-0752-46D3-B878-8FD2E635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33" y="1415499"/>
            <a:ext cx="4224055" cy="4280147"/>
          </a:xfrm>
          <a:custGeom xmlns:a="http://schemas.openxmlformats.org/drawingml/2006/main">
            <a:gdLst>
              <a:gd name="T0" fmla="*/ 3621 w 6468"/>
              <a:gd name="T1" fmla="*/ 3299 h 6564"/>
              <a:gd name="T2" fmla="*/ 4214 w 6468"/>
              <a:gd name="T3" fmla="*/ 4727 h 6564"/>
              <a:gd name="T4" fmla="*/ 6337 w 6468"/>
              <a:gd name="T5" fmla="*/ 4571 h 6564"/>
              <a:gd name="T6" fmla="*/ 5974 w 6468"/>
              <a:gd name="T7" fmla="*/ 3603 h 6564"/>
              <a:gd name="T8" fmla="*/ 6429 w 6468"/>
              <a:gd name="T9" fmla="*/ 3225 h 6564"/>
              <a:gd name="T10" fmla="*/ 6022 w 6468"/>
              <a:gd name="T11" fmla="*/ 2697 h 6564"/>
              <a:gd name="T12" fmla="*/ 5080 w 6468"/>
              <a:gd name="T13" fmla="*/ 2269 h 6564"/>
              <a:gd name="T14" fmla="*/ 5136 w 6468"/>
              <a:gd name="T15" fmla="*/ 1681 h 6564"/>
              <a:gd name="T16" fmla="*/ 4477 w 6468"/>
              <a:gd name="T17" fmla="*/ 1593 h 6564"/>
              <a:gd name="T18" fmla="*/ 3837 w 6468"/>
              <a:gd name="T19" fmla="*/ 1917 h 6564"/>
              <a:gd name="T20" fmla="*/ 3357 w 6468"/>
              <a:gd name="T21" fmla="*/ 2412 h 6564"/>
              <a:gd name="T22" fmla="*/ 3445 w 6468"/>
              <a:gd name="T23" fmla="*/ 2889 h 6564"/>
              <a:gd name="T24" fmla="*/ 5048 w 6468"/>
              <a:gd name="T25" fmla="*/ 3547 h 6564"/>
              <a:gd name="T26" fmla="*/ 2792 w 6468"/>
              <a:gd name="T27" fmla="*/ 4483 h 6564"/>
              <a:gd name="T28" fmla="*/ 2397 w 6468"/>
              <a:gd name="T29" fmla="*/ 3364 h 6564"/>
              <a:gd name="T30" fmla="*/ 1830 w 6468"/>
              <a:gd name="T31" fmla="*/ 3843 h 6564"/>
              <a:gd name="T32" fmla="*/ 1502 w 6468"/>
              <a:gd name="T33" fmla="*/ 4577 h 6564"/>
              <a:gd name="T34" fmla="*/ 1589 w 6468"/>
              <a:gd name="T35" fmla="*/ 5239 h 6564"/>
              <a:gd name="T36" fmla="*/ 2178 w 6468"/>
              <a:gd name="T37" fmla="*/ 5181 h 6564"/>
              <a:gd name="T38" fmla="*/ 2609 w 6468"/>
              <a:gd name="T39" fmla="*/ 6123 h 6564"/>
              <a:gd name="T40" fmla="*/ 3138 w 6468"/>
              <a:gd name="T41" fmla="*/ 6528 h 6564"/>
              <a:gd name="T42" fmla="*/ 3513 w 6468"/>
              <a:gd name="T43" fmla="*/ 6072 h 6564"/>
              <a:gd name="T44" fmla="*/ 4484 w 6468"/>
              <a:gd name="T45" fmla="*/ 6433 h 6564"/>
              <a:gd name="T46" fmla="*/ 5145 w 6468"/>
              <a:gd name="T47" fmla="*/ 6347 h 6564"/>
              <a:gd name="T48" fmla="*/ 5088 w 6468"/>
              <a:gd name="T49" fmla="*/ 5759 h 6564"/>
              <a:gd name="T50" fmla="*/ 6029 w 6468"/>
              <a:gd name="T51" fmla="*/ 5328 h 6564"/>
              <a:gd name="T52" fmla="*/ 6434 w 6468"/>
              <a:gd name="T53" fmla="*/ 4799 h 6564"/>
              <a:gd name="T54" fmla="*/ 370 w 6468"/>
              <a:gd name="T55" fmla="*/ 1975 h 6564"/>
              <a:gd name="T56" fmla="*/ 0 w 6468"/>
              <a:gd name="T57" fmla="*/ 1827 h 6564"/>
              <a:gd name="T58" fmla="*/ 148 w 6468"/>
              <a:gd name="T59" fmla="*/ 1436 h 6564"/>
              <a:gd name="T60" fmla="*/ 580 w 6468"/>
              <a:gd name="T61" fmla="*/ 947 h 6564"/>
              <a:gd name="T62" fmla="*/ 424 w 6468"/>
              <a:gd name="T63" fmla="*/ 583 h 6564"/>
              <a:gd name="T64" fmla="*/ 802 w 6468"/>
              <a:gd name="T65" fmla="*/ 412 h 6564"/>
              <a:gd name="T66" fmla="*/ 1454 w 6468"/>
              <a:gd name="T67" fmla="*/ 371 h 6564"/>
              <a:gd name="T68" fmla="*/ 1602 w 6468"/>
              <a:gd name="T69" fmla="*/ 0 h 6564"/>
              <a:gd name="T70" fmla="*/ 1993 w 6468"/>
              <a:gd name="T71" fmla="*/ 148 h 6564"/>
              <a:gd name="T72" fmla="*/ 2482 w 6468"/>
              <a:gd name="T73" fmla="*/ 580 h 6564"/>
              <a:gd name="T74" fmla="*/ 2848 w 6468"/>
              <a:gd name="T75" fmla="*/ 423 h 6564"/>
              <a:gd name="T76" fmla="*/ 3018 w 6468"/>
              <a:gd name="T77" fmla="*/ 801 h 6564"/>
              <a:gd name="T78" fmla="*/ 3060 w 6468"/>
              <a:gd name="T79" fmla="*/ 1453 h 6564"/>
              <a:gd name="T80" fmla="*/ 3430 w 6468"/>
              <a:gd name="T81" fmla="*/ 1601 h 6564"/>
              <a:gd name="T82" fmla="*/ 3282 w 6468"/>
              <a:gd name="T83" fmla="*/ 1992 h 6564"/>
              <a:gd name="T84" fmla="*/ 2850 w 6468"/>
              <a:gd name="T85" fmla="*/ 2481 h 6564"/>
              <a:gd name="T86" fmla="*/ 3008 w 6468"/>
              <a:gd name="T87" fmla="*/ 2847 h 6564"/>
              <a:gd name="T88" fmla="*/ 2629 w 6468"/>
              <a:gd name="T89" fmla="*/ 3017 h 6564"/>
              <a:gd name="T90" fmla="*/ 1977 w 6468"/>
              <a:gd name="T91" fmla="*/ 3059 h 6564"/>
              <a:gd name="T92" fmla="*/ 1829 w 6468"/>
              <a:gd name="T93" fmla="*/ 3429 h 6564"/>
              <a:gd name="T94" fmla="*/ 1438 w 6468"/>
              <a:gd name="T95" fmla="*/ 3281 h 6564"/>
              <a:gd name="T96" fmla="*/ 949 w 6468"/>
              <a:gd name="T97" fmla="*/ 2849 h 6564"/>
              <a:gd name="T98" fmla="*/ 584 w 6468"/>
              <a:gd name="T99" fmla="*/ 3007 h 6564"/>
              <a:gd name="T100" fmla="*/ 413 w 6468"/>
              <a:gd name="T101" fmla="*/ 2628 h 6564"/>
              <a:gd name="T102" fmla="*/ 370 w 6468"/>
              <a:gd name="T103" fmla="*/ 1975 h 6564"/>
              <a:gd name="T104" fmla="*/ 2173 w 6468"/>
              <a:gd name="T105" fmla="*/ 2177 h 6564"/>
              <a:gd name="T106" fmla="*/ 1257 w 6468"/>
              <a:gd name="T107" fmla="*/ 1251 h 6564"/>
            </a:gdLst>
            <a:rect l="0" t="0" r="r" b="b"/>
            <a:pathLst>
              <a:path w="6468" h="6564">
                <a:moveTo>
                  <a:pt x="3204" y="4309"/>
                </a:moveTo>
                <a:cubicBezTo>
                  <a:pt x="3040" y="3916"/>
                  <a:pt x="3228" y="3463"/>
                  <a:pt x="3621" y="3299"/>
                </a:cubicBezTo>
                <a:cubicBezTo>
                  <a:pt x="4014" y="3135"/>
                  <a:pt x="4468" y="3323"/>
                  <a:pt x="4632" y="3716"/>
                </a:cubicBezTo>
                <a:cubicBezTo>
                  <a:pt x="4796" y="4109"/>
                  <a:pt x="4608" y="4563"/>
                  <a:pt x="4214" y="4727"/>
                </a:cubicBezTo>
                <a:cubicBezTo>
                  <a:pt x="3821" y="4891"/>
                  <a:pt x="3368" y="4703"/>
                  <a:pt x="3204" y="4309"/>
                </a:cubicBezTo>
                <a:close/>
                <a:moveTo>
                  <a:pt x="6337" y="4571"/>
                </a:moveTo>
                <a:lnTo>
                  <a:pt x="5974" y="4421"/>
                </a:lnTo>
                <a:cubicBezTo>
                  <a:pt x="6028" y="4156"/>
                  <a:pt x="6029" y="3877"/>
                  <a:pt x="5974" y="3603"/>
                </a:cubicBezTo>
                <a:lnTo>
                  <a:pt x="6336" y="3452"/>
                </a:lnTo>
                <a:cubicBezTo>
                  <a:pt x="6424" y="3416"/>
                  <a:pt x="6466" y="3315"/>
                  <a:pt x="6429" y="3225"/>
                </a:cubicBezTo>
                <a:lnTo>
                  <a:pt x="6249" y="2791"/>
                </a:lnTo>
                <a:cubicBezTo>
                  <a:pt x="6213" y="2703"/>
                  <a:pt x="6112" y="2660"/>
                  <a:pt x="6022" y="2697"/>
                </a:cubicBezTo>
                <a:lnTo>
                  <a:pt x="5660" y="2848"/>
                </a:lnTo>
                <a:cubicBezTo>
                  <a:pt x="5504" y="2615"/>
                  <a:pt x="5305" y="2419"/>
                  <a:pt x="5080" y="2269"/>
                </a:cubicBezTo>
                <a:lnTo>
                  <a:pt x="5229" y="1907"/>
                </a:lnTo>
                <a:cubicBezTo>
                  <a:pt x="5265" y="1819"/>
                  <a:pt x="5224" y="1717"/>
                  <a:pt x="5136" y="1681"/>
                </a:cubicBezTo>
                <a:lnTo>
                  <a:pt x="4702" y="1500"/>
                </a:lnTo>
                <a:cubicBezTo>
                  <a:pt x="4614" y="1464"/>
                  <a:pt x="4513" y="1505"/>
                  <a:pt x="4477" y="1593"/>
                </a:cubicBezTo>
                <a:lnTo>
                  <a:pt x="4328" y="1956"/>
                </a:lnTo>
                <a:cubicBezTo>
                  <a:pt x="4168" y="1924"/>
                  <a:pt x="4002" y="1911"/>
                  <a:pt x="3837" y="1917"/>
                </a:cubicBezTo>
                <a:cubicBezTo>
                  <a:pt x="3804" y="2165"/>
                  <a:pt x="3609" y="2361"/>
                  <a:pt x="3364" y="2397"/>
                </a:cubicBezTo>
                <a:cubicBezTo>
                  <a:pt x="3361" y="2403"/>
                  <a:pt x="3360" y="2407"/>
                  <a:pt x="3357" y="2412"/>
                </a:cubicBezTo>
                <a:cubicBezTo>
                  <a:pt x="3426" y="2507"/>
                  <a:pt x="3465" y="2621"/>
                  <a:pt x="3465" y="2743"/>
                </a:cubicBezTo>
                <a:cubicBezTo>
                  <a:pt x="3465" y="2793"/>
                  <a:pt x="3458" y="2841"/>
                  <a:pt x="3445" y="2889"/>
                </a:cubicBezTo>
                <a:cubicBezTo>
                  <a:pt x="3448" y="2888"/>
                  <a:pt x="3449" y="2887"/>
                  <a:pt x="3452" y="2887"/>
                </a:cubicBezTo>
                <a:cubicBezTo>
                  <a:pt x="4073" y="2628"/>
                  <a:pt x="4789" y="2924"/>
                  <a:pt x="5048" y="3547"/>
                </a:cubicBezTo>
                <a:cubicBezTo>
                  <a:pt x="5306" y="4168"/>
                  <a:pt x="5010" y="4884"/>
                  <a:pt x="4388" y="5143"/>
                </a:cubicBezTo>
                <a:cubicBezTo>
                  <a:pt x="3766" y="5401"/>
                  <a:pt x="3050" y="5105"/>
                  <a:pt x="2792" y="4483"/>
                </a:cubicBezTo>
                <a:cubicBezTo>
                  <a:pt x="2650" y="4140"/>
                  <a:pt x="2676" y="3771"/>
                  <a:pt x="2832" y="3464"/>
                </a:cubicBezTo>
                <a:cubicBezTo>
                  <a:pt x="2682" y="3491"/>
                  <a:pt x="2524" y="3459"/>
                  <a:pt x="2397" y="3364"/>
                </a:cubicBezTo>
                <a:cubicBezTo>
                  <a:pt x="2392" y="3367"/>
                  <a:pt x="2388" y="3368"/>
                  <a:pt x="2382" y="3369"/>
                </a:cubicBezTo>
                <a:cubicBezTo>
                  <a:pt x="2341" y="3637"/>
                  <a:pt x="2109" y="3843"/>
                  <a:pt x="1830" y="3843"/>
                </a:cubicBezTo>
                <a:cubicBezTo>
                  <a:pt x="1814" y="4035"/>
                  <a:pt x="1824" y="4231"/>
                  <a:pt x="1864" y="4427"/>
                </a:cubicBezTo>
                <a:lnTo>
                  <a:pt x="1502" y="4577"/>
                </a:lnTo>
                <a:cubicBezTo>
                  <a:pt x="1414" y="4613"/>
                  <a:pt x="1372" y="4715"/>
                  <a:pt x="1409" y="4804"/>
                </a:cubicBezTo>
                <a:lnTo>
                  <a:pt x="1589" y="5239"/>
                </a:lnTo>
                <a:cubicBezTo>
                  <a:pt x="1625" y="5327"/>
                  <a:pt x="1726" y="5369"/>
                  <a:pt x="1816" y="5332"/>
                </a:cubicBezTo>
                <a:lnTo>
                  <a:pt x="2178" y="5181"/>
                </a:lnTo>
                <a:cubicBezTo>
                  <a:pt x="2334" y="5415"/>
                  <a:pt x="2533" y="5611"/>
                  <a:pt x="2758" y="5760"/>
                </a:cubicBezTo>
                <a:lnTo>
                  <a:pt x="2609" y="6123"/>
                </a:lnTo>
                <a:cubicBezTo>
                  <a:pt x="2573" y="6211"/>
                  <a:pt x="2614" y="6312"/>
                  <a:pt x="2702" y="6348"/>
                </a:cubicBezTo>
                <a:lnTo>
                  <a:pt x="3138" y="6528"/>
                </a:lnTo>
                <a:cubicBezTo>
                  <a:pt x="3226" y="6564"/>
                  <a:pt x="3328" y="6523"/>
                  <a:pt x="3364" y="6435"/>
                </a:cubicBezTo>
                <a:lnTo>
                  <a:pt x="3513" y="6072"/>
                </a:lnTo>
                <a:cubicBezTo>
                  <a:pt x="3778" y="6125"/>
                  <a:pt x="4057" y="6127"/>
                  <a:pt x="4333" y="6072"/>
                </a:cubicBezTo>
                <a:lnTo>
                  <a:pt x="4484" y="6433"/>
                </a:lnTo>
                <a:cubicBezTo>
                  <a:pt x="4520" y="6521"/>
                  <a:pt x="4621" y="6564"/>
                  <a:pt x="4710" y="6527"/>
                </a:cubicBezTo>
                <a:lnTo>
                  <a:pt x="5145" y="6347"/>
                </a:lnTo>
                <a:cubicBezTo>
                  <a:pt x="5233" y="6311"/>
                  <a:pt x="5276" y="6209"/>
                  <a:pt x="5238" y="6120"/>
                </a:cubicBezTo>
                <a:lnTo>
                  <a:pt x="5088" y="5759"/>
                </a:lnTo>
                <a:cubicBezTo>
                  <a:pt x="5321" y="5603"/>
                  <a:pt x="5517" y="5404"/>
                  <a:pt x="5666" y="5179"/>
                </a:cubicBezTo>
                <a:lnTo>
                  <a:pt x="6029" y="5328"/>
                </a:lnTo>
                <a:cubicBezTo>
                  <a:pt x="6117" y="5364"/>
                  <a:pt x="6218" y="5323"/>
                  <a:pt x="6254" y="5235"/>
                </a:cubicBezTo>
                <a:lnTo>
                  <a:pt x="6434" y="4799"/>
                </a:lnTo>
                <a:cubicBezTo>
                  <a:pt x="6468" y="4708"/>
                  <a:pt x="6425" y="4608"/>
                  <a:pt x="6337" y="4571"/>
                </a:cubicBezTo>
                <a:close/>
                <a:moveTo>
                  <a:pt x="370" y="1975"/>
                </a:moveTo>
                <a:lnTo>
                  <a:pt x="145" y="1973"/>
                </a:lnTo>
                <a:cubicBezTo>
                  <a:pt x="65" y="1973"/>
                  <a:pt x="0" y="1908"/>
                  <a:pt x="0" y="1827"/>
                </a:cubicBezTo>
                <a:lnTo>
                  <a:pt x="1" y="1581"/>
                </a:lnTo>
                <a:cubicBezTo>
                  <a:pt x="1" y="1501"/>
                  <a:pt x="66" y="1436"/>
                  <a:pt x="148" y="1436"/>
                </a:cubicBezTo>
                <a:lnTo>
                  <a:pt x="373" y="1437"/>
                </a:lnTo>
                <a:cubicBezTo>
                  <a:pt x="408" y="1264"/>
                  <a:pt x="477" y="1097"/>
                  <a:pt x="580" y="947"/>
                </a:cubicBezTo>
                <a:lnTo>
                  <a:pt x="422" y="788"/>
                </a:lnTo>
                <a:cubicBezTo>
                  <a:pt x="366" y="731"/>
                  <a:pt x="366" y="639"/>
                  <a:pt x="424" y="583"/>
                </a:cubicBezTo>
                <a:lnTo>
                  <a:pt x="597" y="411"/>
                </a:lnTo>
                <a:cubicBezTo>
                  <a:pt x="654" y="355"/>
                  <a:pt x="746" y="355"/>
                  <a:pt x="802" y="412"/>
                </a:cubicBezTo>
                <a:lnTo>
                  <a:pt x="961" y="572"/>
                </a:lnTo>
                <a:cubicBezTo>
                  <a:pt x="1113" y="471"/>
                  <a:pt x="1281" y="404"/>
                  <a:pt x="1454" y="371"/>
                </a:cubicBezTo>
                <a:lnTo>
                  <a:pt x="1456" y="145"/>
                </a:lnTo>
                <a:cubicBezTo>
                  <a:pt x="1456" y="65"/>
                  <a:pt x="1521" y="0"/>
                  <a:pt x="1602" y="0"/>
                </a:cubicBezTo>
                <a:lnTo>
                  <a:pt x="1848" y="1"/>
                </a:lnTo>
                <a:cubicBezTo>
                  <a:pt x="1928" y="1"/>
                  <a:pt x="1993" y="67"/>
                  <a:pt x="1993" y="148"/>
                </a:cubicBezTo>
                <a:lnTo>
                  <a:pt x="1992" y="373"/>
                </a:lnTo>
                <a:cubicBezTo>
                  <a:pt x="2165" y="408"/>
                  <a:pt x="2332" y="477"/>
                  <a:pt x="2482" y="580"/>
                </a:cubicBezTo>
                <a:lnTo>
                  <a:pt x="2642" y="421"/>
                </a:lnTo>
                <a:cubicBezTo>
                  <a:pt x="2700" y="365"/>
                  <a:pt x="2792" y="365"/>
                  <a:pt x="2848" y="423"/>
                </a:cubicBezTo>
                <a:lnTo>
                  <a:pt x="3020" y="596"/>
                </a:lnTo>
                <a:cubicBezTo>
                  <a:pt x="3076" y="653"/>
                  <a:pt x="3076" y="745"/>
                  <a:pt x="3018" y="801"/>
                </a:cubicBezTo>
                <a:lnTo>
                  <a:pt x="2858" y="960"/>
                </a:lnTo>
                <a:cubicBezTo>
                  <a:pt x="2960" y="1112"/>
                  <a:pt x="3026" y="1280"/>
                  <a:pt x="3060" y="1453"/>
                </a:cubicBezTo>
                <a:lnTo>
                  <a:pt x="3285" y="1455"/>
                </a:lnTo>
                <a:cubicBezTo>
                  <a:pt x="3365" y="1455"/>
                  <a:pt x="3430" y="1520"/>
                  <a:pt x="3430" y="1601"/>
                </a:cubicBezTo>
                <a:lnTo>
                  <a:pt x="3429" y="1847"/>
                </a:lnTo>
                <a:cubicBezTo>
                  <a:pt x="3429" y="1927"/>
                  <a:pt x="3364" y="1992"/>
                  <a:pt x="3282" y="1992"/>
                </a:cubicBezTo>
                <a:lnTo>
                  <a:pt x="3057" y="1991"/>
                </a:lnTo>
                <a:cubicBezTo>
                  <a:pt x="3022" y="2164"/>
                  <a:pt x="2953" y="2331"/>
                  <a:pt x="2850" y="2481"/>
                </a:cubicBezTo>
                <a:lnTo>
                  <a:pt x="3009" y="2641"/>
                </a:lnTo>
                <a:cubicBezTo>
                  <a:pt x="3065" y="2699"/>
                  <a:pt x="3065" y="2791"/>
                  <a:pt x="3008" y="2847"/>
                </a:cubicBezTo>
                <a:lnTo>
                  <a:pt x="2834" y="3019"/>
                </a:lnTo>
                <a:cubicBezTo>
                  <a:pt x="2777" y="3075"/>
                  <a:pt x="2685" y="3075"/>
                  <a:pt x="2629" y="3017"/>
                </a:cubicBezTo>
                <a:lnTo>
                  <a:pt x="2470" y="2857"/>
                </a:lnTo>
                <a:cubicBezTo>
                  <a:pt x="2318" y="2959"/>
                  <a:pt x="2150" y="3025"/>
                  <a:pt x="1977" y="3059"/>
                </a:cubicBezTo>
                <a:lnTo>
                  <a:pt x="1976" y="3284"/>
                </a:lnTo>
                <a:cubicBezTo>
                  <a:pt x="1976" y="3364"/>
                  <a:pt x="1910" y="3429"/>
                  <a:pt x="1829" y="3429"/>
                </a:cubicBezTo>
                <a:lnTo>
                  <a:pt x="1584" y="3428"/>
                </a:lnTo>
                <a:cubicBezTo>
                  <a:pt x="1504" y="3428"/>
                  <a:pt x="1438" y="3363"/>
                  <a:pt x="1438" y="3281"/>
                </a:cubicBezTo>
                <a:lnTo>
                  <a:pt x="1440" y="3056"/>
                </a:lnTo>
                <a:cubicBezTo>
                  <a:pt x="1266" y="3021"/>
                  <a:pt x="1100" y="2952"/>
                  <a:pt x="949" y="2849"/>
                </a:cubicBezTo>
                <a:lnTo>
                  <a:pt x="789" y="3008"/>
                </a:lnTo>
                <a:cubicBezTo>
                  <a:pt x="732" y="3064"/>
                  <a:pt x="640" y="3064"/>
                  <a:pt x="584" y="3007"/>
                </a:cubicBezTo>
                <a:lnTo>
                  <a:pt x="412" y="2833"/>
                </a:lnTo>
                <a:cubicBezTo>
                  <a:pt x="356" y="2776"/>
                  <a:pt x="356" y="2684"/>
                  <a:pt x="413" y="2628"/>
                </a:cubicBezTo>
                <a:lnTo>
                  <a:pt x="573" y="2469"/>
                </a:lnTo>
                <a:cubicBezTo>
                  <a:pt x="470" y="2316"/>
                  <a:pt x="404" y="2148"/>
                  <a:pt x="370" y="1975"/>
                </a:cubicBezTo>
                <a:close/>
                <a:moveTo>
                  <a:pt x="1252" y="2172"/>
                </a:moveTo>
                <a:cubicBezTo>
                  <a:pt x="1505" y="2428"/>
                  <a:pt x="1917" y="2431"/>
                  <a:pt x="2173" y="2177"/>
                </a:cubicBezTo>
                <a:cubicBezTo>
                  <a:pt x="2429" y="1924"/>
                  <a:pt x="2432" y="1512"/>
                  <a:pt x="2178" y="1256"/>
                </a:cubicBezTo>
                <a:cubicBezTo>
                  <a:pt x="1925" y="1000"/>
                  <a:pt x="1513" y="997"/>
                  <a:pt x="1257" y="1251"/>
                </a:cubicBezTo>
                <a:cubicBezTo>
                  <a:pt x="1000" y="1504"/>
                  <a:pt x="998" y="1916"/>
                  <a:pt x="1252" y="2172"/>
                </a:cubicBezTo>
                <a:close/>
              </a:path>
            </a:pathLst>
          </a:custGeom>
          <a:solidFill xmlns:a="http://schemas.openxmlformats.org/drawingml/2006/main">
            <a:schemeClr val="bg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45BB5E4-FF40-4E3B-8B40-8AFBAB2B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1536479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1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3A5BDF9F-19A6-4B4E-94A9-F003093A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2110111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18C2DF1B-1241-44CC-867A-B74B4F7B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1513798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赛事简介和办赛条件</a:t>
            </a:r>
            <a:endParaRPr sz="28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0AF81C8-2908-4C5A-9B76-3D7056CF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2461150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2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FAAAB8F0-8665-46B3-BD9A-1FFD19FC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3034782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65264C6C-6574-43A3-8A40-12FF896C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2411742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运行模式和时间安排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134C23C-00D6-4C2F-A80C-5CDFCA45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3385821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3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4707528E-2029-438E-8928-22ACDB59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3959453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2BE3B7FE-595A-4DCE-B412-A1237D71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3336413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预期赛事规模和获奖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DF6C84C-0AA9-4ABC-849F-705A6449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4310492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4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D61B023F-CB07-4747-96B0-F21FC161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4884124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23FB4014-52D3-4A24-B7E1-03846A86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4261084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组织创新点和育人成效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9DF93513-FFD5-412E-AE64-A70004F8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5235162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5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98E5522E-2A7F-4259-BF47-1F548C33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5808794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701AC813-CADA-4356-AEDB-1215574A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5185754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经费预算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DC5F8549-20C1-44D0-8372-CE5DEDF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830" y="242797"/>
            <a:ext cx="855234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幼圆"/>
                <a:ea typeface="幼圆"/>
                <a:cs typeface="幼圆"/>
              </a:rPr>
              <a:t/>
            </a:r>
            <a:endParaRPr b="1">
              <a:solidFill>
                <a:srgbClr val="FF0000"/>
              </a:solidFill>
              <a:latin typeface="幼圆"/>
              <a:ea typeface="幼圆"/>
              <a:cs typeface="幼圆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D355F6-DC98-4994-B4DF-1D2739D6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195435-A2D0-4F2F-AC02-4FECEB21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研究背景与问题缺口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0A1244-C9AC-4FA9-BBC1-BCEDFE17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B8D8C0-DE99-4ABA-B0C0-32089CB6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在线策略蒸馏的关键矛盾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C8AA43-BEBC-4420-9053-470A62BE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E78407-D9F2-4807-9BE4-C313FFE1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430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状态分布发生偏移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F97B0B-E75E-49F1-B856-7D42AF1A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4310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离线前缀与学生实际 rollout 不同，教师反馈难以对准真实生成状态。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57ABEA-2F31-4B86-BD68-4446916F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4317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F1F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78D53C-B93D-498A-AA91-0A78FF3F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F8F6B9-D0C6-452D-891D-6F4C108B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4625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散度与监督粒度交织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7BEE5D-739C-46CC-AFA3-6B0ABDC8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14675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不同 KL 目标、全词表/Top-K/K1 同时变化，训练行为差异难以归因。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FEBDDC-EB6B-4DF2-98F7-F9D26EBA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F1F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20E85C-9694-4914-B2E8-014AA881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7D5219-F965-4A83-8B05-16E37E6F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局部指标难代表工具调用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1D4766-33D6-47C0-87A4-C4F8CA00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862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需要从格式、选函数、参数到执行成功的端到端证据。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81AB80-2BC2-4475-9FF5-98D6624F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108394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126970-B5F9-4A2B-9B29-453B6F15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研究目标：建立可复现、可归因、可部署的在线策略蒸馏比较协议。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20AEA6-3D8C-472C-891B-21793FA0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98253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直角三角形 2">
            <a:extLst xmlns:a="http://schemas.openxmlformats.org/drawingml/2006/main">
              <a:ext uri="{FF2B5EF4-FFF2-40B4-BE49-F238E27FC236}">
                <a16:creationId xmlns:a16="http://schemas.microsoft.com/office/drawing/2014/main" id="{332B83E6-CB73-41BC-8B8F-48EA7B21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328" y="892613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4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D98E5284-33DB-44F7-8A15-DD6A17D5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164449"/>
            <a:ext cx="11214100" cy="101092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24FA072-DD2C-4BB0-975D-91B68766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4" y="892613"/>
            <a:ext cx="13572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FA7B9-48D0-443B-AADB-B5C7DEBF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39A9A-A3AB-4A94-8DFA-088A41F4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三个研究问题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24604-824C-4987-B523-24F69C27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AEC4C7-542C-4D05-BDC6-169448E0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研究主线：状态 → 目标 → 信息量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6bedbad3a471c"/>
          <a:stretch xmlns:a="http://schemas.openxmlformats.org/drawingml/2006/main"/>
        </p:blipFill>
        <p:spPr>
          <a:xfrm xmlns:a="http://schemas.openxmlformats.org/drawingml/2006/main">
            <a:off x="593119" y="1238250"/>
            <a:ext cx="11005762" cy="4953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77D00-038C-4531-AFE0-17E01286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071082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直角三角形 2">
            <a:extLst xmlns:a="http://schemas.openxmlformats.org/drawingml/2006/main">
              <a:ext uri="{FF2B5EF4-FFF2-40B4-BE49-F238E27FC236}">
                <a16:creationId xmlns:a16="http://schemas.microsoft.com/office/drawing/2014/main" id="{C4621ECD-CE7E-47EF-ACA3-B6D0DCD8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28" y="881324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4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CC9903B3-C73B-41B1-A122-993E1896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599" y="1153160"/>
            <a:ext cx="11214099" cy="101092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884D206C-C0B3-4CC2-AD08-FFF26A24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0" y="881324"/>
            <a:ext cx="1916058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579B2-7E70-4CE0-AA38-18959335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DCF80-DF38-449C-A2EE-A719D7FE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0EBBE-5245-4817-887C-1E86AE3F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bb67514c64190"/>
          <a:stretch xmlns:a="http://schemas.openxmlformats.org/drawingml/2006/main"/>
        </p:blipFill>
        <p:spPr>
          <a:xfrm xmlns:a="http://schemas.openxmlformats.org/drawingml/2006/main">
            <a:off x="666750" y="1068695"/>
            <a:ext cx="10858500" cy="4072909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D70EE-0CAF-4235-A40A-2545DFEE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553700" cy="42862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BF58E8-1347-4671-9640-45C9C2D7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34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研究闭环：数据与模型准备 → 在线反馈训练 → 统一评测 → 结果归因与论文整理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F3771-FA91-4142-8B93-176740C7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094045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直角三角形 7">
            <a:extLst xmlns:a="http://schemas.openxmlformats.org/drawingml/2006/main">
              <a:ext uri="{FF2B5EF4-FFF2-40B4-BE49-F238E27FC236}">
                <a16:creationId xmlns:a16="http://schemas.microsoft.com/office/drawing/2014/main" id="{93035EC0-1E4F-4E31-87D9-843F0370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3834" y="1006057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9" name="直角三角形 8">
            <a:extLst xmlns:a="http://schemas.openxmlformats.org/drawingml/2006/main">
              <a:ext uri="{FF2B5EF4-FFF2-40B4-BE49-F238E27FC236}">
                <a16:creationId xmlns:a16="http://schemas.microsoft.com/office/drawing/2014/main" id="{D6E9AD69-92A0-48D5-A1B9-023E014E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5724" y="993050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" name="直角三角形 9">
            <a:extLst xmlns:a="http://schemas.openxmlformats.org/drawingml/2006/main">
              <a:ext uri="{FF2B5EF4-FFF2-40B4-BE49-F238E27FC236}">
                <a16:creationId xmlns:a16="http://schemas.microsoft.com/office/drawing/2014/main" id="{FADC25D8-1AFE-4E81-BE13-C5B2D0CF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99" y="3732858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2B09BECB-0DFB-4F82-BB83-846D8088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360312"/>
            <a:ext cx="5312210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AB410391-290F-4C1F-8047-7F4138C5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4490" y="1360312"/>
            <a:ext cx="5312210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40CFF1F3-9545-4C8B-A3B4-BA67479B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420" y="1006057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2DAC582A-4A3E-48D3-88B7-D2FE38C7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530" y="1006057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2AAF6-15ED-4750-AE46-AAB82420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A4C6FA-CEBA-41DD-BC13-E4E63630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问题一：学生状态上的教师监督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6077D-3037-43BA-8022-CBBA5428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7927d7aef4e1d"/>
          <a:stretch xmlns:a="http://schemas.openxmlformats.org/drawingml/2006/main"/>
        </p:blipFill>
        <p:spPr>
          <a:xfrm xmlns:a="http://schemas.openxmlformats.org/drawingml/2006/main">
            <a:off x="514350" y="1049133"/>
            <a:ext cx="6743700" cy="3426235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87C70B-B741-4880-8EC2-EFD59E4E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0668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训练闭环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3EA715-6293-4ADA-BEFD-4C07ECA5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24000"/>
            <a:ext cx="1162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Rollout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BF6A1B-5226-45B3-93B0-3C00909A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552575"/>
            <a:ext cx="2619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学生生成真实轨迹，保留实际前缀。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B0A4DD-7C63-414E-8502-7F873F2D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28875"/>
            <a:ext cx="1162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Feedback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6CBAB8-4E8D-49AA-8ED3-8E4563E5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57450"/>
            <a:ext cx="2619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冻结 Qwen3-4B，给出分布或采样反馈。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7C4B0-338E-498C-A0FA-DA73EC30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1162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Update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8AA7BD-42FE-4C03-BCD1-CD2B2D20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62325"/>
            <a:ext cx="2619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只更新 Qwen3-0.6B 的 LoRA 参数。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6142E9-2868-4995-8F0C-1D30525F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0858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E225CA-0D34-43AF-AF4C-A0D63BAE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控制变量：同一 Function Calling 数据、模板、采样规则、有效 token 预算与评测脚本。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A3921D-ABEB-463D-8FC0-1FA1ADAF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10420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目标：将“在线状态反馈”的作用与离线监督差异分离出来。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10D7DE-56B1-4457-8CBD-A6F5FF75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506537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直角三角形 17">
            <a:extLst xmlns:a="http://schemas.openxmlformats.org/drawingml/2006/main">
              <a:ext uri="{FF2B5EF4-FFF2-40B4-BE49-F238E27FC236}">
                <a16:creationId xmlns:a16="http://schemas.microsoft.com/office/drawing/2014/main" id="{C1644077-3F33-4567-95EE-B69B85A9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51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9" name="直角三角形 18">
            <a:extLst xmlns:a="http://schemas.openxmlformats.org/drawingml/2006/main">
              <a:ext uri="{FF2B5EF4-FFF2-40B4-BE49-F238E27FC236}">
                <a16:creationId xmlns:a16="http://schemas.microsoft.com/office/drawing/2014/main" id="{D11670B4-5E22-472C-A4B9-C36CF211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655" y="1107656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0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7149E51A-56C0-44DE-95AA-F3CD30CD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76C0EAF4-7916-45F9-B297-9E6ACC84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99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8E958127-01EF-4CD6-A0D5-48DC7BD8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978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DA184691-E7F4-435B-9979-BC8A9DC3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176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直角三角形 23">
            <a:extLst xmlns:a="http://schemas.openxmlformats.org/drawingml/2006/main">
              <a:ext uri="{FF2B5EF4-FFF2-40B4-BE49-F238E27FC236}">
                <a16:creationId xmlns:a16="http://schemas.microsoft.com/office/drawing/2014/main" id="{0348DDAC-F469-406E-908C-242F4B00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1493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4154454D-19A9-48C2-9C73-BC20753A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816" y="1448904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B13481D-C289-45E9-B8EE-387537CA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015" y="1094649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277C09-985B-4E32-9E2C-FF2F9B86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47A102-4607-4F29-948F-58692B5D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问题二：散度目标如何改变学习行为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78B78E-E761-412D-AFB6-6308117E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60AE56-7EA8-4438-8B55-54B41A17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固定学生状态与训练预算，仅切换目标函数；结论待实验验证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A30660-3F66-4F7C-9ED2-22C049F3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27104D-A0A3-429A-8A51-75453040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Forward KL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8A1DCC-407A-4C20-90D0-41A3F3EC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教师分布加权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覆盖教师支持区域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保留更多候选信息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关注：mode-covering 行为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E24C13-5464-4871-B81C-7AC497BF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2561DB-9F9E-42C1-B3FB-08473D31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Reverse KL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AAAF36-7608-4BFF-A7AC-0B08BF6F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学生分布加权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聚焦当前高概率区域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强调当前策略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关注：mode-seeking 行为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976805-3772-4B77-B1DE-7C86BA8E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55BD98-2F82-4F9E-932F-55F21199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广义散度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E706DF-4D56-4114-875B-8A9FBA9A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在两类权重间折中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调节匹配偏好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检验连续变化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候选：Jensen–Shannon / skew-KL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771981-F6ED-4404-97B2-6E54E7EA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1334EF-E52C-4D88-9241-37C3344C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观察：loss / 梯度 / 熵与分布重叠 / 工具调用分层指标；不预设优胜者。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1E010A-48C7-4D83-B37B-8ED53508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32593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直角三角形 3">
            <a:extLst xmlns:a="http://schemas.openxmlformats.org/drawingml/2006/main">
              <a:ext uri="{FF2B5EF4-FFF2-40B4-BE49-F238E27FC236}">
                <a16:creationId xmlns:a16="http://schemas.microsoft.com/office/drawing/2014/main" id="{9427A8CF-EFDA-4B0E-8F56-140020B2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104" y="3617146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直角三角形 4">
            <a:extLst xmlns:a="http://schemas.openxmlformats.org/drawingml/2006/main">
              <a:ext uri="{FF2B5EF4-FFF2-40B4-BE49-F238E27FC236}">
                <a16:creationId xmlns:a16="http://schemas.microsoft.com/office/drawing/2014/main" id="{D7E677C2-9A75-466F-91CA-60795F86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104" y="890345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6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CB7BA873-D3DF-4F06-9C71-0DC5FBD0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3993424"/>
            <a:ext cx="11214100" cy="218440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AA4A31BA-A971-44F6-AFF7-24A0D3D6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244600"/>
            <a:ext cx="11214100" cy="218440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73685B7C-AC09-48F2-8DDB-2FFFDD26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890345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对角圆角矩形 81">
            <a:extLst xmlns:a="http://schemas.openxmlformats.org/drawingml/2006/main">
              <a:ext uri="{FF2B5EF4-FFF2-40B4-BE49-F238E27FC236}">
                <a16:creationId xmlns:a16="http://schemas.microsoft.com/office/drawing/2014/main" id="{3572CE6C-B482-4D32-A308-B3F910FC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3617146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C3AFE-00F3-4190-8FDB-191BDF82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061FC-9941-4C89-9DC3-4CB4B3FC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问题三：监督信息粒度与成本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DDBF4-2936-4D5B-A0F1-B0D5FE6F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5391EB-6B17-4D4E-9DC5-50FAEAD2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同一 rollout、同一优化预算：比较教师信息保留量和反馈代价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EF708F-7258-417A-A7DA-EDCB78AD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F2A90-8F44-4AE2-BBC4-7F8F1C76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全词表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BFB922-CC08-4266-A7FF-39B8703A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完整分布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信息最充分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反馈开销最高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优先观察：上限效果与显存/时间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3DB20-0FBF-4AB0-84C5-B6E14945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7CD1C1-1286-4999-BBCF-5D096977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Top-K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2E22C-551D-4431-8F73-B4299FEA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保留高概率支持集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压缩反馈体积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中等开销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优先观察：信息损失与效率折中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3F3F3B-444C-4FE7-8522-26E81BAB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4DA585-E660-4214-8806-DA99D8AA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K=1 采样 token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CD283-2B53-4026-A502-B030DFE1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单 token 估计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信息最稀疏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单位步成本最低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优先观察：方差与训练稳定性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8DEDEE-D8A5-4F92-98A5-6D18926E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0A13B0-DD99-4640-9FBB-D2BF7C12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评价维度：效果 × 稳定性 × 教师时间 / 显存 / 反馈体积；结论待实验验证。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EF03FF-82C8-442B-95B0-C4ECC10B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157036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直角三角形 3">
            <a:extLst xmlns:a="http://schemas.openxmlformats.org/drawingml/2006/main">
              <a:ext uri="{FF2B5EF4-FFF2-40B4-BE49-F238E27FC236}">
                <a16:creationId xmlns:a16="http://schemas.microsoft.com/office/drawing/2014/main" id="{3B19CB5B-F494-4FE9-97B8-C50A353E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63" y="1144153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F78026ED-34D7-48FF-9D74-486DE666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476" y="1344768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39C36C26-EC52-4FA8-935A-C80E1EB3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50" y="1072932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直角三角形 6">
            <a:extLst xmlns:a="http://schemas.openxmlformats.org/drawingml/2006/main">
              <a:ext uri="{FF2B5EF4-FFF2-40B4-BE49-F238E27FC236}">
                <a16:creationId xmlns:a16="http://schemas.microsoft.com/office/drawing/2014/main" id="{AB2674C8-01F0-4BC0-BA36-8066FCAE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425" y="2962905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8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28936605-FC7B-48C8-9138-F4A36866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8" y="3163520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3B63DF55-BC82-4CB8-8A3A-21F7E337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12" y="2891684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直角三角形 9">
            <a:extLst xmlns:a="http://schemas.openxmlformats.org/drawingml/2006/main">
              <a:ext uri="{FF2B5EF4-FFF2-40B4-BE49-F238E27FC236}">
                <a16:creationId xmlns:a16="http://schemas.microsoft.com/office/drawing/2014/main" id="{F266D5D9-09A8-43F8-ABCB-AE6CF4A5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487" y="4781657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F9E46E32-6878-4BD7-9B13-3B22C1BE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4982272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F3358290-DA19-4844-A7E8-50216051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4" y="4710436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CD2419-B3B4-4AA4-8611-BB9BD6ED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916D3-07FE-4CAE-9FF5-6CF6684D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实验设计与公平比较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490812-2184-4008-BC46-68F92134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DD10E-DCD6-4971-A0BD-C8A0FDF4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971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先固定协议，再改变一个研究因素；正式结论待实验验证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94EA64-936B-4ACE-812F-4F9F919E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2197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82F6BA-CD30-4345-A018-0896CAD9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固定条件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197C96-5A02-45C4-8C07-98BD93D2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Student / Teacher：Qwen3-0.6B / Qwen3-4B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数据：Function Calling，固定 train / valid split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参数：LoRA 配置、steps、有效 token 预算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生成与评测：模板、采样参数、evaluator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稳定性：至少 3 个随机种子，报告均值 / 标准差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44E2A0-6EB1-4A6E-9B0C-04D33F5F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428750"/>
            <a:ext cx="52197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986CF2-7498-4E81-BC99-EE647CAF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分层指标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06EB55-5100-49A0-AB17-99BECD97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7170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任务：格式、选函数、参数 key / value、执行、端到端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稳定：loss / grad、NaN / Inf、entropy / overlap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资源：teacher time、train time、吞吐、显存、feedback volume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追溯：commit、config、environment、raw metrics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比较：散度 × 监督粒度的受控组合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632157-E958-4DC4-AE14-EFC794C4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86425"/>
            <a:ext cx="10572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每个正式实验记录配置、随机种子、环境与原始指标，避免把待验证假设写成结论。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A68D49-3BD4-40B3-97E9-64006404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8134091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9595a0854c640f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0e33741eb41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6427" y="3596360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81F14AA-0664-4310-9BE3-735E9EC8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61AFED2-BD2C-412E-9178-9F0EA77A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9647"/>
            <a:ext cx="12192002" cy="177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E667425E-0DF7-4608-B119-42BE64DB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1149746"/>
            <a:ext cx="493304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FAA59BB3-0E2D-4DFE-AD1D-C850077D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12860"/>
            <a:ext cx="11201400" cy="14905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3B88E8C6-B8F2-4E15-A56F-79338DC1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239000" y="1145795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30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6db7aa341946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7788" y="219682"/>
            <a:ext cx="2199274" cy="961598"/>
          </a:xfrm>
          <a:prstGeom xmlns:a="http://schemas.openxmlformats.org/drawingml/2006/main" prst="rect">
            <a:avLst/>
          </a:prstGeom>
        </p:spPr>
      </p:pic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800F83A-61B1-47DD-808F-264D672F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2451"/>
            <a:ext cx="12192000" cy="680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pic>
        <p:nvPicPr>
          <p:cNvPr id="32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aef989da0e43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9679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6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FFCD2DB-EF52-4A5D-9A1A-B08CDE49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204207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/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30B27-321E-40A9-99E1-0E887CA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F452A7-DFA1-4791-8268-6A0A185F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进度安排（2026.09—2027.05）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A7CCA7-E189-4A04-83BE-6BC42D67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137125da14a00"/>
          <a:stretch xmlns:a="http://schemas.openxmlformats.org/drawingml/2006/main"/>
        </p:blipFill>
        <p:spPr>
          <a:xfrm xmlns:a="http://schemas.openxmlformats.org/drawingml/2006/main">
            <a:off x="762000" y="991606"/>
            <a:ext cx="10668000" cy="52843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56676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5a4b3609bae446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8fe91c04f45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6427" y="3596360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81F14AA-0664-4310-9BE3-735E9EC8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61AFED2-BD2C-412E-9178-9F0EA77A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9647"/>
            <a:ext cx="12192002" cy="177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E667425E-0DF7-4608-B119-42BE64DB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1149746"/>
            <a:ext cx="493304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FAA59BB3-0E2D-4DFE-AD1D-C850077D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12860"/>
            <a:ext cx="11201400" cy="14905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谢</a:t>
            </a: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谢</a:t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3B88E8C6-B8F2-4E15-A56F-79338DC1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239000" y="1145795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40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e718d7f5c49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7788" y="219682"/>
            <a:ext cx="2199274" cy="961598"/>
          </a:xfrm>
          <a:prstGeom xmlns:a="http://schemas.openxmlformats.org/drawingml/2006/main" prst="rect">
            <a:avLst/>
          </a:prstGeom>
        </p:spPr>
      </p:pic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800F83A-61B1-47DD-808F-264D672F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2451"/>
            <a:ext cx="12192000" cy="680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202X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年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月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日</a:t>
            </a:r>
          </a:p>
        </p:txBody>
      </p:sp>
      <p:pic>
        <p:nvPicPr>
          <p:cNvPr id="42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9c09e89cd43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9679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6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FFCD2DB-EF52-4A5D-9A1A-B08CDE49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204207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学院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学部</a:t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6E35BD-7131-4049-93B7-634F31A6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CA4565-3503-4559-90A8-4286AEB6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预期贡献与风险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EE884D-22BA-4D92-BE85-3D7F0257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69F24A-CB0A-470A-A400-195368DA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957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57AB83-B952-41A7-AE58-0046C77D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预期贡献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87D366-963B-45C5-B7F9-D2D77E00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统一可复现实验协议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散度 × 粒度受控比较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工具调用分层评测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成本与部署证据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成果形式：代码、配置、原始指标与论文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68979-EFC4-43EE-90C5-F3AD6B02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957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B58AFA-920E-487D-A17F-A990F3C6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主要风险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D40A98-B935-4B88-AB56-3E1F534B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师生 tokenizer / 模板不兼容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全词表反馈成本过高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token 指标与端到端脱节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实验窗口与算力有限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结论风险：待实验验证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4FE092-B5EB-44B2-91CD-4566C35B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957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1F5885-1A1A-4D55-96E4-F9729ACA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缓解措施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1DB12C-6F0B-4F6E-AF4C-E5AC362F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训练前做对齐审计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分块、缓存、Top-K / K1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保留失败轨迹并分层报告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固定预算并记录环境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必要时缩小实验矩阵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37B866-FBD0-4166-A653-6DD36BD8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65F5AF-C503-4FDB-9014-D11F82DA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研究结论与量化收益均标记为：待实验验证。</a:t>
            </a:r>
          </a:p>
        </p:txBody>
      </p:sp>
    </p:spTree>
    <p:extLst>
      <p:ext uri="{BB962C8B-B14F-4D97-AF65-F5344CB8AC3E}">
        <p14:creationId xmlns:p14="http://schemas.microsoft.com/office/powerpoint/2010/main" val="197356676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直角三角形 17">
            <a:extLst xmlns:a="http://schemas.openxmlformats.org/drawingml/2006/main">
              <a:ext uri="{FF2B5EF4-FFF2-40B4-BE49-F238E27FC236}">
                <a16:creationId xmlns:a16="http://schemas.microsoft.com/office/drawing/2014/main" id="{C1644077-3F33-4567-95EE-B69B85A9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51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9" name="直角三角形 18">
            <a:extLst xmlns:a="http://schemas.openxmlformats.org/drawingml/2006/main">
              <a:ext uri="{FF2B5EF4-FFF2-40B4-BE49-F238E27FC236}">
                <a16:creationId xmlns:a16="http://schemas.microsoft.com/office/drawing/2014/main" id="{D11670B4-5E22-472C-A4B9-C36CF211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655" y="1107656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0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7149E51A-56C0-44DE-95AA-F3CD30CD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76C0EAF4-7916-45F9-B297-9E6ACC84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99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8E958127-01EF-4CD6-A0D5-48DC7BD8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978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DA184691-E7F4-435B-9979-BC8A9DC3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176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直角三角形 23">
            <a:extLst xmlns:a="http://schemas.openxmlformats.org/drawingml/2006/main">
              <a:ext uri="{FF2B5EF4-FFF2-40B4-BE49-F238E27FC236}">
                <a16:creationId xmlns:a16="http://schemas.microsoft.com/office/drawing/2014/main" id="{0348DDAC-F469-406E-908C-242F4B00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1493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4154454D-19A9-48C2-9C73-BC20753A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816" y="1448904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B13481D-C289-45E9-B8EE-387537CA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015" y="1094649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277C09-985B-4E32-9E2C-FF2F9B86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47A102-4607-4F29-948F-58692B5D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问题二：散度目标如何改变学习行为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78B78E-E761-412D-AFB6-6308117E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60AE56-7EA8-4438-8B55-54B41A17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固定学生状态与训练预算，仅切换目标函数；结论待实验验证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A30660-3F66-4F7C-9ED2-22C049F3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27104D-A0A3-429A-8A51-75453040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Forward KL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8A1DCC-407A-4C20-90D0-41A3F3EC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教师分布加权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覆盖教师支持区域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保留更多候选信息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关注：mode-covering 行为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E24C13-5464-4871-B81C-7AC497BF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2561DB-9F9E-42C1-B3FB-08473D31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Reverse KL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AAAF36-7608-4BFF-A7AC-0B08BF6F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学生分布加权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聚焦当前高概率区域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强调当前策略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关注：mode-seeking 行为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976805-3772-4B77-B1DE-7C86BA8E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55BD98-2F82-4F9E-932F-55F21199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广义散度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E706DF-4D56-4114-875B-8A9FBA9A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在两类权重间折中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调节匹配偏好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检验连续变化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候选：Jensen–Shannon / skew-KL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771981-F6ED-4404-97B2-6E54E7EA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1334EF-E52C-4D88-9241-37C3344C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观察：loss / 梯度 / 熵与分布重叠 / 工具调用分层指标；不预设优胜者。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6476868-7E66-42E1-9379-1864079B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24EAF7-857C-445A-B81B-E8BA6C53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1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6A9164-5F44-49FB-AF71-9109025F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Q&amp;A｜答辩交流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B1EB3F-8D60-4948-99D9-31000CCD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65CC82-3D7F-41FE-8EAF-6887987E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49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78194A1-38E5-4FB3-80FA-78F789FE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00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请老师指导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3BAA26-2E5D-4803-824C-B3288D3F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957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FB2BE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18B790-68A8-4C5E-84BF-47545DAE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张子琦  |  计算机科学与技术  |  2026年9月27日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6A2EB9-A600-4D93-997F-B7CA4BF4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3259388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2026-09-27T04:16:09.0930000Z</dcterms:created>
  <dcterms:modified xsi:type="dcterms:W3CDTF">2026-09-27T04:16:09.0930000Z</dcterms:modified>
</coreProperties>
</file>