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b9d35a796d144fc" /><Relationship Type="http://schemas.openxmlformats.org/officeDocument/2006/relationships/extended-properties" Target="/docProps/app.xml" Id="R5ee344b124d4445f" /><Relationship Type="http://schemas.openxmlformats.org/officeDocument/2006/relationships/officeDocument" Target="/ppt/presentation.xml" Id="Ra016b86c1fbf4d4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7fe7150dae74dd2"/>
  </p:sldMasterIdLst>
  <p:notesMasterIdLst>
    <p:notesMasterId xmlns:r="http://schemas.openxmlformats.org/officeDocument/2006/relationships" r:id="R3cc74a53ab864b97"/>
  </p:notesMasterIdLst>
  <p:sldIdLst>
    <p:sldId xmlns:r="http://schemas.openxmlformats.org/officeDocument/2006/relationships" id="256" r:id="Ra5fc608d09814e7e"/>
    <p:sldId xmlns:r="http://schemas.openxmlformats.org/officeDocument/2006/relationships" id="257" r:id="Rcc1247aae7564516"/>
    <p:sldId xmlns:r="http://schemas.openxmlformats.org/officeDocument/2006/relationships" id="258" r:id="R7e0481dff0514688"/>
    <p:sldId xmlns:r="http://schemas.openxmlformats.org/officeDocument/2006/relationships" id="259" r:id="Rc4aceb8c5922434b"/>
    <p:sldId xmlns:r="http://schemas.openxmlformats.org/officeDocument/2006/relationships" id="260" r:id="Rf527df7fdf514bfe"/>
    <p:sldId xmlns:r="http://schemas.openxmlformats.org/officeDocument/2006/relationships" id="261" r:id="R63585063acca43f7"/>
    <p:sldId xmlns:r="http://schemas.openxmlformats.org/officeDocument/2006/relationships" id="262" r:id="Rfabc743850fa493e"/>
    <p:sldId xmlns:r="http://schemas.openxmlformats.org/officeDocument/2006/relationships" id="263" r:id="R60a6942b54f84132"/>
    <p:sldId xmlns:r="http://schemas.openxmlformats.org/officeDocument/2006/relationships" id="264" r:id="R6e3b0647c49a4f3d"/>
    <p:sldId xmlns:r="http://schemas.openxmlformats.org/officeDocument/2006/relationships" id="265" r:id="R0973d15c11c747cd"/>
    <p:sldId xmlns:r="http://schemas.openxmlformats.org/officeDocument/2006/relationships" id="266" r:id="R3cafc48510fe416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fc7668105974d16" /><Relationship Type="http://schemas.openxmlformats.org/officeDocument/2006/relationships/slideMaster" Target="/ppt/slideMasters/slideMaster1.xml" Id="R27fe7150dae74dd2" /><Relationship Type="http://schemas.openxmlformats.org/officeDocument/2006/relationships/notesMaster" Target="/ppt/notesMasters/notesMaster1.xml" Id="R3cc74a53ab864b97" /><Relationship Type="http://schemas.openxmlformats.org/officeDocument/2006/relationships/presProps" Target="/ppt/presProps.xml" Id="R611062e436624cb8" /><Relationship Type="http://schemas.openxmlformats.org/officeDocument/2006/relationships/viewProps" Target="/ppt/viewProps.xml" Id="R7e92920e5476489e" /><Relationship Type="http://schemas.openxmlformats.org/officeDocument/2006/relationships/tableStyles" Target="/ppt/tableStyles.xml" Id="R566d6dd36be44d79" /><Relationship Type="http://schemas.openxmlformats.org/officeDocument/2006/relationships/slide" Target="/ppt/slides/slide1.xml" Id="Ra5fc608d09814e7e" /><Relationship Type="http://schemas.openxmlformats.org/officeDocument/2006/relationships/slide" Target="/ppt/slides/slide2.xml" Id="Rcc1247aae7564516" /><Relationship Type="http://schemas.openxmlformats.org/officeDocument/2006/relationships/slide" Target="/ppt/slides/slide3.xml" Id="R7e0481dff0514688" /><Relationship Type="http://schemas.openxmlformats.org/officeDocument/2006/relationships/slide" Target="/ppt/slides/slide4.xml" Id="Rc4aceb8c5922434b" /><Relationship Type="http://schemas.openxmlformats.org/officeDocument/2006/relationships/slide" Target="/ppt/slides/slide5.xml" Id="Rf527df7fdf514bfe" /><Relationship Type="http://schemas.openxmlformats.org/officeDocument/2006/relationships/slide" Target="/ppt/slides/slide6.xml" Id="R63585063acca43f7" /><Relationship Type="http://schemas.openxmlformats.org/officeDocument/2006/relationships/slide" Target="/ppt/slides/slide7.xml" Id="Rfabc743850fa493e" /><Relationship Type="http://schemas.openxmlformats.org/officeDocument/2006/relationships/slide" Target="/ppt/slides/slide8.xml" Id="R60a6942b54f84132" /><Relationship Type="http://schemas.openxmlformats.org/officeDocument/2006/relationships/slide" Target="/ppt/slides/slide9.xml" Id="R6e3b0647c49a4f3d" /><Relationship Type="http://schemas.openxmlformats.org/officeDocument/2006/relationships/slide" Target="/ppt/slides/slide10.xml" Id="R0973d15c11c747cd" /><Relationship Type="http://schemas.openxmlformats.org/officeDocument/2006/relationships/slide" Target="/ppt/slides/slide11.xml" Id="R3cafc48510fe416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9a6886fd503480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c0bba936c4a4c8d" /><Relationship Type="http://schemas.openxmlformats.org/officeDocument/2006/relationships/notesMaster" Target="/ppt/notesMasters/notesMaster1.xml" Id="Rc0ec26624db84c4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3036c17b10044d7" /><Relationship Type="http://schemas.openxmlformats.org/officeDocument/2006/relationships/notesMaster" Target="/ppt/notesMasters/notesMaster1.xml" Id="R956bfc689b954e8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bdbf1ef142a4683" /><Relationship Type="http://schemas.openxmlformats.org/officeDocument/2006/relationships/notesMaster" Target="/ppt/notesMasters/notesMaster1.xml" Id="R4630dd922a294d1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f73f42f51f84581" /><Relationship Type="http://schemas.openxmlformats.org/officeDocument/2006/relationships/notesMaster" Target="/ppt/notesMasters/notesMaster1.xml" Id="R59dd829df3374ae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8d60e18b82d4505" /><Relationship Type="http://schemas.openxmlformats.org/officeDocument/2006/relationships/notesMaster" Target="/ppt/notesMasters/notesMaster1.xml" Id="R7e94f01a9d44466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c31ae1b3a384aea" /><Relationship Type="http://schemas.openxmlformats.org/officeDocument/2006/relationships/notesMaster" Target="/ppt/notesMasters/notesMaster1.xml" Id="Re330ec712f92426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ca8b0d503084ee2" /><Relationship Type="http://schemas.openxmlformats.org/officeDocument/2006/relationships/notesMaster" Target="/ppt/notesMasters/notesMaster1.xml" Id="Rabfd46f075f64d0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c1521fd5df74c41" /><Relationship Type="http://schemas.openxmlformats.org/officeDocument/2006/relationships/notesMaster" Target="/ppt/notesMasters/notesMaster1.xml" Id="R009a95039379459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378cd788df84a4b" /><Relationship Type="http://schemas.openxmlformats.org/officeDocument/2006/relationships/notesMaster" Target="/ppt/notesMasters/notesMaster1.xml" Id="R52d9433932a245a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d8194bd82bd4e51" /><Relationship Type="http://schemas.openxmlformats.org/officeDocument/2006/relationships/notesMaster" Target="/ppt/notesMasters/notesMaster1.xml" Id="R674a71daa76c422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c3ce3208d7f45db" /><Relationship Type="http://schemas.openxmlformats.org/officeDocument/2006/relationships/notesMaster" Target="/ppt/notesMasters/notesMaster1.xml" Id="R0c701c305275473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时间：0:30</a:t>
            </a:r>
          </a:p>
          <a:p xmlns:a="http://schemas.openxmlformats.org/drawingml/2006/main">
            <a:r>
              <a:t>要点：介绍课题名称、研究对象与汇报人。</a:t>
            </a:r>
          </a:p>
          <a:p xmlns:a="http://schemas.openxmlformats.org/drawingml/2006/main">
            <a:r>
              <a:t>过渡：从在线策略蒸馏的研究动机开始，说明为什么需要把学生真实生成状态纳入训练。</a:t>
            </a:r>
          </a:p>
          <a:p xmlns:a="http://schemas.openxmlformats.org/drawingml/2006/main">
            <a:r>
              <a:t>提示：封面信息为项目当前开题阶段信息。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时间：0:50</a:t>
            </a:r>
          </a:p>
          <a:p xmlns:a="http://schemas.openxmlformats.org/drawingml/2006/main">
            <a:r>
              <a:t>要点：强调三类缺口：状态分布偏移、目标函数与监督粒度的耦合、token 指标和端到端工具调用之间的断层。</a:t>
            </a:r>
          </a:p>
          <a:p xmlns:a="http://schemas.openxmlformats.org/drawingml/2006/main">
            <a:r>
              <a:t>过渡：下面把这些缺口压缩成三个可检验的研究问题。</a:t>
            </a:r>
          </a:p>
          <a:p xmlns:a="http://schemas.openxmlformats.org/drawingml/2006/main">
            <a:r>
              <a:t>提示：此页是研究动机与问题缺口，不报告实验结论。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时间：0:55</a:t>
            </a:r>
          </a:p>
          <a:p xmlns:a="http://schemas.openxmlformats.org/drawingml/2006/main">
            <a:r>
              <a:t>要点：依次解释 RQ1 状态分布、RQ2 散度目标、RQ3 监督信息粒度；三者分别对应在线性、目标函数、反馈成本。</a:t>
            </a:r>
          </a:p>
          <a:p xmlns:a="http://schemas.openxmlformats.org/drawingml/2006/main">
            <a:r>
              <a:t>过渡：三个问题共享同一条可复现训练与评测流水线。</a:t>
            </a:r>
          </a:p>
          <a:p xmlns:a="http://schemas.openxmlformats.org/drawingml/2006/main">
            <a:r>
              <a:t>提示：图示来自开题报告图2，具体结论仍待实验验证。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时间：0:45</a:t>
            </a:r>
          </a:p>
          <a:p xmlns:a="http://schemas.openxmlformats.org/drawingml/2006/main">
            <a:r>
              <a:t>要点：说明从数据、模型和模板对齐开始，经过训练脚本、统一评测与统计，最后形成可追溯结论。</a:t>
            </a:r>
          </a:p>
          <a:p xmlns:a="http://schemas.openxmlformats.org/drawingml/2006/main">
            <a:r>
              <a:t>过渡：下一页展开其中的在线训练与性能评测闭环。</a:t>
            </a:r>
          </a:p>
          <a:p xmlns:a="http://schemas.openxmlformats.org/drawingml/2006/main">
            <a:r>
              <a:t>提示：路线图是计划中的工程流程，尚未代表已完成实验。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时间：0:55</a:t>
            </a:r>
          </a:p>
          <a:p xmlns:a="http://schemas.openxmlformats.org/drawingml/2006/main">
            <a:r>
              <a:t>要点：学生先按当前策略 rollout，教师在真实学生状态上反馈，随后只更新 LoRA；图4展示训练到评测的闭环。</a:t>
            </a:r>
          </a:p>
          <a:p xmlns:a="http://schemas.openxmlformats.org/drawingml/2006/main">
            <a:r>
              <a:t>过渡：状态固定后，第二个变量是散度目标本身。</a:t>
            </a:r>
          </a:p>
          <a:p xmlns:a="http://schemas.openxmlformats.org/drawingml/2006/main">
            <a:r>
              <a:t>提示：图4为计划流程，实际收益待实验验证。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时间：0:55</a:t>
            </a:r>
          </a:p>
          <a:p xmlns:a="http://schemas.openxmlformats.org/drawingml/2006/main">
            <a:r>
              <a:t>要点：Forward KL、Reverse KL 与广义散度的权重位置不同，可能引起不同的覆盖或聚焦行为；本研究在相同状态和预算下比较。</a:t>
            </a:r>
          </a:p>
          <a:p xmlns:a="http://schemas.openxmlformats.org/drawingml/2006/main">
            <a:r>
              <a:t>过渡：目标函数之外，还要控制教师反馈保留了多少信息。</a:t>
            </a:r>
          </a:p>
          <a:p xmlns:a="http://schemas.openxmlformats.org/drawingml/2006/main">
            <a:r>
              <a:t>提示：行为解释是研究假设，结论待实验验证。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时间：0:55</a:t>
            </a:r>
          </a:p>
          <a:p xmlns:a="http://schemas.openxmlformats.org/drawingml/2006/main">
            <a:r>
              <a:t>要点：比较全词表、Top-K、K=1 采样 token 三种监督粒度，强调信息量和教师反馈成本的共同权衡。</a:t>
            </a:r>
          </a:p>
          <a:p xmlns:a="http://schemas.openxmlformats.org/drawingml/2006/main">
            <a:r>
              <a:t>过渡：接下来说明如何控制变量并进行公平比较。</a:t>
            </a:r>
          </a:p>
          <a:p xmlns:a="http://schemas.openxmlformats.org/drawingml/2006/main">
            <a:r>
              <a:t>提示：三种粒度的效果、稳定性和成本均待实验验证。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时间：0:55</a:t>
            </a:r>
          </a:p>
          <a:p xmlns:a="http://schemas.openxmlformats.org/drawingml/2006/main">
            <a:r>
              <a:t>要点：固定模型、数据、LoRA、训练预算、生成参数与评测脚本；同时报告任务、稳定性、资源和可追溯性指标。</a:t>
            </a:r>
          </a:p>
          <a:p xmlns:a="http://schemas.openxmlformats.org/drawingml/2006/main">
            <a:r>
              <a:t>过渡：最后给出当前计划、风险与预期产出。</a:t>
            </a:r>
          </a:p>
          <a:p xmlns:a="http://schemas.openxmlformats.org/drawingml/2006/main">
            <a:r>
              <a:t>提示：正式实验至少 3 个随机种子，所有性能结论待实验验证。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时间：0:45</a:t>
            </a:r>
          </a:p>
          <a:p xmlns:a="http://schemas.openxmlformats.org/drawingml/2006/main">
            <a:r>
              <a:t>要点：按月份说明文献与方案、基线实现、正式实验、论文初稿、修改与答辩的安排。</a:t>
            </a:r>
          </a:p>
          <a:p xmlns:a="http://schemas.openxmlformats.org/drawingml/2006/main">
            <a:r>
              <a:t>过渡：计划之外，还需要提前识别预期贡献与主要风险。</a:t>
            </a:r>
          </a:p>
          <a:p xmlns:a="http://schemas.openxmlformats.org/drawingml/2006/main">
            <a:r>
              <a:t>提示：时间表是当前计划，实际节点将随实验进展调整。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时间：0:45</a:t>
            </a:r>
          </a:p>
          <a:p xmlns:a="http://schemas.openxmlformats.org/drawingml/2006/main">
            <a:r>
              <a:t>要点：预期产出是统一协议、受控比较、分层评测与资源报告；风险集中在兼容性、成本、指标脱节和算力窗口。</a:t>
            </a:r>
          </a:p>
          <a:p xmlns:a="http://schemas.openxmlformats.org/drawingml/2006/main">
            <a:r>
              <a:t>过渡：以上内容汇报完毕，进入答辩交流。</a:t>
            </a:r>
          </a:p>
          <a:p xmlns:a="http://schemas.openxmlformats.org/drawingml/2006/main">
            <a:r>
              <a:t>提示：此页只列出预期贡献和风险，不把预期写成已验证结果。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时间：0:20 + 交流</a:t>
            </a:r>
          </a:p>
          <a:p xmlns:a="http://schemas.openxmlformats.org/drawingml/2006/main">
            <a:r>
              <a:t>要点：感谢老师，准备围绕研究问题、控制变量、成本预算与待验证实验假设回答。</a:t>
            </a:r>
          </a:p>
          <a:p xmlns:a="http://schemas.openxmlformats.org/drawingml/2006/main">
            <a:r>
              <a:t>过渡：邀请老师提问。</a:t>
            </a:r>
          </a:p>
          <a:p xmlns:a="http://schemas.openxmlformats.org/drawingml/2006/main">
            <a:r>
              <a:t>提示：交流页不包含任何实验结果。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475e44bef44c0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743e572495482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66a8f36fe5415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27f65eb58b403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45187c48ac488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d0417d5cc7461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ccccd63efe425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fc34941d6a43a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d7b03d0fd2484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60f4310dac430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f4a98167a14dcc" /></Relationships>
</file>

<file path=ppt/slideLayouts/slideLayout1.xml><?xml version="1.0" encoding="utf-8"?>
<p:sldLayout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CD7AB68D-B848-4BB9-9846-84B304B733C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副标题 2">
            <a:extLst xmlns:a="http://schemas.openxmlformats.org/drawingml/2006/main">
              <a:ext uri="{FF2B5EF4-FFF2-40B4-BE49-F238E27FC236}">
                <a16:creationId xmlns:a16="http://schemas.microsoft.com/office/drawing/2014/main" id="{A73EF9B3-5E40-4705-9896-E4765F2ACD28}"/>
              </a:ext>
            </a:extLst>
          </p:cNvPr>
          <p:cNvSpPr>
            <a:spLocks xmlns:a="http://schemas.openxmlformats.org/drawingml/2006/main" noGrp="1"/>
          </p:cNvSpPr>
          <p:nvPr>
            <p:ph type="subTitle" idx="1" hasCustomPrompt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单击以编辑母版副标题样式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168D629B-F1A4-4D55-9E94-135C84C1685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818D650-3A15-443A-B878-38CFEB8982A3}" type="datetimeFigureOut">
              <a:t>2025/4/18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7AF16AE7-63E8-4E00-A273-7F99725685F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91678359-1CD1-4BC1-BEB2-E69AE5877E7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EF223B-53FA-448A-B05D-AD632DCD3405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3D34B3D7-32EA-4852-831B-6F00A51DD9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5D0FBE05-9A65-4CA5-A0F4-981633590A72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0F2F2C1D-5B51-493F-ABF6-247E269131A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818D650-3A15-443A-B878-38CFEB8982A3}" type="datetimeFigureOut">
              <a:t>2025/4/18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543E2975-6D0A-4CD2-88EB-C0C3D5A5ED1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264DF679-33AB-4012-9F77-8A6BA0C20BE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EF223B-53FA-448A-B05D-AD632DCD3405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B8A6B588-D6A7-4083-B5E9-F41A098095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789D2B0B-D813-4238-92A4-44CF226BADDC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编辑母版文本样式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7EFB33E6-A9F3-4189-B992-215C66507D4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818D650-3A15-443A-B878-38CFEB8982A3}" type="datetimeFigureOut">
              <a:t>2025/4/18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E9204F2A-0721-4BD2-8201-8FACD5B569B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3040094-50F3-405F-9398-E4832A507A7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EF223B-53FA-448A-B05D-AD632DCD3405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FB775C65-FCCA-4EDD-9592-BBCC1996BC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1BA1A565-F3F7-4BBC-97CC-77632FAB6043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F71A9DAD-6895-4DEB-830E-B2C001F1F417}"/>
              </a:ext>
            </a:extLst>
          </p:cNvPr>
          <p:cNvSpPr>
            <a:spLocks xmlns:a="http://schemas.openxmlformats.org/drawingml/2006/main" noGrp="1"/>
          </p:cNvSpPr>
          <p:nvPr>
            <p:ph idx="2" hasCustomPrompt="1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11F9EADF-E0B7-4182-A5C4-97519F0864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818D650-3A15-443A-B878-38CFEB8982A3}" type="datetimeFigureOut">
              <a:t>2025/4/18</a:t>
            </a:fld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00D3F1C8-4739-4656-89D1-B91CD4CB67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570496DB-409E-46B8-9BD6-2E1DA0B1094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EF223B-53FA-448A-B05D-AD632DCD3405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3B683EE0-5961-4A6B-B577-698D439C4F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6D742A13-969B-4CC0-8C22-D592C540C1EA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编辑母版文本样式</a:t>
            </a:r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22C43B88-BEBF-4B2A-B914-A3F8361F92CA}"/>
              </a:ext>
            </a:extLst>
          </p:cNvPr>
          <p:cNvSpPr>
            <a:spLocks xmlns:a="http://schemas.openxmlformats.org/drawingml/2006/main" noGrp="1"/>
          </p:cNvSpPr>
          <p:nvPr>
            <p:ph idx="2" hasCustomPrompt="1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7B33E805-A655-495F-B1C4-D21043D84FE1}"/>
              </a:ext>
            </a:extLst>
          </p:cNvPr>
          <p:cNvSpPr>
            <a:spLocks xmlns:a="http://schemas.openxmlformats.org/drawingml/2006/main" noGrp="1"/>
          </p:cNvSpPr>
          <p:nvPr>
            <p:ph type="body" idx="3" hasCustomPrompt="1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编辑母版文本样式</a:t>
            </a:r>
          </a:p>
        </p:txBody>
      </p:sp>
      <p:sp>
        <p:nvSpPr>
          <p:cNvPr id="6" name="内容占位符 5">
            <a:extLst xmlns:a="http://schemas.openxmlformats.org/drawingml/2006/main">
              <a:ext uri="{FF2B5EF4-FFF2-40B4-BE49-F238E27FC236}">
                <a16:creationId xmlns:a16="http://schemas.microsoft.com/office/drawing/2014/main" id="{10683865-25EE-4D41-9AEB-6AA88CCDBF34}"/>
              </a:ext>
            </a:extLst>
          </p:cNvPr>
          <p:cNvSpPr>
            <a:spLocks xmlns:a="http://schemas.openxmlformats.org/drawingml/2006/main" noGrp="1"/>
          </p:cNvSpPr>
          <p:nvPr>
            <p:ph idx="4" hasCustomPrompt="1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7" name="日期占位符 6">
            <a:extLst xmlns:a="http://schemas.openxmlformats.org/drawingml/2006/main">
              <a:ext uri="{FF2B5EF4-FFF2-40B4-BE49-F238E27FC236}">
                <a16:creationId xmlns:a16="http://schemas.microsoft.com/office/drawing/2014/main" id="{391955BC-1B4C-4629-94C6-1F8F46CEF05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818D650-3A15-443A-B878-38CFEB8982A3}" type="datetimeFigureOut">
              <a:t>2025/4/18</a:t>
            </a:fld>
            <a:endParaRPr/>
          </a:p>
        </p:txBody>
      </p:sp>
      <p:sp>
        <p:nvSpPr>
          <p:cNvPr id="8" name="页脚占位符 7">
            <a:extLst xmlns:a="http://schemas.openxmlformats.org/drawingml/2006/main">
              <a:ext uri="{FF2B5EF4-FFF2-40B4-BE49-F238E27FC236}">
                <a16:creationId xmlns:a16="http://schemas.microsoft.com/office/drawing/2014/main" id="{5CAA611D-150F-418A-AFC4-9A513BAB5D8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灯片编号占位符 8">
            <a:extLst xmlns:a="http://schemas.openxmlformats.org/drawingml/2006/main">
              <a:ext uri="{FF2B5EF4-FFF2-40B4-BE49-F238E27FC236}">
                <a16:creationId xmlns:a16="http://schemas.microsoft.com/office/drawing/2014/main" id="{B97E81B4-E2CF-496C-AEBF-2224869933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EF223B-53FA-448A-B05D-AD632DCD3405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C45FFD08-69DD-458A-9E18-07B270E30C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58446E4F-FB7C-4CD6-B2FC-0AEFDD939D5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818D650-3A15-443A-B878-38CFEB8982A3}" type="datetimeFigureOut">
              <a:t>2025/4/18</a:t>
            </a:fld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B799C97D-711B-4198-9179-409CCED12B2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AC5F7628-CB41-405E-8D12-9FA9E5B8451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EF223B-53FA-448A-B05D-AD632DCD3405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F6D14D47-DEA4-40E8-8820-C263D76F62A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818D650-3A15-443A-B878-38CFEB8982A3}" type="datetimeFigureOut">
              <a:t>2025/4/18</a:t>
            </a:fld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FADB70CA-4453-4DF5-BB9B-55F426AA9E9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D8C00595-305F-4E23-B962-E7EA164C48E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EF223B-53FA-448A-B05D-AD632DCD3405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A0D1DD82-A45F-4435-989E-3A8CA9938F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990BA29C-1D9F-43B1-AD7E-D513A927BD11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D2F5B860-2E25-40C9-AE58-72D27D0B2C2B}"/>
              </a:ext>
            </a:extLst>
          </p:cNvPr>
          <p:cNvSpPr>
            <a:spLocks xmlns:a="http://schemas.openxmlformats.org/drawingml/2006/main" noGrp="1"/>
          </p:cNvSpPr>
          <p:nvPr>
            <p:ph type="body" idx="2" hasCustomPrompt="1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编辑母版文本样式</a:t>
            </a:r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C3322638-30A9-44DA-86DF-36CBFEC7217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818D650-3A15-443A-B878-38CFEB8982A3}" type="datetimeFigureOut">
              <a:t>2025/4/18</a:t>
            </a:fld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A6E3E77D-8F6E-4DDA-ABFC-F4D0D9817AD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EAD18D43-A2DF-475F-9B45-C4CE3EA8DB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EF223B-53FA-448A-B05D-AD632DCD3405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0C536DA0-4302-4164-986C-7B1B931B8FE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图片占位符 2">
            <a:extLst xmlns:a="http://schemas.openxmlformats.org/drawingml/2006/main">
              <a:ext uri="{FF2B5EF4-FFF2-40B4-BE49-F238E27FC236}">
                <a16:creationId xmlns:a16="http://schemas.microsoft.com/office/drawing/2014/main" id="{19CCE176-9420-4EEC-9DAE-4FCE8DAA87F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D97B0038-2E18-4EE6-A735-30CEE2E28C53}"/>
              </a:ext>
            </a:extLst>
          </p:cNvPr>
          <p:cNvSpPr>
            <a:spLocks xmlns:a="http://schemas.openxmlformats.org/drawingml/2006/main" noGrp="1"/>
          </p:cNvSpPr>
          <p:nvPr>
            <p:ph type="body" idx="2" hasCustomPrompt="1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编辑母版文本样式</a:t>
            </a:r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3EE18F8E-18E6-4443-8ABB-454BC93E2DB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818D650-3A15-443A-B878-38CFEB8982A3}" type="datetimeFigureOut">
              <a:t>2025/4/18</a:t>
            </a:fld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9111F353-B305-447B-B616-9F03FB97DCF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16E8B3B4-A7B6-4FAF-A927-E7C5C235A49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EF223B-53FA-448A-B05D-AD632DCD3405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EA47D27B-824A-4C56-91A7-CA04942DAE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AF7036C1-3E81-4C45-8EAE-185BEFC8566F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3E6263C7-AD21-499C-B8EC-581F3AC4C66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818D650-3A15-443A-B878-38CFEB8982A3}" type="datetimeFigureOut">
              <a:t>2025/4/18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7E4DEAD9-FFBA-4055-9E4E-E31F713EEFD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45D72BF8-C93E-4805-A22B-C96F17C6F1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EF223B-53FA-448A-B05D-AD632DCD3405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竖排标题 1">
            <a:extLst xmlns:a="http://schemas.openxmlformats.org/drawingml/2006/main">
              <a:ext uri="{FF2B5EF4-FFF2-40B4-BE49-F238E27FC236}">
                <a16:creationId xmlns:a16="http://schemas.microsoft.com/office/drawing/2014/main" id="{C3CA6A47-727C-4275-B0EE-8339BA7500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A6FCE618-A2AC-4E31-8564-30A1568FA9E0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C1769B4A-BBCE-46F3-8093-ACFB016CA8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818D650-3A15-443A-B878-38CFEB8982A3}" type="datetimeFigureOut">
              <a:t>2025/4/18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0C768126-57DE-4160-8071-C271E677BA7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051BACB0-76BA-4049-BA55-185E4413E9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EF223B-53FA-448A-B05D-AD632DCD3405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jpeg" Id="R2543b6be98224c81" /><Relationship Type="http://schemas.openxmlformats.org/officeDocument/2006/relationships/theme" Target="/ppt/slideMasters/theme/theme2.xml" Id="R9f7160c3c6d74795" /><Relationship Type="http://schemas.openxmlformats.org/officeDocument/2006/relationships/slideLayout" Target="/ppt/slideLayouts/slideLayout1.xml" Id="Rc4b6e63d918e475f" /><Relationship Type="http://schemas.openxmlformats.org/officeDocument/2006/relationships/slideLayout" Target="/ppt/slideLayouts/slideLayout2.xml" Id="R352dcbd7c6d54dbf" /><Relationship Type="http://schemas.openxmlformats.org/officeDocument/2006/relationships/slideLayout" Target="/ppt/slideLayouts/slideLayout3.xml" Id="Rc25fabf0f2d84415" /><Relationship Type="http://schemas.openxmlformats.org/officeDocument/2006/relationships/slideLayout" Target="/ppt/slideLayouts/slideLayout4.xml" Id="R12795d9689504444" /><Relationship Type="http://schemas.openxmlformats.org/officeDocument/2006/relationships/slideLayout" Target="/ppt/slideLayouts/slideLayout5.xml" Id="R64eb8f8325ed48c7" /><Relationship Type="http://schemas.openxmlformats.org/officeDocument/2006/relationships/slideLayout" Target="/ppt/slideLayouts/slideLayout6.xml" Id="Rfac3cc8ff0144370" /><Relationship Type="http://schemas.openxmlformats.org/officeDocument/2006/relationships/slideLayout" Target="/ppt/slideLayouts/slideLayout7.xml" Id="R7dbfd936f4ff4cb6" /><Relationship Type="http://schemas.openxmlformats.org/officeDocument/2006/relationships/slideLayout" Target="/ppt/slideLayouts/slideLayout8.xml" Id="R8281886815464b1f" /><Relationship Type="http://schemas.openxmlformats.org/officeDocument/2006/relationships/slideLayout" Target="/ppt/slideLayouts/slideLayout9.xml" Id="R5894fe45f136484f" /><Relationship Type="http://schemas.openxmlformats.org/officeDocument/2006/relationships/slideLayout" Target="/ppt/slideLayouts/slideLayout10.xml" Id="R418f6bbb062c4da3" /><Relationship Type="http://schemas.openxmlformats.org/officeDocument/2006/relationships/slideLayout" Target="/ppt/slideLayouts/slideLayout11.xml" Id="R9440a03cd2cd4465" /></Relationships>
</file>

<file path=ppt/slideMasters/slideMaster1.xml><?xml version="1.0" encoding="utf-8"?>
<p:sldMaster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2543b6be98224c8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0AE60E77-A0C0-4778-840D-6AC16B25981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AD5A8646-0A02-4AB9-B7CD-D46273CE93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721900C3-CB18-4BB0-9016-B76D3369303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0818D650-3A15-443A-B878-38CFEB8982A3}" type="datetimeFigureOut">
              <a:t>2025/4/18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D457F5CB-90C7-4E82-B7E6-46627B86421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C688E9F9-83C0-48F7-A6E6-0DA2B687344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EF223B-53FA-448A-B05D-AD632DCD3405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4b6e63d918e475f"/>
    <p:sldLayoutId xmlns:r="http://schemas.openxmlformats.org/officeDocument/2006/relationships" id="2147483650" r:id="R352dcbd7c6d54dbf"/>
    <p:sldLayoutId xmlns:r="http://schemas.openxmlformats.org/officeDocument/2006/relationships" id="2147483651" r:id="Rc25fabf0f2d84415"/>
    <p:sldLayoutId xmlns:r="http://schemas.openxmlformats.org/officeDocument/2006/relationships" id="2147483652" r:id="R12795d9689504444"/>
    <p:sldLayoutId xmlns:r="http://schemas.openxmlformats.org/officeDocument/2006/relationships" id="2147483653" r:id="R64eb8f8325ed48c7"/>
    <p:sldLayoutId xmlns:r="http://schemas.openxmlformats.org/officeDocument/2006/relationships" id="2147483654" r:id="Rfac3cc8ff0144370"/>
    <p:sldLayoutId xmlns:r="http://schemas.openxmlformats.org/officeDocument/2006/relationships" id="2147483655" r:id="R7dbfd936f4ff4cb6"/>
    <p:sldLayoutId xmlns:r="http://schemas.openxmlformats.org/officeDocument/2006/relationships" id="2147483656" r:id="R8281886815464b1f"/>
    <p:sldLayoutId xmlns:r="http://schemas.openxmlformats.org/officeDocument/2006/relationships" id="2147483657" r:id="R5894fe45f136484f"/>
    <p:sldLayoutId xmlns:r="http://schemas.openxmlformats.org/officeDocument/2006/relationships" id="2147483658" r:id="R418f6bbb062c4da3"/>
    <p:sldLayoutId xmlns:r="http://schemas.openxmlformats.org/officeDocument/2006/relationships" id="2147483659" r:id="R9440a03cd2cd4465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d6c5175f724cb2" /><Relationship Type="http://schemas.openxmlformats.org/officeDocument/2006/relationships/image" Target="/ppt/media/image.png" Id="Rff6b1bf0c32148eb" /><Relationship Type="http://schemas.openxmlformats.org/officeDocument/2006/relationships/image" Target="/ppt/media/image2.png" Id="R1512ed654e3544e0" /><Relationship Type="http://schemas.openxmlformats.org/officeDocument/2006/relationships/image" Target="/ppt/media/image3.png" Id="Rd2918d5b8b4d4fac" /><Relationship Type="http://schemas.openxmlformats.org/officeDocument/2006/relationships/notesSlide" Target="/ppt/notesSlides/notesSlide1.xml" Id="R7d88840a220747e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8bce45e75a9482d" /><Relationship Type="http://schemas.openxmlformats.org/officeDocument/2006/relationships/notesSlide" Target="/ppt/notesSlides/notesSlide2.xml" Id="Rd59fba132b864c8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e334d22a3547a4" /><Relationship Type="http://schemas.openxmlformats.org/officeDocument/2006/relationships/image" Target="/ppt/media/image4.png" Id="Rf7cd5e3ea44042f6" /><Relationship Type="http://schemas.openxmlformats.org/officeDocument/2006/relationships/notesSlide" Target="/ppt/notesSlides/notesSlide3.xml" Id="Re93a44a7375a4a2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971636b469b4f8c" /><Relationship Type="http://schemas.openxmlformats.org/officeDocument/2006/relationships/image" Target="/ppt/media/image5.png" Id="Rac2cf67e0c6f414b" /><Relationship Type="http://schemas.openxmlformats.org/officeDocument/2006/relationships/notesSlide" Target="/ppt/notesSlides/notesSlide4.xml" Id="Rbc5f240761524de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fe80df87ec94dcf" /><Relationship Type="http://schemas.openxmlformats.org/officeDocument/2006/relationships/image" Target="/ppt/media/image6.png" Id="R48611aac23e9448b" /><Relationship Type="http://schemas.openxmlformats.org/officeDocument/2006/relationships/notesSlide" Target="/ppt/notesSlides/notesSlide5.xml" Id="Ra32c21c680db445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388da8fdd9b4a41" /><Relationship Type="http://schemas.openxmlformats.org/officeDocument/2006/relationships/notesSlide" Target="/ppt/notesSlides/notesSlide6.xml" Id="R46304a5881294a7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73ca3e9c102481a" /><Relationship Type="http://schemas.openxmlformats.org/officeDocument/2006/relationships/notesSlide" Target="/ppt/notesSlides/notesSlide7.xml" Id="Rb3b9413221a0417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a25e905ea341c0" /><Relationship Type="http://schemas.openxmlformats.org/officeDocument/2006/relationships/notesSlide" Target="/ppt/notesSlides/notesSlide8.xml" Id="R501a43376d284e6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d5dc33d14484413" /><Relationship Type="http://schemas.openxmlformats.org/officeDocument/2006/relationships/image" Target="/ppt/media/image2.jpeg" Id="R7f38d95926ba4bd8" /><Relationship Type="http://schemas.openxmlformats.org/officeDocument/2006/relationships/image" Target="/ppt/media/image.png" Id="Rcb1c0b337f524c73" /><Relationship Type="http://schemas.openxmlformats.org/officeDocument/2006/relationships/image" Target="/ppt/media/image2.png" Id="R9928489aea93495d" /><Relationship Type="http://schemas.openxmlformats.org/officeDocument/2006/relationships/image" Target="/ppt/media/image3.png" Id="R2cf78fda0aa54ff1" /><Relationship Type="http://schemas.openxmlformats.org/officeDocument/2006/relationships/image" Target="/ppt/media/image7.png" Id="R3970cce2dff84c23" /><Relationship Type="http://schemas.openxmlformats.org/officeDocument/2006/relationships/notesSlide" Target="/ppt/notesSlides/notesSlide9.xml" Id="R75554e75cc674d6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ab5298f65254ca9" /><Relationship Type="http://schemas.openxmlformats.org/officeDocument/2006/relationships/image" Target="/ppt/media/image2.jpeg" Id="R9439dbc77941416f" /><Relationship Type="http://schemas.openxmlformats.org/officeDocument/2006/relationships/image" Target="/ppt/media/image.png" Id="R7f1e349d850f4e00" /><Relationship Type="http://schemas.openxmlformats.org/officeDocument/2006/relationships/image" Target="/ppt/media/image2.png" Id="Re211f9ec532946b4" /><Relationship Type="http://schemas.openxmlformats.org/officeDocument/2006/relationships/image" Target="/ppt/media/image3.png" Id="R44a1bc25614d4bef" /><Relationship Type="http://schemas.openxmlformats.org/officeDocument/2006/relationships/notesSlide" Target="/ppt/notesSlides/notesSlide10.xml" Id="Rffec212769f9461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ebaa7139d24778" /><Relationship Type="http://schemas.openxmlformats.org/officeDocument/2006/relationships/notesSlide" Target="/ppt/notesSlides/notesSlide11.xml" Id="R07a16e9e6756456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图片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6b1bf0c32148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879282" y="3602075"/>
            <a:ext cx="6287881" cy="2749276"/>
          </a:xfrm>
          <a:prstGeom xmlns:a="http://schemas.openxmlformats.org/drawingml/2006/main" prst="rect">
            <a:avLst/>
          </a:prstGeom>
        </p:spPr>
      </p:pic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0A701EDC-A070-4019-9358-52534FD84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" y="6296878"/>
            <a:ext cx="12191999" cy="5611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5"/>
          </a:solidFill>
          <a:ln xmlns:a="http://schemas.openxmlformats.org/drawingml/2006/main">
            <a:solidFill>
              <a:srgbClr val="005375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5B02A26E-7EA4-4588-AF8B-2F7C5D46A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30206"/>
            <a:ext cx="12192000" cy="21736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5"/>
          </a:solidFill>
          <a:ln xmlns:a="http://schemas.openxmlformats.org/drawingml/2006/main">
            <a:solidFill>
              <a:srgbClr val="005375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4000" b="1"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直接连接符 5">
            <a:extLst xmlns:a="http://schemas.openxmlformats.org/drawingml/2006/main">
              <a:ext uri="{FF2B5EF4-FFF2-40B4-BE49-F238E27FC236}">
                <a16:creationId xmlns:a16="http://schemas.microsoft.com/office/drawing/2014/main" id="{1F6A310B-D5AD-40F2-8A3F-B55F889A7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6" y="672215"/>
            <a:ext cx="11174288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00537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7" name="标题 1">
            <a:extLst xmlns:a="http://schemas.openxmlformats.org/drawingml/2006/main">
              <a:ext uri="{FF2B5EF4-FFF2-40B4-BE49-F238E27FC236}">
                <a16:creationId xmlns:a16="http://schemas.microsoft.com/office/drawing/2014/main" id="{0D177E34-646E-4CFB-B997-6B8D8BE1DBA6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501650" y="1382185"/>
            <a:ext cx="11201400" cy="2069647"/>
          </a:xfrm>
        </p:spPr>
        <p:txBody>
          <a:bodyPr xmlns:a="http://schemas.openxmlformats.org/drawingml/2006/main" lIns="91440" tIns="45720" rIns="91440" bIns="180000"/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3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基于在线策略蒸馏的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3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大语言模型后训练方法研究</a:t>
            </a:r>
          </a:p>
        </p:txBody>
      </p:sp>
      <p:sp>
        <p:nvSpPr>
          <p:cNvPr id="8" name="副标题 2">
            <a:extLst xmlns:a="http://schemas.openxmlformats.org/drawingml/2006/main">
              <a:ext uri="{FF2B5EF4-FFF2-40B4-BE49-F238E27FC236}">
                <a16:creationId xmlns:a16="http://schemas.microsoft.com/office/drawing/2014/main" id="{6042319A-F3EF-46B9-A40E-BC57DCA4B88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488950" y="4728150"/>
            <a:ext cx="11214100" cy="68040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汇报人：张子琦</a:t>
            </a:r>
          </a:p>
        </p:txBody>
      </p:sp>
      <p:sp>
        <p:nvSpPr>
          <p:cNvPr id="9" name="副标题 2">
            <a:extLst xmlns:a="http://schemas.openxmlformats.org/drawingml/2006/main">
              <a:ext uri="{FF2B5EF4-FFF2-40B4-BE49-F238E27FC236}">
                <a16:creationId xmlns:a16="http://schemas.microsoft.com/office/drawing/2014/main" id="{BDC584DD-BC81-431F-93A6-EC7BDFB51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950" y="5386000"/>
            <a:ext cx="11214100" cy="6804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/>
          <a:lstStyle xmlns:a="http://schemas.openxmlformats.org/drawingml/2006/main"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defRPr sz="1725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2026年9月27日</a:t>
            </a:r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0536107B-D934-4F07-9811-3D898D02F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4934"/>
            <a:ext cx="411988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本科毕业设计开题答辩</a:t>
            </a:r>
          </a:p>
        </p:txBody>
      </p:sp>
      <p:pic>
        <p:nvPicPr>
          <p:cNvPr id="24" name="图片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12ed654e3544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148710" y="228600"/>
            <a:ext cx="1061070" cy="463936"/>
          </a:xfrm>
          <a:prstGeom xmlns:a="http://schemas.openxmlformats.org/drawingml/2006/main" prst="rect">
            <a:avLst/>
          </a:prstGeom>
        </p:spPr>
      </p:pic>
      <p:pic>
        <p:nvPicPr>
          <p:cNvPr id="25" name="图片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918d5b8b4d4f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0314" y="6415212"/>
            <a:ext cx="1655733" cy="324128"/>
          </a:xfrm>
          <a:prstGeom xmlns:a="http://schemas.openxmlformats.org/drawingml/2006/main" prst="rect">
            <a:avLst/>
          </a:prstGeom>
        </p:spPr>
      </p:pic>
      <p:sp>
        <p:nvSpPr>
          <p:cNvPr id="12" name="副标题 2">
            <a:extLst xmlns:a="http://schemas.openxmlformats.org/drawingml/2006/main">
              <a:ext uri="{FF2B5EF4-FFF2-40B4-BE49-F238E27FC236}">
                <a16:creationId xmlns:a16="http://schemas.microsoft.com/office/drawing/2014/main" id="{077F7373-2BDF-4355-8F9E-745B8B33F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950" y="4070300"/>
            <a:ext cx="11214100" cy="6804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/>
          <a:lstStyle xmlns:a="http://schemas.openxmlformats.org/drawingml/2006/main"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defRPr sz="1800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计算机科学与技术</a:t>
            </a:r>
            <a:endParaRPr b="1">
              <a:solidFill>
                <a:srgbClr val="005376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21256450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gwheels_376015">
            <a:extLst xmlns:a="http://schemas.openxmlformats.org/drawingml/2006/main">
              <a:ext uri="{FF2B5EF4-FFF2-40B4-BE49-F238E27FC236}">
                <a16:creationId xmlns:a16="http://schemas.microsoft.com/office/drawing/2014/main" id="{B0A02852-4D99-4A5B-AAAC-CBB345D6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33" y="1415499"/>
            <a:ext cx="4224055" cy="4280147"/>
          </a:xfrm>
          <a:custGeom xmlns:a="http://schemas.openxmlformats.org/drawingml/2006/main">
            <a:gdLst>
              <a:gd name="T0" fmla="*/ 3621 w 6468"/>
              <a:gd name="T1" fmla="*/ 3299 h 6564"/>
              <a:gd name="T2" fmla="*/ 4214 w 6468"/>
              <a:gd name="T3" fmla="*/ 4727 h 6564"/>
              <a:gd name="T4" fmla="*/ 6337 w 6468"/>
              <a:gd name="T5" fmla="*/ 4571 h 6564"/>
              <a:gd name="T6" fmla="*/ 5974 w 6468"/>
              <a:gd name="T7" fmla="*/ 3603 h 6564"/>
              <a:gd name="T8" fmla="*/ 6429 w 6468"/>
              <a:gd name="T9" fmla="*/ 3225 h 6564"/>
              <a:gd name="T10" fmla="*/ 6022 w 6468"/>
              <a:gd name="T11" fmla="*/ 2697 h 6564"/>
              <a:gd name="T12" fmla="*/ 5080 w 6468"/>
              <a:gd name="T13" fmla="*/ 2269 h 6564"/>
              <a:gd name="T14" fmla="*/ 5136 w 6468"/>
              <a:gd name="T15" fmla="*/ 1681 h 6564"/>
              <a:gd name="T16" fmla="*/ 4477 w 6468"/>
              <a:gd name="T17" fmla="*/ 1593 h 6564"/>
              <a:gd name="T18" fmla="*/ 3837 w 6468"/>
              <a:gd name="T19" fmla="*/ 1917 h 6564"/>
              <a:gd name="T20" fmla="*/ 3357 w 6468"/>
              <a:gd name="T21" fmla="*/ 2412 h 6564"/>
              <a:gd name="T22" fmla="*/ 3445 w 6468"/>
              <a:gd name="T23" fmla="*/ 2889 h 6564"/>
              <a:gd name="T24" fmla="*/ 5048 w 6468"/>
              <a:gd name="T25" fmla="*/ 3547 h 6564"/>
              <a:gd name="T26" fmla="*/ 2792 w 6468"/>
              <a:gd name="T27" fmla="*/ 4483 h 6564"/>
              <a:gd name="T28" fmla="*/ 2397 w 6468"/>
              <a:gd name="T29" fmla="*/ 3364 h 6564"/>
              <a:gd name="T30" fmla="*/ 1830 w 6468"/>
              <a:gd name="T31" fmla="*/ 3843 h 6564"/>
              <a:gd name="T32" fmla="*/ 1502 w 6468"/>
              <a:gd name="T33" fmla="*/ 4577 h 6564"/>
              <a:gd name="T34" fmla="*/ 1589 w 6468"/>
              <a:gd name="T35" fmla="*/ 5239 h 6564"/>
              <a:gd name="T36" fmla="*/ 2178 w 6468"/>
              <a:gd name="T37" fmla="*/ 5181 h 6564"/>
              <a:gd name="T38" fmla="*/ 2609 w 6468"/>
              <a:gd name="T39" fmla="*/ 6123 h 6564"/>
              <a:gd name="T40" fmla="*/ 3138 w 6468"/>
              <a:gd name="T41" fmla="*/ 6528 h 6564"/>
              <a:gd name="T42" fmla="*/ 3513 w 6468"/>
              <a:gd name="T43" fmla="*/ 6072 h 6564"/>
              <a:gd name="T44" fmla="*/ 4484 w 6468"/>
              <a:gd name="T45" fmla="*/ 6433 h 6564"/>
              <a:gd name="T46" fmla="*/ 5145 w 6468"/>
              <a:gd name="T47" fmla="*/ 6347 h 6564"/>
              <a:gd name="T48" fmla="*/ 5088 w 6468"/>
              <a:gd name="T49" fmla="*/ 5759 h 6564"/>
              <a:gd name="T50" fmla="*/ 6029 w 6468"/>
              <a:gd name="T51" fmla="*/ 5328 h 6564"/>
              <a:gd name="T52" fmla="*/ 6434 w 6468"/>
              <a:gd name="T53" fmla="*/ 4799 h 6564"/>
              <a:gd name="T54" fmla="*/ 370 w 6468"/>
              <a:gd name="T55" fmla="*/ 1975 h 6564"/>
              <a:gd name="T56" fmla="*/ 0 w 6468"/>
              <a:gd name="T57" fmla="*/ 1827 h 6564"/>
              <a:gd name="T58" fmla="*/ 148 w 6468"/>
              <a:gd name="T59" fmla="*/ 1436 h 6564"/>
              <a:gd name="T60" fmla="*/ 580 w 6468"/>
              <a:gd name="T61" fmla="*/ 947 h 6564"/>
              <a:gd name="T62" fmla="*/ 424 w 6468"/>
              <a:gd name="T63" fmla="*/ 583 h 6564"/>
              <a:gd name="T64" fmla="*/ 802 w 6468"/>
              <a:gd name="T65" fmla="*/ 412 h 6564"/>
              <a:gd name="T66" fmla="*/ 1454 w 6468"/>
              <a:gd name="T67" fmla="*/ 371 h 6564"/>
              <a:gd name="T68" fmla="*/ 1602 w 6468"/>
              <a:gd name="T69" fmla="*/ 0 h 6564"/>
              <a:gd name="T70" fmla="*/ 1993 w 6468"/>
              <a:gd name="T71" fmla="*/ 148 h 6564"/>
              <a:gd name="T72" fmla="*/ 2482 w 6468"/>
              <a:gd name="T73" fmla="*/ 580 h 6564"/>
              <a:gd name="T74" fmla="*/ 2848 w 6468"/>
              <a:gd name="T75" fmla="*/ 423 h 6564"/>
              <a:gd name="T76" fmla="*/ 3018 w 6468"/>
              <a:gd name="T77" fmla="*/ 801 h 6564"/>
              <a:gd name="T78" fmla="*/ 3060 w 6468"/>
              <a:gd name="T79" fmla="*/ 1453 h 6564"/>
              <a:gd name="T80" fmla="*/ 3430 w 6468"/>
              <a:gd name="T81" fmla="*/ 1601 h 6564"/>
              <a:gd name="T82" fmla="*/ 3282 w 6468"/>
              <a:gd name="T83" fmla="*/ 1992 h 6564"/>
              <a:gd name="T84" fmla="*/ 2850 w 6468"/>
              <a:gd name="T85" fmla="*/ 2481 h 6564"/>
              <a:gd name="T86" fmla="*/ 3008 w 6468"/>
              <a:gd name="T87" fmla="*/ 2847 h 6564"/>
              <a:gd name="T88" fmla="*/ 2629 w 6468"/>
              <a:gd name="T89" fmla="*/ 3017 h 6564"/>
              <a:gd name="T90" fmla="*/ 1977 w 6468"/>
              <a:gd name="T91" fmla="*/ 3059 h 6564"/>
              <a:gd name="T92" fmla="*/ 1829 w 6468"/>
              <a:gd name="T93" fmla="*/ 3429 h 6564"/>
              <a:gd name="T94" fmla="*/ 1438 w 6468"/>
              <a:gd name="T95" fmla="*/ 3281 h 6564"/>
              <a:gd name="T96" fmla="*/ 949 w 6468"/>
              <a:gd name="T97" fmla="*/ 2849 h 6564"/>
              <a:gd name="T98" fmla="*/ 584 w 6468"/>
              <a:gd name="T99" fmla="*/ 3007 h 6564"/>
              <a:gd name="T100" fmla="*/ 413 w 6468"/>
              <a:gd name="T101" fmla="*/ 2628 h 6564"/>
              <a:gd name="T102" fmla="*/ 370 w 6468"/>
              <a:gd name="T103" fmla="*/ 1975 h 6564"/>
              <a:gd name="T104" fmla="*/ 2173 w 6468"/>
              <a:gd name="T105" fmla="*/ 2177 h 6564"/>
              <a:gd name="T106" fmla="*/ 1257 w 6468"/>
              <a:gd name="T107" fmla="*/ 1251 h 6564"/>
            </a:gdLst>
            <a:rect l="0" t="0" r="r" b="b"/>
            <a:pathLst>
              <a:path w="6468" h="6564">
                <a:moveTo>
                  <a:pt x="3204" y="4309"/>
                </a:moveTo>
                <a:cubicBezTo>
                  <a:pt x="3040" y="3916"/>
                  <a:pt x="3228" y="3463"/>
                  <a:pt x="3621" y="3299"/>
                </a:cubicBezTo>
                <a:cubicBezTo>
                  <a:pt x="4014" y="3135"/>
                  <a:pt x="4468" y="3323"/>
                  <a:pt x="4632" y="3716"/>
                </a:cubicBezTo>
                <a:cubicBezTo>
                  <a:pt x="4796" y="4109"/>
                  <a:pt x="4608" y="4563"/>
                  <a:pt x="4214" y="4727"/>
                </a:cubicBezTo>
                <a:cubicBezTo>
                  <a:pt x="3821" y="4891"/>
                  <a:pt x="3368" y="4703"/>
                  <a:pt x="3204" y="4309"/>
                </a:cubicBezTo>
                <a:close/>
                <a:moveTo>
                  <a:pt x="6337" y="4571"/>
                </a:moveTo>
                <a:lnTo>
                  <a:pt x="5974" y="4421"/>
                </a:lnTo>
                <a:cubicBezTo>
                  <a:pt x="6028" y="4156"/>
                  <a:pt x="6029" y="3877"/>
                  <a:pt x="5974" y="3603"/>
                </a:cubicBezTo>
                <a:lnTo>
                  <a:pt x="6336" y="3452"/>
                </a:lnTo>
                <a:cubicBezTo>
                  <a:pt x="6424" y="3416"/>
                  <a:pt x="6466" y="3315"/>
                  <a:pt x="6429" y="3225"/>
                </a:cubicBezTo>
                <a:lnTo>
                  <a:pt x="6249" y="2791"/>
                </a:lnTo>
                <a:cubicBezTo>
                  <a:pt x="6213" y="2703"/>
                  <a:pt x="6112" y="2660"/>
                  <a:pt x="6022" y="2697"/>
                </a:cubicBezTo>
                <a:lnTo>
                  <a:pt x="5660" y="2848"/>
                </a:lnTo>
                <a:cubicBezTo>
                  <a:pt x="5504" y="2615"/>
                  <a:pt x="5305" y="2419"/>
                  <a:pt x="5080" y="2269"/>
                </a:cubicBezTo>
                <a:lnTo>
                  <a:pt x="5229" y="1907"/>
                </a:lnTo>
                <a:cubicBezTo>
                  <a:pt x="5265" y="1819"/>
                  <a:pt x="5224" y="1717"/>
                  <a:pt x="5136" y="1681"/>
                </a:cubicBezTo>
                <a:lnTo>
                  <a:pt x="4702" y="1500"/>
                </a:lnTo>
                <a:cubicBezTo>
                  <a:pt x="4614" y="1464"/>
                  <a:pt x="4513" y="1505"/>
                  <a:pt x="4477" y="1593"/>
                </a:cubicBezTo>
                <a:lnTo>
                  <a:pt x="4328" y="1956"/>
                </a:lnTo>
                <a:cubicBezTo>
                  <a:pt x="4168" y="1924"/>
                  <a:pt x="4002" y="1911"/>
                  <a:pt x="3837" y="1917"/>
                </a:cubicBezTo>
                <a:cubicBezTo>
                  <a:pt x="3804" y="2165"/>
                  <a:pt x="3609" y="2361"/>
                  <a:pt x="3364" y="2397"/>
                </a:cubicBezTo>
                <a:cubicBezTo>
                  <a:pt x="3361" y="2403"/>
                  <a:pt x="3360" y="2407"/>
                  <a:pt x="3357" y="2412"/>
                </a:cubicBezTo>
                <a:cubicBezTo>
                  <a:pt x="3426" y="2507"/>
                  <a:pt x="3465" y="2621"/>
                  <a:pt x="3465" y="2743"/>
                </a:cubicBezTo>
                <a:cubicBezTo>
                  <a:pt x="3465" y="2793"/>
                  <a:pt x="3458" y="2841"/>
                  <a:pt x="3445" y="2889"/>
                </a:cubicBezTo>
                <a:cubicBezTo>
                  <a:pt x="3448" y="2888"/>
                  <a:pt x="3449" y="2887"/>
                  <a:pt x="3452" y="2887"/>
                </a:cubicBezTo>
                <a:cubicBezTo>
                  <a:pt x="4073" y="2628"/>
                  <a:pt x="4789" y="2924"/>
                  <a:pt x="5048" y="3547"/>
                </a:cubicBezTo>
                <a:cubicBezTo>
                  <a:pt x="5306" y="4168"/>
                  <a:pt x="5010" y="4884"/>
                  <a:pt x="4388" y="5143"/>
                </a:cubicBezTo>
                <a:cubicBezTo>
                  <a:pt x="3766" y="5401"/>
                  <a:pt x="3050" y="5105"/>
                  <a:pt x="2792" y="4483"/>
                </a:cubicBezTo>
                <a:cubicBezTo>
                  <a:pt x="2650" y="4140"/>
                  <a:pt x="2676" y="3771"/>
                  <a:pt x="2832" y="3464"/>
                </a:cubicBezTo>
                <a:cubicBezTo>
                  <a:pt x="2682" y="3491"/>
                  <a:pt x="2524" y="3459"/>
                  <a:pt x="2397" y="3364"/>
                </a:cubicBezTo>
                <a:cubicBezTo>
                  <a:pt x="2392" y="3367"/>
                  <a:pt x="2388" y="3368"/>
                  <a:pt x="2382" y="3369"/>
                </a:cubicBezTo>
                <a:cubicBezTo>
                  <a:pt x="2341" y="3637"/>
                  <a:pt x="2109" y="3843"/>
                  <a:pt x="1830" y="3843"/>
                </a:cubicBezTo>
                <a:cubicBezTo>
                  <a:pt x="1814" y="4035"/>
                  <a:pt x="1824" y="4231"/>
                  <a:pt x="1864" y="4427"/>
                </a:cubicBezTo>
                <a:lnTo>
                  <a:pt x="1502" y="4577"/>
                </a:lnTo>
                <a:cubicBezTo>
                  <a:pt x="1414" y="4613"/>
                  <a:pt x="1372" y="4715"/>
                  <a:pt x="1409" y="4804"/>
                </a:cubicBezTo>
                <a:lnTo>
                  <a:pt x="1589" y="5239"/>
                </a:lnTo>
                <a:cubicBezTo>
                  <a:pt x="1625" y="5327"/>
                  <a:pt x="1726" y="5369"/>
                  <a:pt x="1816" y="5332"/>
                </a:cubicBezTo>
                <a:lnTo>
                  <a:pt x="2178" y="5181"/>
                </a:lnTo>
                <a:cubicBezTo>
                  <a:pt x="2334" y="5415"/>
                  <a:pt x="2533" y="5611"/>
                  <a:pt x="2758" y="5760"/>
                </a:cubicBezTo>
                <a:lnTo>
                  <a:pt x="2609" y="6123"/>
                </a:lnTo>
                <a:cubicBezTo>
                  <a:pt x="2573" y="6211"/>
                  <a:pt x="2614" y="6312"/>
                  <a:pt x="2702" y="6348"/>
                </a:cubicBezTo>
                <a:lnTo>
                  <a:pt x="3138" y="6528"/>
                </a:lnTo>
                <a:cubicBezTo>
                  <a:pt x="3226" y="6564"/>
                  <a:pt x="3328" y="6523"/>
                  <a:pt x="3364" y="6435"/>
                </a:cubicBezTo>
                <a:lnTo>
                  <a:pt x="3513" y="6072"/>
                </a:lnTo>
                <a:cubicBezTo>
                  <a:pt x="3778" y="6125"/>
                  <a:pt x="4057" y="6127"/>
                  <a:pt x="4333" y="6072"/>
                </a:cubicBezTo>
                <a:lnTo>
                  <a:pt x="4484" y="6433"/>
                </a:lnTo>
                <a:cubicBezTo>
                  <a:pt x="4520" y="6521"/>
                  <a:pt x="4621" y="6564"/>
                  <a:pt x="4710" y="6527"/>
                </a:cubicBezTo>
                <a:lnTo>
                  <a:pt x="5145" y="6347"/>
                </a:lnTo>
                <a:cubicBezTo>
                  <a:pt x="5233" y="6311"/>
                  <a:pt x="5276" y="6209"/>
                  <a:pt x="5238" y="6120"/>
                </a:cubicBezTo>
                <a:lnTo>
                  <a:pt x="5088" y="5759"/>
                </a:lnTo>
                <a:cubicBezTo>
                  <a:pt x="5321" y="5603"/>
                  <a:pt x="5517" y="5404"/>
                  <a:pt x="5666" y="5179"/>
                </a:cubicBezTo>
                <a:lnTo>
                  <a:pt x="6029" y="5328"/>
                </a:lnTo>
                <a:cubicBezTo>
                  <a:pt x="6117" y="5364"/>
                  <a:pt x="6218" y="5323"/>
                  <a:pt x="6254" y="5235"/>
                </a:cubicBezTo>
                <a:lnTo>
                  <a:pt x="6434" y="4799"/>
                </a:lnTo>
                <a:cubicBezTo>
                  <a:pt x="6468" y="4708"/>
                  <a:pt x="6425" y="4608"/>
                  <a:pt x="6337" y="4571"/>
                </a:cubicBezTo>
                <a:close/>
                <a:moveTo>
                  <a:pt x="370" y="1975"/>
                </a:moveTo>
                <a:lnTo>
                  <a:pt x="145" y="1973"/>
                </a:lnTo>
                <a:cubicBezTo>
                  <a:pt x="65" y="1973"/>
                  <a:pt x="0" y="1908"/>
                  <a:pt x="0" y="1827"/>
                </a:cubicBezTo>
                <a:lnTo>
                  <a:pt x="1" y="1581"/>
                </a:lnTo>
                <a:cubicBezTo>
                  <a:pt x="1" y="1501"/>
                  <a:pt x="66" y="1436"/>
                  <a:pt x="148" y="1436"/>
                </a:cubicBezTo>
                <a:lnTo>
                  <a:pt x="373" y="1437"/>
                </a:lnTo>
                <a:cubicBezTo>
                  <a:pt x="408" y="1264"/>
                  <a:pt x="477" y="1097"/>
                  <a:pt x="580" y="947"/>
                </a:cubicBezTo>
                <a:lnTo>
                  <a:pt x="422" y="788"/>
                </a:lnTo>
                <a:cubicBezTo>
                  <a:pt x="366" y="731"/>
                  <a:pt x="366" y="639"/>
                  <a:pt x="424" y="583"/>
                </a:cubicBezTo>
                <a:lnTo>
                  <a:pt x="597" y="411"/>
                </a:lnTo>
                <a:cubicBezTo>
                  <a:pt x="654" y="355"/>
                  <a:pt x="746" y="355"/>
                  <a:pt x="802" y="412"/>
                </a:cubicBezTo>
                <a:lnTo>
                  <a:pt x="961" y="572"/>
                </a:lnTo>
                <a:cubicBezTo>
                  <a:pt x="1113" y="471"/>
                  <a:pt x="1281" y="404"/>
                  <a:pt x="1454" y="371"/>
                </a:cubicBezTo>
                <a:lnTo>
                  <a:pt x="1456" y="145"/>
                </a:lnTo>
                <a:cubicBezTo>
                  <a:pt x="1456" y="65"/>
                  <a:pt x="1521" y="0"/>
                  <a:pt x="1602" y="0"/>
                </a:cubicBezTo>
                <a:lnTo>
                  <a:pt x="1848" y="1"/>
                </a:lnTo>
                <a:cubicBezTo>
                  <a:pt x="1928" y="1"/>
                  <a:pt x="1993" y="67"/>
                  <a:pt x="1993" y="148"/>
                </a:cubicBezTo>
                <a:lnTo>
                  <a:pt x="1992" y="373"/>
                </a:lnTo>
                <a:cubicBezTo>
                  <a:pt x="2165" y="408"/>
                  <a:pt x="2332" y="477"/>
                  <a:pt x="2482" y="580"/>
                </a:cubicBezTo>
                <a:lnTo>
                  <a:pt x="2642" y="421"/>
                </a:lnTo>
                <a:cubicBezTo>
                  <a:pt x="2700" y="365"/>
                  <a:pt x="2792" y="365"/>
                  <a:pt x="2848" y="423"/>
                </a:cubicBezTo>
                <a:lnTo>
                  <a:pt x="3020" y="596"/>
                </a:lnTo>
                <a:cubicBezTo>
                  <a:pt x="3076" y="653"/>
                  <a:pt x="3076" y="745"/>
                  <a:pt x="3018" y="801"/>
                </a:cubicBezTo>
                <a:lnTo>
                  <a:pt x="2858" y="960"/>
                </a:lnTo>
                <a:cubicBezTo>
                  <a:pt x="2960" y="1112"/>
                  <a:pt x="3026" y="1280"/>
                  <a:pt x="3060" y="1453"/>
                </a:cubicBezTo>
                <a:lnTo>
                  <a:pt x="3285" y="1455"/>
                </a:lnTo>
                <a:cubicBezTo>
                  <a:pt x="3365" y="1455"/>
                  <a:pt x="3430" y="1520"/>
                  <a:pt x="3430" y="1601"/>
                </a:cubicBezTo>
                <a:lnTo>
                  <a:pt x="3429" y="1847"/>
                </a:lnTo>
                <a:cubicBezTo>
                  <a:pt x="3429" y="1927"/>
                  <a:pt x="3364" y="1992"/>
                  <a:pt x="3282" y="1992"/>
                </a:cubicBezTo>
                <a:lnTo>
                  <a:pt x="3057" y="1991"/>
                </a:lnTo>
                <a:cubicBezTo>
                  <a:pt x="3022" y="2164"/>
                  <a:pt x="2953" y="2331"/>
                  <a:pt x="2850" y="2481"/>
                </a:cubicBezTo>
                <a:lnTo>
                  <a:pt x="3009" y="2641"/>
                </a:lnTo>
                <a:cubicBezTo>
                  <a:pt x="3065" y="2699"/>
                  <a:pt x="3065" y="2791"/>
                  <a:pt x="3008" y="2847"/>
                </a:cubicBezTo>
                <a:lnTo>
                  <a:pt x="2834" y="3019"/>
                </a:lnTo>
                <a:cubicBezTo>
                  <a:pt x="2777" y="3075"/>
                  <a:pt x="2685" y="3075"/>
                  <a:pt x="2629" y="3017"/>
                </a:cubicBezTo>
                <a:lnTo>
                  <a:pt x="2470" y="2857"/>
                </a:lnTo>
                <a:cubicBezTo>
                  <a:pt x="2318" y="2959"/>
                  <a:pt x="2150" y="3025"/>
                  <a:pt x="1977" y="3059"/>
                </a:cubicBezTo>
                <a:lnTo>
                  <a:pt x="1976" y="3284"/>
                </a:lnTo>
                <a:cubicBezTo>
                  <a:pt x="1976" y="3364"/>
                  <a:pt x="1910" y="3429"/>
                  <a:pt x="1829" y="3429"/>
                </a:cubicBezTo>
                <a:lnTo>
                  <a:pt x="1584" y="3428"/>
                </a:lnTo>
                <a:cubicBezTo>
                  <a:pt x="1504" y="3428"/>
                  <a:pt x="1438" y="3363"/>
                  <a:pt x="1438" y="3281"/>
                </a:cubicBezTo>
                <a:lnTo>
                  <a:pt x="1440" y="3056"/>
                </a:lnTo>
                <a:cubicBezTo>
                  <a:pt x="1266" y="3021"/>
                  <a:pt x="1100" y="2952"/>
                  <a:pt x="949" y="2849"/>
                </a:cubicBezTo>
                <a:lnTo>
                  <a:pt x="789" y="3008"/>
                </a:lnTo>
                <a:cubicBezTo>
                  <a:pt x="732" y="3064"/>
                  <a:pt x="640" y="3064"/>
                  <a:pt x="584" y="3007"/>
                </a:cubicBezTo>
                <a:lnTo>
                  <a:pt x="412" y="2833"/>
                </a:lnTo>
                <a:cubicBezTo>
                  <a:pt x="356" y="2776"/>
                  <a:pt x="356" y="2684"/>
                  <a:pt x="413" y="2628"/>
                </a:cubicBezTo>
                <a:lnTo>
                  <a:pt x="573" y="2469"/>
                </a:lnTo>
                <a:cubicBezTo>
                  <a:pt x="470" y="2316"/>
                  <a:pt x="404" y="2148"/>
                  <a:pt x="370" y="1975"/>
                </a:cubicBezTo>
                <a:close/>
                <a:moveTo>
                  <a:pt x="1252" y="2172"/>
                </a:moveTo>
                <a:cubicBezTo>
                  <a:pt x="1505" y="2428"/>
                  <a:pt x="1917" y="2431"/>
                  <a:pt x="2173" y="2177"/>
                </a:cubicBezTo>
                <a:cubicBezTo>
                  <a:pt x="2429" y="1924"/>
                  <a:pt x="2432" y="1512"/>
                  <a:pt x="2178" y="1256"/>
                </a:cubicBezTo>
                <a:cubicBezTo>
                  <a:pt x="1925" y="1000"/>
                  <a:pt x="1513" y="997"/>
                  <a:pt x="1257" y="1251"/>
                </a:cubicBezTo>
                <a:cubicBezTo>
                  <a:pt x="1000" y="1504"/>
                  <a:pt x="998" y="1916"/>
                  <a:pt x="1252" y="2172"/>
                </a:cubicBezTo>
                <a:close/>
              </a:path>
            </a:pathLst>
          </a:custGeom>
          <a:solidFill xmlns:a="http://schemas.openxmlformats.org/drawingml/2006/main">
            <a:schemeClr val="bg2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标题 3">
            <a:extLst xmlns:a="http://schemas.openxmlformats.org/drawingml/2006/main">
              <a:ext uri="{FF2B5EF4-FFF2-40B4-BE49-F238E27FC236}">
                <a16:creationId xmlns:a16="http://schemas.microsoft.com/office/drawing/2014/main" id="{243AC8A8-F05F-40A3-9A1A-C0211856C9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82600" y="130175"/>
            <a:ext cx="11214100" cy="62166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r>
              <a:rPr b="1"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灯片编号占位符 28">
            <a:extLst xmlns:a="http://schemas.openxmlformats.org/drawingml/2006/main">
              <a:ext uri="{FF2B5EF4-FFF2-40B4-BE49-F238E27FC236}">
                <a16:creationId xmlns:a16="http://schemas.microsoft.com/office/drawing/2014/main" id="{53AFC804-E4DD-46A0-9D44-F1D3453205A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9375147" y="6578600"/>
            <a:ext cx="2743200" cy="2794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ACD1EC8-6F57-41A7-99F1-FEDB2874BA2B}" type="slidenum">
              <a:rPr b="1">
                <a:solidFill>
                  <a:schemeClr val="bg1"/>
                </a:solidFill>
              </a:rPr>
              <a:t>2</a:t>
            </a:fld>
            <a:endParaRPr b="1">
              <a:solidFill>
                <a:schemeClr val="bg1"/>
              </a:solidFill>
            </a:endParaRP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4421564D-DDFD-4249-A28D-0C3ED47B4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2458" y="1536479"/>
            <a:ext cx="559044" cy="58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>
                <a:latin typeface="Arial Black"/>
                <a:ea typeface="Arial Black"/>
                <a:cs typeface="Arial Black"/>
              </a:rPr>
              <a:t>1</a:t>
            </a:r>
            <a:endParaRPr sz="2400">
              <a:latin typeface="Arial Black"/>
              <a:ea typeface="Arial Black"/>
              <a:cs typeface="Arial Black"/>
            </a:endParaRPr>
          </a:p>
        </p:txBody>
      </p:sp>
      <p:sp>
        <p:nvSpPr>
          <p:cNvPr id="11" name="直接连接符 10">
            <a:extLst xmlns:a="http://schemas.openxmlformats.org/drawingml/2006/main">
              <a:ext uri="{FF2B5EF4-FFF2-40B4-BE49-F238E27FC236}">
                <a16:creationId xmlns:a16="http://schemas.microsoft.com/office/drawing/2014/main" id="{5D88D516-FCFF-4808-83EA-F31E935F0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2093" y="2110111"/>
            <a:ext cx="54000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537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54E6E3AF-EB28-47C5-BF3F-2DA7F3775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8413" y="1513798"/>
            <a:ext cx="4853680" cy="5232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latin typeface="微软雅黑"/>
                <a:ea typeface="微软雅黑"/>
                <a:cs typeface="微软雅黑"/>
              </a:rPr>
              <a:t>赛事简介和办赛条件</a:t>
            </a:r>
            <a:endParaRPr sz="2800" b="1"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11E2EA61-3495-4279-A42B-4115BAFD5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2458" y="2461150"/>
            <a:ext cx="559044" cy="58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>
                <a:latin typeface="Arial Black"/>
                <a:ea typeface="Arial Black"/>
                <a:cs typeface="Arial Black"/>
              </a:rPr>
              <a:t>2</a:t>
            </a:r>
            <a:endParaRPr sz="2400">
              <a:latin typeface="Arial Black"/>
              <a:ea typeface="Arial Black"/>
              <a:cs typeface="Arial Black"/>
            </a:endParaRPr>
          </a:p>
        </p:txBody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33FAD2CF-1A42-4045-A80E-AB53727FC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2093" y="3034782"/>
            <a:ext cx="54000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537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42DF29F4-7791-4032-9459-3C3D78C95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8413" y="2411742"/>
            <a:ext cx="4853680" cy="5232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latin typeface="微软雅黑"/>
                <a:ea typeface="微软雅黑"/>
                <a:cs typeface="微软雅黑"/>
              </a:rPr>
              <a:t>运行模式和时间安排</a:t>
            </a:r>
            <a:endParaRPr sz="2800"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F1456E05-62B1-4896-8BEF-0A39271E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2458" y="3385821"/>
            <a:ext cx="559044" cy="58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>
                <a:latin typeface="Arial Black"/>
                <a:ea typeface="Arial Black"/>
                <a:cs typeface="Arial Black"/>
              </a:rPr>
              <a:t>3</a:t>
            </a:r>
            <a:endParaRPr sz="2400">
              <a:latin typeface="Arial Black"/>
              <a:ea typeface="Arial Black"/>
              <a:cs typeface="Arial Black"/>
            </a:endParaRPr>
          </a:p>
        </p:txBody>
      </p:sp>
      <p:sp>
        <p:nvSpPr>
          <p:cNvPr id="17" name="直接连接符 16">
            <a:extLst xmlns:a="http://schemas.openxmlformats.org/drawingml/2006/main">
              <a:ext uri="{FF2B5EF4-FFF2-40B4-BE49-F238E27FC236}">
                <a16:creationId xmlns:a16="http://schemas.microsoft.com/office/drawing/2014/main" id="{8EFDDF85-4ED8-41B0-B28D-C4CE9EE69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2093" y="3959453"/>
            <a:ext cx="54000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537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8" name="文本框 17">
            <a:extLst xmlns:a="http://schemas.openxmlformats.org/drawingml/2006/main">
              <a:ext uri="{FF2B5EF4-FFF2-40B4-BE49-F238E27FC236}">
                <a16:creationId xmlns:a16="http://schemas.microsoft.com/office/drawing/2014/main" id="{5C6E3AE0-89BA-47F7-86FD-3A88CD712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8413" y="3336413"/>
            <a:ext cx="4853680" cy="5232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latin typeface="微软雅黑"/>
                <a:ea typeface="微软雅黑"/>
                <a:cs typeface="微软雅黑"/>
              </a:rPr>
              <a:t>预期赛事规模和获奖</a:t>
            </a:r>
            <a:endParaRPr sz="2800"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2E79FADB-7306-4BEF-B2C2-19FF5627D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2458" y="4310492"/>
            <a:ext cx="559044" cy="58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>
                <a:latin typeface="Arial Black"/>
                <a:ea typeface="Arial Black"/>
                <a:cs typeface="Arial Black"/>
              </a:rPr>
              <a:t>4</a:t>
            </a:r>
            <a:endParaRPr sz="2400">
              <a:latin typeface="Arial Black"/>
              <a:ea typeface="Arial Black"/>
              <a:cs typeface="Arial Black"/>
            </a:endParaRPr>
          </a:p>
        </p:txBody>
      </p:sp>
      <p:sp>
        <p:nvSpPr>
          <p:cNvPr id="20" name="直接连接符 19">
            <a:extLst xmlns:a="http://schemas.openxmlformats.org/drawingml/2006/main">
              <a:ext uri="{FF2B5EF4-FFF2-40B4-BE49-F238E27FC236}">
                <a16:creationId xmlns:a16="http://schemas.microsoft.com/office/drawing/2014/main" id="{A53F5D9A-5E51-427F-8436-4DC4C7903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2093" y="4884124"/>
            <a:ext cx="54000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537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1" name="文本框 20">
            <a:extLst xmlns:a="http://schemas.openxmlformats.org/drawingml/2006/main">
              <a:ext uri="{FF2B5EF4-FFF2-40B4-BE49-F238E27FC236}">
                <a16:creationId xmlns:a16="http://schemas.microsoft.com/office/drawing/2014/main" id="{9691DA62-6BA6-483D-B8B8-FB6CBCED6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8413" y="4261084"/>
            <a:ext cx="4853680" cy="5232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latin typeface="微软雅黑"/>
                <a:ea typeface="微软雅黑"/>
                <a:cs typeface="微软雅黑"/>
              </a:rPr>
              <a:t>组织创新点和育人成效</a:t>
            </a:r>
            <a:endParaRPr sz="2800"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02261E47-DE69-4A78-B09F-D1A88AD45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2458" y="5235162"/>
            <a:ext cx="559044" cy="58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>
                <a:latin typeface="Arial Black"/>
                <a:ea typeface="Arial Black"/>
                <a:cs typeface="Arial Black"/>
              </a:rPr>
              <a:t>5</a:t>
            </a:r>
            <a:endParaRPr sz="2400">
              <a:latin typeface="Arial Black"/>
              <a:ea typeface="Arial Black"/>
              <a:cs typeface="Arial Black"/>
            </a:endParaRPr>
          </a:p>
        </p:txBody>
      </p:sp>
      <p:sp>
        <p:nvSpPr>
          <p:cNvPr id="23" name="直接连接符 22">
            <a:extLst xmlns:a="http://schemas.openxmlformats.org/drawingml/2006/main">
              <a:ext uri="{FF2B5EF4-FFF2-40B4-BE49-F238E27FC236}">
                <a16:creationId xmlns:a16="http://schemas.microsoft.com/office/drawing/2014/main" id="{4C413643-861A-4C8A-BC1D-7E312EFFE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2093" y="5808794"/>
            <a:ext cx="54000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537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4" name="文本框 23">
            <a:extLst xmlns:a="http://schemas.openxmlformats.org/drawingml/2006/main">
              <a:ext uri="{FF2B5EF4-FFF2-40B4-BE49-F238E27FC236}">
                <a16:creationId xmlns:a16="http://schemas.microsoft.com/office/drawing/2014/main" id="{8C6C5BB4-9F02-491B-8417-D65E7308C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8413" y="5185754"/>
            <a:ext cx="4853680" cy="5232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latin typeface="微软雅黑"/>
                <a:ea typeface="微软雅黑"/>
                <a:cs typeface="微软雅黑"/>
              </a:rPr>
              <a:t>经费预算</a:t>
            </a:r>
            <a:endParaRPr sz="2800"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文本框 24">
            <a:extLst xmlns:a="http://schemas.openxmlformats.org/drawingml/2006/main">
              <a:ext uri="{FF2B5EF4-FFF2-40B4-BE49-F238E27FC236}">
                <a16:creationId xmlns:a16="http://schemas.microsoft.com/office/drawing/2014/main" id="{DC5F8549-20C1-44D0-8372-CE5DEDF6A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830" y="242797"/>
            <a:ext cx="8552341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b="1">
                <a:solidFill>
                  <a:srgbClr val="FF0000"/>
                </a:solidFill>
                <a:latin typeface="幼圆"/>
                <a:ea typeface="幼圆"/>
                <a:cs typeface="幼圆"/>
              </a:rPr>
              <a:t/>
            </a:r>
            <a:endParaRPr b="1">
              <a:solidFill>
                <a:srgbClr val="FF0000"/>
              </a:solidFill>
              <a:latin typeface="幼圆"/>
              <a:ea typeface="幼圆"/>
              <a:cs typeface="幼圆"/>
            </a:endParaRP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6F0EFB5-B3B6-40AF-ABCD-ED8D06CBC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66775"/>
            <a:ext cx="12192000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D1EBE08-C16C-4093-84A3-9498B609B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3350"/>
            <a:ext cx="11220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研究背景与问题缺口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30A2383-F099-4F9F-9174-FD616473F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14375"/>
            <a:ext cx="11220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162E35-ACA0-497A-8589-2AC2ECDE7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2870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在线策略蒸馏的关键矛盾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074FB7-7983-4235-AA6C-1FAEB9EDB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39E2511-15D0-4554-A5A9-4617F62CE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43050"/>
            <a:ext cx="952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状态分布发生偏移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013F14B-4624-4CF1-94F1-0F5E86CA4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943100"/>
            <a:ext cx="962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F78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5F6F78"/>
                </a:solidFill>
                <a:latin typeface="微软雅黑"/>
                <a:ea typeface="微软雅黑"/>
                <a:cs typeface="微软雅黑"/>
              </a:rPr>
              <a:t>离线前缀与学生实际 rollout 不同，教师反馈难以对准真实生成状态。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C2E336A-5AD1-4F4B-9545-AF6773074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43175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F1F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4B6D565-DDA3-4147-B538-B88875980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90825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BBB6A1C-3C23-4645-90CD-F4E3105B3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14625"/>
            <a:ext cx="952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散度与监督粒度交织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E23E4A4-A649-4D1B-A325-FC03F744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14675"/>
            <a:ext cx="962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F78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5F6F78"/>
                </a:solidFill>
                <a:latin typeface="微软雅黑"/>
                <a:ea typeface="微软雅黑"/>
                <a:cs typeface="微软雅黑"/>
              </a:rPr>
              <a:t>不同 KL 目标、全词表/Top-K/K1 同时变化，训练行为差异难以归因。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6F9065E-83BF-4CEE-B90F-96B86A714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714750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F1F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C8EA093-7748-4ED9-A33A-BFC11147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81A9FEF-6F9B-4AF3-983B-1286ECD38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86200"/>
            <a:ext cx="952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局部指标难代表工具调用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8A3D9F4-C30D-46FB-8A50-CF56FA88A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286250"/>
            <a:ext cx="962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F78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5F6F78"/>
                </a:solidFill>
                <a:latin typeface="微软雅黑"/>
                <a:ea typeface="微软雅黑"/>
                <a:cs typeface="微软雅黑"/>
              </a:rPr>
              <a:t>需要从格式、选函数、参数到执行成功的端到端证据。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C489BBC-360A-4467-85F1-EB98968A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91150"/>
            <a:ext cx="10839450" cy="523875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E8F1F3"/>
          </a:solidFill>
          <a:ln xmlns:a="http://schemas.openxmlformats.org/drawingml/2006/main" w="0">
            <a:solidFill>
              <a:srgbClr val="E8F1F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85C9247-CDED-4426-9624-906EFD378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24500"/>
            <a:ext cx="1038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研究目标：建立可复现、可归因、可部署的在线策略蒸馏比较协议。</a:t>
            </a:r>
          </a:p>
        </p:txBody>
      </p:sp>
    </p:spTree>
    <p:extLst>
      <p:ext uri="{BB962C8B-B14F-4D97-AF65-F5344CB8AC3E}">
        <p14:creationId xmlns:p14="http://schemas.microsoft.com/office/powerpoint/2010/main" val="181059087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69BD9D30-E7DA-4372-B267-E32B038569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82600" y="136525"/>
            <a:ext cx="11214100" cy="615159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2800" b="1"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3" name="直角三角形 2">
            <a:extLst xmlns:a="http://schemas.openxmlformats.org/drawingml/2006/main">
              <a:ext uri="{FF2B5EF4-FFF2-40B4-BE49-F238E27FC236}">
                <a16:creationId xmlns:a16="http://schemas.microsoft.com/office/drawing/2014/main" id="{61600F77-B0B9-4ED8-8B59-F4A393DB8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7328" y="892613"/>
            <a:ext cx="104416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4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0EAD623B-952E-4AB2-A6A8-D730D167F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164449"/>
            <a:ext cx="11214100" cy="1010920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5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C6774A63-0CCD-457E-8B50-510F44132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074" y="892613"/>
            <a:ext cx="1357217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XX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EA1A0946-7497-4B3B-8A9A-7A008C77B7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9375147" y="6578600"/>
            <a:ext cx="2743200" cy="2794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ACD1EC8-6F57-41A7-99F1-FEDB2874BA2B}" type="slidenum">
              <a:t>3</a:t>
            </a:fld>
            <a:endParaRPr/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A7EB91-00F2-42D1-9D22-DEEF52C54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66775"/>
            <a:ext cx="12192000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3E446C-9C34-4DBA-9D07-92D86B30A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3350"/>
            <a:ext cx="11220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三个研究问题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8950EF-FB2D-489B-B14A-419087F21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14375"/>
            <a:ext cx="11220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5C0716-BB06-4DA1-9F27-EB763FD7E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研究主线：状态 → 目标 → 信息量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cd5e3ea44042f6"/>
          <a:stretch xmlns:a="http://schemas.openxmlformats.org/drawingml/2006/main"/>
        </p:blipFill>
        <p:spPr>
          <a:xfrm xmlns:a="http://schemas.openxmlformats.org/drawingml/2006/main">
            <a:off x="593119" y="1238250"/>
            <a:ext cx="11005762" cy="4953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862476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直角三角形 2">
            <a:extLst xmlns:a="http://schemas.openxmlformats.org/drawingml/2006/main">
              <a:ext uri="{FF2B5EF4-FFF2-40B4-BE49-F238E27FC236}">
                <a16:creationId xmlns:a16="http://schemas.microsoft.com/office/drawing/2014/main" id="{4975FC12-D587-4451-AF43-698AA35F0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6128" y="881324"/>
            <a:ext cx="104416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4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F6D85E6E-C62D-4785-84F5-8F76791E0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599" y="1153160"/>
            <a:ext cx="11214099" cy="1010920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EF5F4756-CCFB-4B14-A7F9-60F456B7B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070" y="881324"/>
            <a:ext cx="1916058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XX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EB298E09-17A8-463A-B580-EAEE9C40B2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9375147" y="6578600"/>
            <a:ext cx="2743200" cy="2794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ACD1EC8-6F57-41A7-99F1-FEDB2874BA2B}" type="slidenum">
              <a:t>4</a:t>
            </a:fld>
            <a:endParaRPr/>
          </a:p>
        </p:txBody>
      </p:sp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560B5543-3822-4925-AC33-D97505CBE8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82600" y="136525"/>
            <a:ext cx="11214100" cy="615159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2800" b="1"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762A56-C91E-4B01-9917-3C82CA11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66775"/>
            <a:ext cx="12192000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38B9B1-EB24-4375-BC93-9502C7C66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3350"/>
            <a:ext cx="11220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总体技术路线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DBE9D0-B211-436A-933F-5901510FD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14375"/>
            <a:ext cx="11220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2cf67e0c6f414b"/>
          <a:stretch xmlns:a="http://schemas.openxmlformats.org/drawingml/2006/main"/>
        </p:blipFill>
        <p:spPr>
          <a:xfrm xmlns:a="http://schemas.openxmlformats.org/drawingml/2006/main">
            <a:off x="666750" y="1068695"/>
            <a:ext cx="10858500" cy="4072909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7F9FB9-B4DD-4EFB-BCF6-980B1A145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29250"/>
            <a:ext cx="10553700" cy="428625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E8F1F3"/>
          </a:solidFill>
          <a:ln xmlns:a="http://schemas.openxmlformats.org/drawingml/2006/main" w="0">
            <a:solidFill>
              <a:srgbClr val="E8F1F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0FF3FD-D162-48F1-B453-23B171484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34025"/>
            <a:ext cx="10134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研究闭环：数据与模型准备 → 在线反馈训练 → 统一评测 → 结果归因与论文整理</a:t>
            </a:r>
          </a:p>
        </p:txBody>
      </p:sp>
    </p:spTree>
    <p:extLst>
      <p:ext uri="{BB962C8B-B14F-4D97-AF65-F5344CB8AC3E}">
        <p14:creationId xmlns:p14="http://schemas.microsoft.com/office/powerpoint/2010/main" val="16624703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直角三角形 7">
            <a:extLst xmlns:a="http://schemas.openxmlformats.org/drawingml/2006/main">
              <a:ext uri="{FF2B5EF4-FFF2-40B4-BE49-F238E27FC236}">
                <a16:creationId xmlns:a16="http://schemas.microsoft.com/office/drawing/2014/main" id="{B1AB143A-A450-4D42-96A7-EFDCCBE90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3834" y="1006057"/>
            <a:ext cx="104416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9" name="直角三角形 8">
            <a:extLst xmlns:a="http://schemas.openxmlformats.org/drawingml/2006/main">
              <a:ext uri="{FF2B5EF4-FFF2-40B4-BE49-F238E27FC236}">
                <a16:creationId xmlns:a16="http://schemas.microsoft.com/office/drawing/2014/main" id="{A3973B7D-9F07-4713-899A-9279A15AF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5724" y="993050"/>
            <a:ext cx="104416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" name="直角三角形 9">
            <a:extLst xmlns:a="http://schemas.openxmlformats.org/drawingml/2006/main">
              <a:ext uri="{FF2B5EF4-FFF2-40B4-BE49-F238E27FC236}">
                <a16:creationId xmlns:a16="http://schemas.microsoft.com/office/drawing/2014/main" id="{11115D7F-CEF2-477A-944C-B80F28FC4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099" y="3732858"/>
            <a:ext cx="104416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63031288-46DB-421A-9F82-FD802CC45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360312"/>
            <a:ext cx="5312210" cy="4933224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F823AE75-FC34-4017-A095-8ADFA75CD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4490" y="1360312"/>
            <a:ext cx="5312210" cy="4933224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7CAC453F-EF78-469C-9635-6BFE2505E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7420" y="1006057"/>
            <a:ext cx="2608304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XXXX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2EB727DB-0C39-48BA-A338-3AE408105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5530" y="1006057"/>
            <a:ext cx="2608304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XXXX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灯片编号占位符 14">
            <a:extLst xmlns:a="http://schemas.openxmlformats.org/drawingml/2006/main">
              <a:ext uri="{FF2B5EF4-FFF2-40B4-BE49-F238E27FC236}">
                <a16:creationId xmlns:a16="http://schemas.microsoft.com/office/drawing/2014/main" id="{F59EFBDD-3C21-4F9F-B913-F376DF6A527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9375147" y="6578600"/>
            <a:ext cx="2743200" cy="2794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ACD1EC8-6F57-41A7-99F1-FEDB2874BA2B}" type="slidenum">
              <a:t>5</a:t>
            </a:fld>
            <a:endParaRPr/>
          </a:p>
        </p:txBody>
      </p:sp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88EE0021-5979-4E9E-B8D7-0493515A0F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82600" y="136525"/>
            <a:ext cx="11214100" cy="615159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2800" b="1"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7828D5-83BF-40EF-AFB5-F5C25DC5C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66775"/>
            <a:ext cx="12192000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17C38B-2680-4BCF-BF1E-B65087A38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3350"/>
            <a:ext cx="11220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问题一：学生状态上的教师监督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33E0AD-19BB-488A-91E2-920777A2F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14375"/>
            <a:ext cx="11220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611aac23e9448b"/>
          <a:stretch xmlns:a="http://schemas.openxmlformats.org/drawingml/2006/main"/>
        </p:blipFill>
        <p:spPr>
          <a:xfrm xmlns:a="http://schemas.openxmlformats.org/drawingml/2006/main">
            <a:off x="514350" y="1049133"/>
            <a:ext cx="6743700" cy="3426235"/>
          </a:xfrm>
          <a:prstGeom xmlns:a="http://schemas.openxmlformats.org/drawingml/2006/main" prst="rect">
            <a:avLst/>
          </a:prstGeom>
        </p:spPr>
      </p:pic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A34F81-AF0D-477B-A262-B16D17ABC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06680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训练闭环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339328-D837-43C2-B336-DB167311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524000"/>
            <a:ext cx="11620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Rollout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A0996C-455D-4798-9231-F373090DF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552575"/>
            <a:ext cx="2619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125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学生生成真实轨迹，保留实际前缀。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7205A1-64B6-42C7-B7E6-4F84DD570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428875"/>
            <a:ext cx="11620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Feedback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6E5452-A76B-4D27-AB75-2EF171FFF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457450"/>
            <a:ext cx="2619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125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冻结 Qwen3-4B，给出分布或采样反馈。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6FCF26-D936-42E5-B164-2CE70A529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33750"/>
            <a:ext cx="11620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Update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82C5E14-8E12-4957-82BE-51A86E157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62325"/>
            <a:ext cx="2619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125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只更新 Qwen3-0.6B 的 LoRA 参数。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A4CBE8-D2A0-494B-B58F-68E92F380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10858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8F1F3"/>
          </a:solidFill>
          <a:ln xmlns:a="http://schemas.openxmlformats.org/drawingml/2006/main" w="0">
            <a:solidFill>
              <a:srgbClr val="E8F1F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12251D-86A7-4EC1-B837-FEED9FD33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81575"/>
            <a:ext cx="10420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控制变量：同一 Function Calling 数据、模板、采样规则、有效 token 预算与评测脚本。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0DBDF9-591B-4778-AF10-38B5DD39A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72100"/>
            <a:ext cx="10420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目标：将“在线状态反馈”的作用与离线监督差异分离出来。</a:t>
            </a:r>
          </a:p>
        </p:txBody>
      </p:sp>
    </p:spTree>
    <p:extLst>
      <p:ext uri="{BB962C8B-B14F-4D97-AF65-F5344CB8AC3E}">
        <p14:creationId xmlns:p14="http://schemas.microsoft.com/office/powerpoint/2010/main" val="131356183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直角三角形 17">
            <a:extLst xmlns:a="http://schemas.openxmlformats.org/drawingml/2006/main">
              <a:ext uri="{FF2B5EF4-FFF2-40B4-BE49-F238E27FC236}">
                <a16:creationId xmlns:a16="http://schemas.microsoft.com/office/drawing/2014/main" id="{577CB455-2695-46D6-A474-03F032677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6651" y="1094649"/>
            <a:ext cx="93174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9" name="直角三角形 18">
            <a:extLst xmlns:a="http://schemas.openxmlformats.org/drawingml/2006/main">
              <a:ext uri="{FF2B5EF4-FFF2-40B4-BE49-F238E27FC236}">
                <a16:creationId xmlns:a16="http://schemas.microsoft.com/office/drawing/2014/main" id="{15CC32B7-1F35-4C8F-B8C5-60B8A54F0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0655" y="1107656"/>
            <a:ext cx="93174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20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C1D0E857-9954-44C5-ADD2-D1818D3B7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461911"/>
            <a:ext cx="3557884" cy="4933224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1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B0EA11AD-3B83-46B6-8E8A-4EEEACEAA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799" y="1107656"/>
            <a:ext cx="2327480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XXXX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3B6F4E8A-E84E-460C-A559-6705DC7F0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7978" y="1461911"/>
            <a:ext cx="3557884" cy="4933224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3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BF730531-8C91-4A99-B851-B6A02665B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3176" y="1107656"/>
            <a:ext cx="2327480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XXXX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直角三角形 23">
            <a:extLst xmlns:a="http://schemas.openxmlformats.org/drawingml/2006/main">
              <a:ext uri="{FF2B5EF4-FFF2-40B4-BE49-F238E27FC236}">
                <a16:creationId xmlns:a16="http://schemas.microsoft.com/office/drawing/2014/main" id="{E57BD96B-59A7-4A57-8C60-7CE13A16F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1493" y="1094649"/>
            <a:ext cx="93174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25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94FF7B1A-B7E0-4D6E-BC6C-FCA8BCF80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816" y="1448904"/>
            <a:ext cx="3557884" cy="4933224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D0774957-4E83-4F3D-B816-536F922C0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4015" y="1094649"/>
            <a:ext cx="2327480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XXXX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灯片编号占位符 13">
            <a:extLst xmlns:a="http://schemas.openxmlformats.org/drawingml/2006/main">
              <a:ext uri="{FF2B5EF4-FFF2-40B4-BE49-F238E27FC236}">
                <a16:creationId xmlns:a16="http://schemas.microsoft.com/office/drawing/2014/main" id="{200D2263-4B45-4C9C-8822-374F14D33B2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9375147" y="6578600"/>
            <a:ext cx="2743200" cy="2794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ACD1EC8-6F57-41A7-99F1-FEDB2874BA2B}" type="slidenum">
              <a:t>6</a:t>
            </a:fld>
            <a:endParaRPr/>
          </a:p>
        </p:txBody>
      </p:sp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4510B6F7-EE4D-4CDD-92F2-BD2560AD05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82600" y="136525"/>
            <a:ext cx="11214100" cy="615159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2800" b="1"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4CD4947-155E-4D02-9C6F-C4F87BCC0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66775"/>
            <a:ext cx="12192000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865A89-A406-4D5C-AC83-A2878B698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3350"/>
            <a:ext cx="11220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问题二：散度目标如何改变学习行为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9621379-0718-4573-B8C5-EA105C60F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14375"/>
            <a:ext cx="11220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1C59350-D677-460B-82B0-66EDADB51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固定学生状态与训练预算，仅切换目标函数；结论待实验验证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A54D2AA-9F46-4E72-BF68-BF3AFDA61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3429000" cy="363855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2F7F8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793B771-75ED-4AEC-8A10-598FABFD9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828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Forward KL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E6F5AC-1E4A-4B12-83E7-11378CC19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297180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教师分布加权</a:t>
            </a:r>
          </a:p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覆盖教师支持区域</a:t>
            </a:r>
          </a:p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保留更多候选信息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关注：mode-covering 行为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2BFC4D4-A6E6-4EED-A279-5F87CC5F4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428750"/>
            <a:ext cx="3429000" cy="363855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2F7F8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DCA6A8A-C296-4CAF-9736-F3FF33163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62100"/>
            <a:ext cx="1828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Reverse KL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A062103-B6B7-4895-858B-064BD7788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171700"/>
            <a:ext cx="297180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学生分布加权</a:t>
            </a:r>
          </a:p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聚焦当前高概率区域</a:t>
            </a:r>
          </a:p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强调当前策略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关注：mode-seeking 行为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08C4D67-F616-41D8-8B3D-CACB80017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428750"/>
            <a:ext cx="3429000" cy="363855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2F7F8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E336EA3-E755-4F50-A0F3-5FFBD3B4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562100"/>
            <a:ext cx="1828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广义散度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E24FFD9-752B-4BB5-9C71-CBD47ECCD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171700"/>
            <a:ext cx="297180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在两类权重间折中</a:t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调节匹配偏好</a:t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检验连续变化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候选：Jensen–Shannon / skew-KL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F138113-DEC4-4B61-B0E2-ABAB33CF0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0"/>
            <a:ext cx="10858500" cy="542925"/>
          </a:xfrm>
          <a:prstGeom xmlns:a="http://schemas.openxmlformats.org/drawingml/2006/main" prst="roundRect">
            <a:avLst>
              <a:gd name="adj" fmla="val 14035"/>
            </a:avLst>
          </a:prstGeom>
          <a:solidFill xmlns:a="http://schemas.openxmlformats.org/drawingml/2006/main">
            <a:srgbClr val="E8F1F3"/>
          </a:solidFill>
          <a:ln xmlns:a="http://schemas.openxmlformats.org/drawingml/2006/main" w="0">
            <a:solidFill>
              <a:srgbClr val="E8F1F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BBF31F7-38BA-4DFB-A49E-B1E04D7CD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86400"/>
            <a:ext cx="10420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观察：loss / 梯度 / 熵与分布重叠 / 工具调用分层指标；不预设优胜者。</a:t>
            </a:r>
          </a:p>
        </p:txBody>
      </p:sp>
    </p:spTree>
    <p:extLst>
      <p:ext uri="{BB962C8B-B14F-4D97-AF65-F5344CB8AC3E}">
        <p14:creationId xmlns:p14="http://schemas.microsoft.com/office/powerpoint/2010/main" val="109998920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B8579A8A-5EB2-455D-88A5-1C2BBFAFF26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9375147" y="6578600"/>
            <a:ext cx="2743200" cy="2794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ACD1EC8-6F57-41A7-99F1-FEDB2874BA2B}" type="slidenum">
              <a:t>7</a:t>
            </a:fld>
            <a:endParaRPr/>
          </a:p>
        </p:txBody>
      </p:sp>
      <p:sp>
        <p:nvSpPr>
          <p:cNvPr id="4" name="直角三角形 3">
            <a:extLst xmlns:a="http://schemas.openxmlformats.org/drawingml/2006/main">
              <a:ext uri="{FF2B5EF4-FFF2-40B4-BE49-F238E27FC236}">
                <a16:creationId xmlns:a16="http://schemas.microsoft.com/office/drawing/2014/main" id="{9DEFBA9A-DCE1-40E2-9E7A-920ED84F7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104" y="3617146"/>
            <a:ext cx="104416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5" name="直角三角形 4">
            <a:extLst xmlns:a="http://schemas.openxmlformats.org/drawingml/2006/main">
              <a:ext uri="{FF2B5EF4-FFF2-40B4-BE49-F238E27FC236}">
                <a16:creationId xmlns:a16="http://schemas.microsoft.com/office/drawing/2014/main" id="{C4E06DE9-8382-4366-AA92-C9636199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104" y="890345"/>
            <a:ext cx="104416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6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CC1F5A19-7CE9-4A8E-B725-71BDAB3A3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3993424"/>
            <a:ext cx="11214100" cy="2184400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E236E652-345E-4414-840D-C13D4BC06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244600"/>
            <a:ext cx="11214100" cy="2184400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ED63781C-EC90-4781-AC88-EB1BBDFF0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800" y="890345"/>
            <a:ext cx="2608304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XXXX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对角圆角矩形 81">
            <a:extLst xmlns:a="http://schemas.openxmlformats.org/drawingml/2006/main">
              <a:ext uri="{FF2B5EF4-FFF2-40B4-BE49-F238E27FC236}">
                <a16:creationId xmlns:a16="http://schemas.microsoft.com/office/drawing/2014/main" id="{9C0C9826-99EE-486D-BC6C-1A33FCDEB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800" y="3617146"/>
            <a:ext cx="2608304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XXXX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标题 9">
            <a:extLst xmlns:a="http://schemas.openxmlformats.org/drawingml/2006/main">
              <a:ext uri="{FF2B5EF4-FFF2-40B4-BE49-F238E27FC236}">
                <a16:creationId xmlns:a16="http://schemas.microsoft.com/office/drawing/2014/main" id="{569B5FDE-99A3-4E7F-9DE9-9D371F831A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82600" y="136525"/>
            <a:ext cx="11214100" cy="615159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2800" b="1"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97C2AB-E0B8-4ADC-A52B-23EA6301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66775"/>
            <a:ext cx="12192000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788E86-D07A-4F41-B915-1AEAED7B1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3350"/>
            <a:ext cx="11220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问题三：监督信息粒度与成本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856315-E460-4BE2-89F8-7AE7DFA34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14375"/>
            <a:ext cx="11220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5411AF-01DA-4AFF-ADF1-56FE50D43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同一 rollout、同一优化预算：比较教师信息保留量和反馈代价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1F0F58-836D-4107-A9A9-D33A3E089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3429000" cy="363855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2F7F8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E21DD9-11EA-45AE-8B83-B5D728C7D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4287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全词表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B7C928-BE13-4E79-9074-E60DFCC47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297180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完整分布</a:t>
            </a:r>
          </a:p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信息最充分</a:t>
            </a:r>
          </a:p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反馈开销最高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优先观察：上限效果与显存/时间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38A18E-579F-46FE-8B84-A00FF15D4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428750"/>
            <a:ext cx="3429000" cy="363855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2F7F8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B428D3-59A6-42BD-A265-7693C06E7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62100"/>
            <a:ext cx="14287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Top-K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440786-014C-4630-88C5-2A5783BBB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171700"/>
            <a:ext cx="297180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保留高概率支持集</a:t>
            </a:r>
          </a:p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压缩反馈体积</a:t>
            </a:r>
          </a:p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中等开销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优先观察：信息损失与效率折中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4EE736-F89D-4BC0-B353-CCB4AB2AF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428750"/>
            <a:ext cx="3429000" cy="363855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2F7F8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A23FAC-1C20-463C-B5D6-E8630B206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562100"/>
            <a:ext cx="1828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K=1 采样 token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8031AD-8873-4129-826D-6429BF211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171700"/>
            <a:ext cx="297180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单 token 估计</a:t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信息最稀疏</a:t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单位步成本最低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优先观察：方差与训练稳定性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D6FA5E-E805-4D49-A5DB-8BEAFD481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0"/>
            <a:ext cx="10858500" cy="542925"/>
          </a:xfrm>
          <a:prstGeom xmlns:a="http://schemas.openxmlformats.org/drawingml/2006/main" prst="roundRect">
            <a:avLst>
              <a:gd name="adj" fmla="val 14035"/>
            </a:avLst>
          </a:prstGeom>
          <a:solidFill xmlns:a="http://schemas.openxmlformats.org/drawingml/2006/main">
            <a:srgbClr val="E8F1F3"/>
          </a:solidFill>
          <a:ln xmlns:a="http://schemas.openxmlformats.org/drawingml/2006/main" w="0">
            <a:solidFill>
              <a:srgbClr val="E8F1F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F65C4E-DA24-4164-B268-C41AB30FE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86400"/>
            <a:ext cx="10420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评价维度：效果 × 稳定性 × 教师时间 / 显存 / 反馈体积；结论待实验验证。</a:t>
            </a:r>
          </a:p>
        </p:txBody>
      </p:sp>
    </p:spTree>
    <p:extLst>
      <p:ext uri="{BB962C8B-B14F-4D97-AF65-F5344CB8AC3E}">
        <p14:creationId xmlns:p14="http://schemas.microsoft.com/office/powerpoint/2010/main" val="196286462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2858ABC0-723A-4CCA-BD03-16AC2964007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9375147" y="6578600"/>
            <a:ext cx="2743200" cy="2794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ACD1EC8-6F57-41A7-99F1-FEDB2874BA2B}" type="slidenum">
              <a:t>8</a:t>
            </a:fld>
            <a:endParaRPr/>
          </a:p>
        </p:txBody>
      </p:sp>
      <p:sp>
        <p:nvSpPr>
          <p:cNvPr id="4" name="直角三角形 3">
            <a:extLst xmlns:a="http://schemas.openxmlformats.org/drawingml/2006/main">
              <a:ext uri="{FF2B5EF4-FFF2-40B4-BE49-F238E27FC236}">
                <a16:creationId xmlns:a16="http://schemas.microsoft.com/office/drawing/2014/main" id="{F17316AB-7099-4AEC-AF81-7069C7943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63" y="1144153"/>
            <a:ext cx="104416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5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CAB77141-E7E7-40D1-A047-E1AEEFF9C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476" y="1344768"/>
            <a:ext cx="11214100" cy="1275080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18FBE0D5-43B4-4EC0-9E9F-E3E966F99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950" y="1072932"/>
            <a:ext cx="671417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直角三角形 6">
            <a:extLst xmlns:a="http://schemas.openxmlformats.org/drawingml/2006/main">
              <a:ext uri="{FF2B5EF4-FFF2-40B4-BE49-F238E27FC236}">
                <a16:creationId xmlns:a16="http://schemas.microsoft.com/office/drawing/2014/main" id="{A80CD7BC-FF54-4205-9F5B-FDE3CCB33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425" y="2962905"/>
            <a:ext cx="104416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8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3CB7ED48-475B-4781-B914-30B4E0704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8" y="3163520"/>
            <a:ext cx="11214100" cy="1275080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139E1E37-27A9-4DB0-B512-3278ECC8D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012" y="2891684"/>
            <a:ext cx="671417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直角三角形 9">
            <a:extLst xmlns:a="http://schemas.openxmlformats.org/drawingml/2006/main">
              <a:ext uri="{FF2B5EF4-FFF2-40B4-BE49-F238E27FC236}">
                <a16:creationId xmlns:a16="http://schemas.microsoft.com/office/drawing/2014/main" id="{6ABDBD77-2F69-41F1-BD50-9DAC27B1D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487" y="4781657"/>
            <a:ext cx="104416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431C4FB5-D715-4546-84A8-ECB0E5160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4982272"/>
            <a:ext cx="11214100" cy="1275080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BA1BF00E-121A-4A88-81D6-46D18FA5B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074" y="4710436"/>
            <a:ext cx="671417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标题 12">
            <a:extLst xmlns:a="http://schemas.openxmlformats.org/drawingml/2006/main">
              <a:ext uri="{FF2B5EF4-FFF2-40B4-BE49-F238E27FC236}">
                <a16:creationId xmlns:a16="http://schemas.microsoft.com/office/drawing/2014/main" id="{24EA97CD-637F-44E5-98AB-C2EA123223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82600" y="136525"/>
            <a:ext cx="11214100" cy="615159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2800" b="1"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70BF6B-EC22-48FC-987E-3D23F7F65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66775"/>
            <a:ext cx="12192000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66C975-A5F0-46D1-967F-87B182DB9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3350"/>
            <a:ext cx="11220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实验设计与公平比较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C41723-3E49-41E7-9E8A-4FC80BF57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14375"/>
            <a:ext cx="11220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E660B3-1D65-426B-9012-74CB082CA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971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先固定协议，再改变一个研究因素；正式结论待实验验证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AFAD60-3184-4B47-AA01-CBAA60A5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521970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2F7F8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E625FA-B2FA-4C8F-97F7-9F3E748F4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5049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固定条件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2868BF-8B1F-4712-BE01-684C6ED7C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4762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• Student / Teacher：Qwen3-0.6B / Qwen3-4B</a:t>
            </a:r>
          </a:p>
          <a:p xmlns:a="http://schemas.openxmlformats.org/drawingml/2006/main">
            <a:pPr>
              <a:def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• 数据：Function Calling，固定 train / valid split</a:t>
            </a:r>
          </a:p>
          <a:p xmlns:a="http://schemas.openxmlformats.org/drawingml/2006/main">
            <a:pPr>
              <a:def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• 参数：LoRA 配置、steps、有效 token 预算</a:t>
            </a:r>
          </a:p>
          <a:p xmlns:a="http://schemas.openxmlformats.org/drawingml/2006/main">
            <a:pPr>
              <a:def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• 生成与评测：模板、采样参数、evaluator</a:t>
            </a:r>
          </a:p>
          <a:p xmlns:a="http://schemas.openxmlformats.org/drawingml/2006/main">
            <a:pPr>
              <a:def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• 稳定性：至少 3 个随机种子，报告均值 / 标准差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F3A5B5-2EE5-40C6-928F-CE6D11622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428750"/>
            <a:ext cx="521970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2F7F8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22FFA0-5B80-4875-976D-16A2AB1E4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562100"/>
            <a:ext cx="15049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分层指标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020747-24B4-4292-A0AC-66BF065E3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171700"/>
            <a:ext cx="4762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• 任务：格式、选函数、参数 key / value、执行、端到端</a:t>
            </a:r>
          </a:p>
          <a:p xmlns:a="http://schemas.openxmlformats.org/drawingml/2006/main">
            <a:pPr>
              <a:def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• 稳定：loss / grad、NaN / Inf、entropy / overlap</a:t>
            </a:r>
          </a:p>
          <a:p xmlns:a="http://schemas.openxmlformats.org/drawingml/2006/main">
            <a:pPr>
              <a:def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• 资源：teacher time、train time、吞吐、显存、feedback volume</a:t>
            </a:r>
          </a:p>
          <a:p xmlns:a="http://schemas.openxmlformats.org/drawingml/2006/main">
            <a:pPr>
              <a:def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• 追溯：commit、config、environment、raw metrics</a:t>
            </a:r>
          </a:p>
          <a:p xmlns:a="http://schemas.openxmlformats.org/drawingml/2006/main">
            <a:pPr>
              <a:def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• 比较：散度 × 监督粒度的受控组合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AC163A-EB26-4F57-A8F5-1564E4667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86425"/>
            <a:ext cx="10572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每个正式实验记录配置、随机种子、环境与原始指标，避免把待验证假设写成结论。</a:t>
            </a:r>
          </a:p>
        </p:txBody>
      </p:sp>
    </p:spTree>
    <p:extLst>
      <p:ext uri="{BB962C8B-B14F-4D97-AF65-F5344CB8AC3E}">
        <p14:creationId xmlns:p14="http://schemas.microsoft.com/office/powerpoint/2010/main" val="961404695"/>
      </p:ext>
    </p:extLst>
  </p:cSld>
</p:sld>
</file>

<file path=ppt/slides/slide9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7f38d95926ba4bd8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图片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1c0b337f524c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896427" y="3596360"/>
            <a:ext cx="6287881" cy="2749276"/>
          </a:xfrm>
          <a:prstGeom xmlns:a="http://schemas.openxmlformats.org/drawingml/2006/main" prst="rect">
            <a:avLst/>
          </a:prstGeom>
        </p:spPr>
      </p:pic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996557EE-2E3A-4C5D-BE92-8EFE4C2B4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96878"/>
            <a:ext cx="12191999" cy="5611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8835FDCE-B588-4B69-8B25-544D19A63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89647"/>
            <a:ext cx="12192002" cy="177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4000" b="1"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6E0ACAF4-158C-48CE-B988-45A79382A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0" y="1149746"/>
            <a:ext cx="4933046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00537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5" name="标题 1">
            <a:extLst xmlns:a="http://schemas.openxmlformats.org/drawingml/2006/main">
              <a:ext uri="{FF2B5EF4-FFF2-40B4-BE49-F238E27FC236}">
                <a16:creationId xmlns:a16="http://schemas.microsoft.com/office/drawing/2014/main" id="{507266C3-00D8-4E75-ACEE-EB41A0A6D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12860"/>
            <a:ext cx="11201400" cy="149052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buNone/>
            </a:pPr>
            <a:r>
              <a:rPr sz="4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8" name="直接连接符 7">
            <a:extLst xmlns:a="http://schemas.openxmlformats.org/drawingml/2006/main">
              <a:ext uri="{FF2B5EF4-FFF2-40B4-BE49-F238E27FC236}">
                <a16:creationId xmlns:a16="http://schemas.microsoft.com/office/drawing/2014/main" id="{66258522-D3B9-446E-B472-AF61D804C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7239000" y="1145795"/>
            <a:ext cx="4953000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00537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30" name="图片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28489aea9349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67788" y="219682"/>
            <a:ext cx="2199274" cy="961598"/>
          </a:xfrm>
          <a:prstGeom xmlns:a="http://schemas.openxmlformats.org/drawingml/2006/main" prst="rect">
            <a:avLst/>
          </a:prstGeom>
        </p:spPr>
      </p:pic>
      <p:sp>
        <p:nvSpPr>
          <p:cNvPr id="9" name="副标题 2">
            <a:extLst xmlns:a="http://schemas.openxmlformats.org/drawingml/2006/main">
              <a:ext uri="{FF2B5EF4-FFF2-40B4-BE49-F238E27FC236}">
                <a16:creationId xmlns:a16="http://schemas.microsoft.com/office/drawing/2014/main" id="{E8115814-C505-4275-A772-980D4A1C044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0" y="4758488"/>
            <a:ext cx="12192000" cy="68008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2" name="副标题 2">
            <a:extLst xmlns:a="http://schemas.openxmlformats.org/drawingml/2006/main">
              <a:ext uri="{FF2B5EF4-FFF2-40B4-BE49-F238E27FC236}">
                <a16:creationId xmlns:a16="http://schemas.microsoft.com/office/drawing/2014/main" id="{2DE40953-D626-4B26-8E63-E49B1A28F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12451"/>
            <a:ext cx="12192000" cy="6800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r>
              <a:rPr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pic>
        <p:nvPicPr>
          <p:cNvPr id="33" name="图片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f78fda0aa54f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39679" y="6415212"/>
            <a:ext cx="1655733" cy="324128"/>
          </a:xfrm>
          <a:prstGeom xmlns:a="http://schemas.openxmlformats.org/drawingml/2006/main" prst="rect">
            <a:avLst/>
          </a:prstGeom>
        </p:spPr>
      </p:pic>
      <p:sp>
        <p:nvSpPr>
          <p:cNvPr id="16" name="副标题 2">
            <a:extLst xmlns:a="http://schemas.openxmlformats.org/drawingml/2006/main">
              <a:ext uri="{FF2B5EF4-FFF2-40B4-BE49-F238E27FC236}">
                <a16:creationId xmlns:a16="http://schemas.microsoft.com/office/drawing/2014/main" id="{3FFCD2DB-EF52-4A5D-9A1A-B08CDE491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950" y="4204207"/>
            <a:ext cx="11214100" cy="6804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r>
              <a:rPr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/>
            </a:r>
            <a:endParaRPr b="1">
              <a:solidFill>
                <a:srgbClr val="00537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20FC46-C437-4E1F-8E1B-81EE6E425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66775"/>
            <a:ext cx="12192000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FA5903-86C5-4FED-82BE-00CC41E30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3350"/>
            <a:ext cx="11220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进度安排（2026.09—2027.05）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2667F8-A9E2-4F3F-B7C0-C0AC110CD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14375"/>
            <a:ext cx="11220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70cce2dff84c23"/>
          <a:stretch xmlns:a="http://schemas.openxmlformats.org/drawingml/2006/main"/>
        </p:blipFill>
        <p:spPr>
          <a:xfrm xmlns:a="http://schemas.openxmlformats.org/drawingml/2006/main">
            <a:off x="762000" y="991606"/>
            <a:ext cx="10668000" cy="528436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5593738"/>
      </p:ext>
    </p:extLst>
  </p:cSld>
</p:sld>
</file>

<file path=ppt/slides/slide10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9439dbc77941416f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4" name="图片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1e349d850f4e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896427" y="3596360"/>
            <a:ext cx="6287881" cy="2749276"/>
          </a:xfrm>
          <a:prstGeom xmlns:a="http://schemas.openxmlformats.org/drawingml/2006/main" prst="rect">
            <a:avLst/>
          </a:prstGeom>
        </p:spPr>
      </p:pic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996557EE-2E3A-4C5D-BE92-8EFE4C2B4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96878"/>
            <a:ext cx="12191999" cy="5611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8835FDCE-B588-4B69-8B25-544D19A63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89647"/>
            <a:ext cx="12192002" cy="177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4000" b="1"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6E0ACAF4-158C-48CE-B988-45A79382A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0" y="1149746"/>
            <a:ext cx="4933046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00537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5" name="标题 1">
            <a:extLst xmlns:a="http://schemas.openxmlformats.org/drawingml/2006/main">
              <a:ext uri="{FF2B5EF4-FFF2-40B4-BE49-F238E27FC236}">
                <a16:creationId xmlns:a16="http://schemas.microsoft.com/office/drawing/2014/main" id="{507266C3-00D8-4E75-ACEE-EB41A0A6D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12860"/>
            <a:ext cx="11201400" cy="149052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buNone/>
            </a:pPr>
            <a:r>
              <a:rPr sz="4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谢</a:t>
            </a:r>
            <a:r>
              <a:rPr sz="4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4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谢</a:t>
            </a:r>
          </a:p>
        </p:txBody>
      </p:sp>
      <p:sp>
        <p:nvSpPr>
          <p:cNvPr id="8" name="直接连接符 7">
            <a:extLst xmlns:a="http://schemas.openxmlformats.org/drawingml/2006/main">
              <a:ext uri="{FF2B5EF4-FFF2-40B4-BE49-F238E27FC236}">
                <a16:creationId xmlns:a16="http://schemas.microsoft.com/office/drawing/2014/main" id="{66258522-D3B9-446E-B472-AF61D804C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7239000" y="1145795"/>
            <a:ext cx="4953000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00537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40" name="图片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11f9ec532946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67788" y="219682"/>
            <a:ext cx="2199274" cy="961598"/>
          </a:xfrm>
          <a:prstGeom xmlns:a="http://schemas.openxmlformats.org/drawingml/2006/main" prst="rect">
            <a:avLst/>
          </a:prstGeom>
        </p:spPr>
      </p:pic>
      <p:sp>
        <p:nvSpPr>
          <p:cNvPr id="9" name="副标题 2">
            <a:extLst xmlns:a="http://schemas.openxmlformats.org/drawingml/2006/main">
              <a:ext uri="{FF2B5EF4-FFF2-40B4-BE49-F238E27FC236}">
                <a16:creationId xmlns:a16="http://schemas.microsoft.com/office/drawing/2014/main" id="{E8115814-C505-4275-A772-980D4A1C044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0" y="4758488"/>
            <a:ext cx="12192000" cy="68008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>汇报人：</a:t>
            </a:r>
            <a:r>
              <a:rPr sz="2400"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>xxx</a:t>
            </a:r>
          </a:p>
        </p:txBody>
      </p:sp>
      <p:sp>
        <p:nvSpPr>
          <p:cNvPr id="12" name="副标题 2">
            <a:extLst xmlns:a="http://schemas.openxmlformats.org/drawingml/2006/main">
              <a:ext uri="{FF2B5EF4-FFF2-40B4-BE49-F238E27FC236}">
                <a16:creationId xmlns:a16="http://schemas.microsoft.com/office/drawing/2014/main" id="{2DE40953-D626-4B26-8E63-E49B1A28F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12451"/>
            <a:ext cx="12192000" cy="6800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r>
              <a:rPr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>202X</a:t>
            </a:r>
            <a:r>
              <a:rPr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>年</a:t>
            </a:r>
            <a:r>
              <a:rPr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>X</a:t>
            </a:r>
            <a:r>
              <a:rPr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>月</a:t>
            </a:r>
            <a:r>
              <a:rPr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>XX</a:t>
            </a:r>
            <a:r>
              <a:rPr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>日</a:t>
            </a:r>
          </a:p>
        </p:txBody>
      </p:sp>
      <p:pic>
        <p:nvPicPr>
          <p:cNvPr id="43" name="图片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a1bc25614d4be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39679" y="6415212"/>
            <a:ext cx="1655733" cy="324128"/>
          </a:xfrm>
          <a:prstGeom xmlns:a="http://schemas.openxmlformats.org/drawingml/2006/main" prst="rect">
            <a:avLst/>
          </a:prstGeom>
        </p:spPr>
      </p:pic>
      <p:sp>
        <p:nvSpPr>
          <p:cNvPr id="16" name="副标题 2">
            <a:extLst xmlns:a="http://schemas.openxmlformats.org/drawingml/2006/main">
              <a:ext uri="{FF2B5EF4-FFF2-40B4-BE49-F238E27FC236}">
                <a16:creationId xmlns:a16="http://schemas.microsoft.com/office/drawing/2014/main" id="{3FFCD2DB-EF52-4A5D-9A1A-B08CDE491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950" y="4204207"/>
            <a:ext cx="11214100" cy="6804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r>
              <a:rPr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>XX</a:t>
            </a:r>
            <a:r>
              <a:rPr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>学院</a:t>
            </a:r>
            <a:r>
              <a:rPr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>/</a:t>
            </a:r>
            <a:r>
              <a:rPr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>学部</a:t>
            </a:r>
            <a:endParaRPr b="1">
              <a:solidFill>
                <a:srgbClr val="00537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E1C76B-DB6D-4F37-926D-B1F266E3A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66775"/>
            <a:ext cx="12192000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939888-9A09-4EED-97DC-D6B72690A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3350"/>
            <a:ext cx="11220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预期贡献与风险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C2BC9B-CAAB-4465-8115-6B753464A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14375"/>
            <a:ext cx="11220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549C4A-A15D-4432-8ED4-77E87E8E4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3429000" cy="36957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2F7F8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1159EE-95D6-44FF-A6D6-C732C276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5049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预期贡献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52D61A-1DCC-49E4-A238-F7C732CE6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2971800" cy="2838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统一可复现实验协议</a:t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散度 × 粒度受控比较</a:t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工具调用分层评测</a:t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成本与部署证据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成果形式：代码、配置、原始指标与论文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2CACC8-24C1-4512-BA0A-A6D4C0899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428750"/>
            <a:ext cx="3429000" cy="36957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2F7F8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44CD4C1-DD25-4086-A680-5A4785A35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62100"/>
            <a:ext cx="15049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主要风险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852F534-8FC1-4F5D-AD59-2BBFD6605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171700"/>
            <a:ext cx="2971800" cy="2838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师生 tokenizer / 模板不兼容</a:t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全词表反馈成本过高</a:t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token 指标与端到端脱节</a:t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实验窗口与算力有限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结论风险：待实验验证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3E28C99-F166-4507-9B3D-16B45826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428750"/>
            <a:ext cx="3429000" cy="36957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2F7F8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F80E3D2-99CE-4CD2-AF20-1AAF9BC3C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562100"/>
            <a:ext cx="15049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缓解措施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718F82-25EE-4BF8-946D-816474980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171700"/>
            <a:ext cx="2971800" cy="2838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训练前做对齐审计</a:t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分块、缓存、Top-K / K1</a:t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保留失败轨迹并分层报告</a:t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固定预算并记录环境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必要时缩小实验矩阵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736710-E8DA-4BDC-829D-EA0E1FE96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0"/>
            <a:ext cx="10858500" cy="542925"/>
          </a:xfrm>
          <a:prstGeom xmlns:a="http://schemas.openxmlformats.org/drawingml/2006/main" prst="roundRect">
            <a:avLst>
              <a:gd name="adj" fmla="val 14035"/>
            </a:avLst>
          </a:prstGeom>
          <a:solidFill xmlns:a="http://schemas.openxmlformats.org/drawingml/2006/main">
            <a:srgbClr val="E8F1F3"/>
          </a:solidFill>
          <a:ln xmlns:a="http://schemas.openxmlformats.org/drawingml/2006/main" w="0">
            <a:solidFill>
              <a:srgbClr val="E8F1F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256A3DC-C2DD-4629-B6F2-82E9B9E4F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86400"/>
            <a:ext cx="10420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研究结论与量化收益均标记为：待实验验证。</a:t>
            </a:r>
          </a:p>
        </p:txBody>
      </p:sp>
    </p:spTree>
    <p:extLst>
      <p:ext uri="{BB962C8B-B14F-4D97-AF65-F5344CB8AC3E}">
        <p14:creationId xmlns:p14="http://schemas.microsoft.com/office/powerpoint/2010/main" val="121559373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直角三角形 17">
            <a:extLst xmlns:a="http://schemas.openxmlformats.org/drawingml/2006/main">
              <a:ext uri="{FF2B5EF4-FFF2-40B4-BE49-F238E27FC236}">
                <a16:creationId xmlns:a16="http://schemas.microsoft.com/office/drawing/2014/main" id="{577CB455-2695-46D6-A474-03F032677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6651" y="1094649"/>
            <a:ext cx="93174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9" name="直角三角形 18">
            <a:extLst xmlns:a="http://schemas.openxmlformats.org/drawingml/2006/main">
              <a:ext uri="{FF2B5EF4-FFF2-40B4-BE49-F238E27FC236}">
                <a16:creationId xmlns:a16="http://schemas.microsoft.com/office/drawing/2014/main" id="{15CC32B7-1F35-4C8F-B8C5-60B8A54F0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0655" y="1107656"/>
            <a:ext cx="93174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20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C1D0E857-9954-44C5-ADD2-D1818D3B7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461911"/>
            <a:ext cx="3557884" cy="4933224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1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B0EA11AD-3B83-46B6-8E8A-4EEEACEAA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799" y="1107656"/>
            <a:ext cx="2327480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XXXX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3B6F4E8A-E84E-460C-A559-6705DC7F0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7978" y="1461911"/>
            <a:ext cx="3557884" cy="4933224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3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BF730531-8C91-4A99-B851-B6A02665B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3176" y="1107656"/>
            <a:ext cx="2327480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XXXX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直角三角形 23">
            <a:extLst xmlns:a="http://schemas.openxmlformats.org/drawingml/2006/main">
              <a:ext uri="{FF2B5EF4-FFF2-40B4-BE49-F238E27FC236}">
                <a16:creationId xmlns:a16="http://schemas.microsoft.com/office/drawing/2014/main" id="{E57BD96B-59A7-4A57-8C60-7CE13A16F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1493" y="1094649"/>
            <a:ext cx="93174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25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94FF7B1A-B7E0-4D6E-BC6C-FCA8BCF80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816" y="1448904"/>
            <a:ext cx="3557884" cy="4933224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D0774957-4E83-4F3D-B816-536F922C0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4015" y="1094649"/>
            <a:ext cx="2327480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XXXX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灯片编号占位符 13">
            <a:extLst xmlns:a="http://schemas.openxmlformats.org/drawingml/2006/main">
              <a:ext uri="{FF2B5EF4-FFF2-40B4-BE49-F238E27FC236}">
                <a16:creationId xmlns:a16="http://schemas.microsoft.com/office/drawing/2014/main" id="{200D2263-4B45-4C9C-8822-374F14D33B2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9375147" y="6578600"/>
            <a:ext cx="2743200" cy="2794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4510B6F7-EE4D-4CDD-92F2-BD2560AD05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82600" y="136525"/>
            <a:ext cx="11214100" cy="615159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2800" b="1"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4CD4947-155E-4D02-9C6F-C4F87BCC0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66775"/>
            <a:ext cx="12192000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865A89-A406-4D5C-AC83-A2878B698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3350"/>
            <a:ext cx="11220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问题二：散度目标如何改变学习行为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9621379-0718-4573-B8C5-EA105C60F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14375"/>
            <a:ext cx="11220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1C59350-D677-460B-82B0-66EDADB51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固定学生状态与训练预算，仅切换目标函数；结论待实验验证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A54D2AA-9F46-4E72-BF68-BF3AFDA61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3429000" cy="363855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2F7F8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793B771-75ED-4AEC-8A10-598FABFD9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828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Forward KL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E6F5AC-1E4A-4B12-83E7-11378CC19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297180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教师分布加权</a:t>
            </a:r>
          </a:p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覆盖教师支持区域</a:t>
            </a:r>
          </a:p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保留更多候选信息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关注：mode-covering 行为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2BFC4D4-A6E6-4EED-A279-5F87CC5F4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428750"/>
            <a:ext cx="3429000" cy="363855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2F7F8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DCA6A8A-C296-4CAF-9736-F3FF33163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62100"/>
            <a:ext cx="1828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Reverse KL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A062103-B6B7-4895-858B-064BD7788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171700"/>
            <a:ext cx="297180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学生分布加权</a:t>
            </a:r>
          </a:p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聚焦当前高概率区域</a:t>
            </a:r>
          </a:p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强调当前策略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关注：mode-seeking 行为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08C4D67-F616-41D8-8B3D-CACB80017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428750"/>
            <a:ext cx="3429000" cy="363855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2F7F8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E336EA3-E755-4F50-A0F3-5FFBD3B4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562100"/>
            <a:ext cx="1828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广义散度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E24FFD9-752B-4BB5-9C71-CBD47ECCD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171700"/>
            <a:ext cx="297180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在两类权重间折中</a:t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调节匹配偏好</a:t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检验连续变化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候选：Jensen–Shannon / skew-KL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F138113-DEC4-4B61-B0E2-ABAB33CF0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0"/>
            <a:ext cx="10858500" cy="542925"/>
          </a:xfrm>
          <a:prstGeom xmlns:a="http://schemas.openxmlformats.org/drawingml/2006/main" prst="roundRect">
            <a:avLst>
              <a:gd name="adj" fmla="val 14035"/>
            </a:avLst>
          </a:prstGeom>
          <a:solidFill xmlns:a="http://schemas.openxmlformats.org/drawingml/2006/main">
            <a:srgbClr val="E8F1F3"/>
          </a:solidFill>
          <a:ln xmlns:a="http://schemas.openxmlformats.org/drawingml/2006/main" w="0">
            <a:solidFill>
              <a:srgbClr val="E8F1F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BBF31F7-38BA-4DFB-A49E-B1E04D7CD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86400"/>
            <a:ext cx="10420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观察：loss / 梯度 / 熵与分布重叠 / 工具调用分层指标；不预设优胜者。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BC65801-52BF-4AC7-90B9-4421DA969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66775"/>
            <a:ext cx="12192000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5A7025C-12A7-4AE7-810F-565520632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15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6E40ECA-D47D-4432-863F-FFF7DC9B9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3350"/>
            <a:ext cx="11220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Q&amp;A｜答辩交流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79BBB80-0236-45BD-AE9C-C9171F64F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14375"/>
            <a:ext cx="11220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71ECD6F-BA98-481D-8C1A-2DA215FB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1066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9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49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谢谢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75A4A57-E824-4523-9CE4-44B677161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3850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2100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请老师指导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90B6F2A-63E5-4E15-B1FC-EACD9B76D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095750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FB2BE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B792233-3F98-43D8-BFCA-684BD4DA4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1009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F6F78"/>
                </a:solidFill>
                <a:latin typeface="微软雅黑"/>
                <a:ea typeface="微软雅黑"/>
                <a:cs typeface="微软雅黑"/>
              </a:defRPr>
            </a:pPr>
            <a:r>
              <a:rPr sz="1425">
                <a:solidFill>
                  <a:srgbClr val="5F6F78"/>
                </a:solidFill>
                <a:latin typeface="微软雅黑"/>
                <a:ea typeface="微软雅黑"/>
                <a:cs typeface="微软雅黑"/>
              </a:rPr>
              <a:t>张子琦  |  计算机科学与技术  |  2026年9月27日</a:t>
            </a:r>
          </a:p>
        </p:txBody>
      </p:sp>
    </p:spTree>
    <p:extLst>
      <p:ext uri="{BB962C8B-B14F-4D97-AF65-F5344CB8AC3E}">
        <p14:creationId xmlns:p14="http://schemas.microsoft.com/office/powerpoint/2010/main" val="1099989209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2026-09-27T04:05:39.7970000Z</dcterms:created>
  <dcterms:modified xsi:type="dcterms:W3CDTF">2026-09-27T04:05:39.7970000Z</dcterms:modified>
</coreProperties>
</file>