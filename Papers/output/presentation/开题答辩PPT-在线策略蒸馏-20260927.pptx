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1631f686a447ed" /><Relationship Type="http://schemas.openxmlformats.org/officeDocument/2006/relationships/extended-properties" Target="/docProps/app.xml" Id="R52427070053a4dac" /><Relationship Type="http://schemas.openxmlformats.org/officeDocument/2006/relationships/officeDocument" Target="/ppt/presentation.xml" Id="R7507ff332fb048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6da4fc3a3b47bc"/>
  </p:sldMasterIdLst>
  <p:notesMasterIdLst>
    <p:notesMasterId xmlns:r="http://schemas.openxmlformats.org/officeDocument/2006/relationships" r:id="R2c9463d8fe474732"/>
  </p:notesMasterIdLst>
  <p:sldIdLst>
    <p:sldId xmlns:r="http://schemas.openxmlformats.org/officeDocument/2006/relationships" id="256" r:id="R982208217531469f"/>
    <p:sldId xmlns:r="http://schemas.openxmlformats.org/officeDocument/2006/relationships" id="257" r:id="Ra3e86d0e03ce49a5"/>
    <p:sldId xmlns:r="http://schemas.openxmlformats.org/officeDocument/2006/relationships" id="258" r:id="Ref4fd69b2b254220"/>
    <p:sldId xmlns:r="http://schemas.openxmlformats.org/officeDocument/2006/relationships" id="259" r:id="Rea3cdbd0ebe84f01"/>
    <p:sldId xmlns:r="http://schemas.openxmlformats.org/officeDocument/2006/relationships" id="260" r:id="R10f154069a1b4b59"/>
    <p:sldId xmlns:r="http://schemas.openxmlformats.org/officeDocument/2006/relationships" id="261" r:id="R6df7986717c14525"/>
    <p:sldId xmlns:r="http://schemas.openxmlformats.org/officeDocument/2006/relationships" id="262" r:id="R9a2de1f2b7604a1a"/>
    <p:sldId xmlns:r="http://schemas.openxmlformats.org/officeDocument/2006/relationships" id="263" r:id="R04c66b5a64a3400a"/>
    <p:sldId xmlns:r="http://schemas.openxmlformats.org/officeDocument/2006/relationships" id="264" r:id="Rf1930a511c57432c"/>
    <p:sldId xmlns:r="http://schemas.openxmlformats.org/officeDocument/2006/relationships" id="265" r:id="R80b719b1ceeb49b2"/>
    <p:sldId xmlns:r="http://schemas.openxmlformats.org/officeDocument/2006/relationships" id="266" r:id="R60f6007d12ae45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46f41226a6489f" /><Relationship Type="http://schemas.openxmlformats.org/officeDocument/2006/relationships/slideMaster" Target="/ppt/slideMasters/slideMaster1.xml" Id="R436da4fc3a3b47bc" /><Relationship Type="http://schemas.openxmlformats.org/officeDocument/2006/relationships/notesMaster" Target="/ppt/notesMasters/notesMaster1.xml" Id="R2c9463d8fe474732" /><Relationship Type="http://schemas.openxmlformats.org/officeDocument/2006/relationships/presProps" Target="/ppt/presProps.xml" Id="R20869d4cabde4ede" /><Relationship Type="http://schemas.openxmlformats.org/officeDocument/2006/relationships/viewProps" Target="/ppt/viewProps.xml" Id="R3d1462cc4b74476f" /><Relationship Type="http://schemas.openxmlformats.org/officeDocument/2006/relationships/tableStyles" Target="/ppt/tableStyles.xml" Id="R7a7553c614144f90" /><Relationship Type="http://schemas.openxmlformats.org/officeDocument/2006/relationships/slide" Target="/ppt/slides/slide1.xml" Id="R982208217531469f" /><Relationship Type="http://schemas.openxmlformats.org/officeDocument/2006/relationships/slide" Target="/ppt/slides/slide2.xml" Id="Ra3e86d0e03ce49a5" /><Relationship Type="http://schemas.openxmlformats.org/officeDocument/2006/relationships/slide" Target="/ppt/slides/slide3.xml" Id="Ref4fd69b2b254220" /><Relationship Type="http://schemas.openxmlformats.org/officeDocument/2006/relationships/slide" Target="/ppt/slides/slide4.xml" Id="Rea3cdbd0ebe84f01" /><Relationship Type="http://schemas.openxmlformats.org/officeDocument/2006/relationships/slide" Target="/ppt/slides/slide5.xml" Id="R10f154069a1b4b59" /><Relationship Type="http://schemas.openxmlformats.org/officeDocument/2006/relationships/slide" Target="/ppt/slides/slide6.xml" Id="R6df7986717c14525" /><Relationship Type="http://schemas.openxmlformats.org/officeDocument/2006/relationships/slide" Target="/ppt/slides/slide7.xml" Id="R9a2de1f2b7604a1a" /><Relationship Type="http://schemas.openxmlformats.org/officeDocument/2006/relationships/slide" Target="/ppt/slides/slide8.xml" Id="R04c66b5a64a3400a" /><Relationship Type="http://schemas.openxmlformats.org/officeDocument/2006/relationships/slide" Target="/ppt/slides/slide9.xml" Id="Rf1930a511c57432c" /><Relationship Type="http://schemas.openxmlformats.org/officeDocument/2006/relationships/slide" Target="/ppt/slides/slide10.xml" Id="R80b719b1ceeb49b2" /><Relationship Type="http://schemas.openxmlformats.org/officeDocument/2006/relationships/slide" Target="/ppt/slides/slide11.xml" Id="R60f6007d12ae45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060ff4b64e40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4e90474f6141c7" /><Relationship Type="http://schemas.openxmlformats.org/officeDocument/2006/relationships/notesMaster" Target="/ppt/notesMasters/notesMaster1.xml" Id="Rc1205334320640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3f4d6fc15c41b0" /><Relationship Type="http://schemas.openxmlformats.org/officeDocument/2006/relationships/notesMaster" Target="/ppt/notesMasters/notesMaster1.xml" Id="R407461fc713c4c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6fa7a1317e4c07" /><Relationship Type="http://schemas.openxmlformats.org/officeDocument/2006/relationships/notesMaster" Target="/ppt/notesMasters/notesMaster1.xml" Id="Re057c7a7d7bf4a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17807989c44bb7" /><Relationship Type="http://schemas.openxmlformats.org/officeDocument/2006/relationships/notesMaster" Target="/ppt/notesMasters/notesMaster1.xml" Id="R1f9b392a4c2d45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f5eb12358f4f1c" /><Relationship Type="http://schemas.openxmlformats.org/officeDocument/2006/relationships/notesMaster" Target="/ppt/notesMasters/notesMaster1.xml" Id="R1e42221e4eb54e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7d8774ba584272" /><Relationship Type="http://schemas.openxmlformats.org/officeDocument/2006/relationships/notesMaster" Target="/ppt/notesMasters/notesMaster1.xml" Id="R9db9360b5dc849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46895f49a247d4" /><Relationship Type="http://schemas.openxmlformats.org/officeDocument/2006/relationships/notesMaster" Target="/ppt/notesMasters/notesMaster1.xml" Id="Rc00f379645e447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c6f05a4be846f3" /><Relationship Type="http://schemas.openxmlformats.org/officeDocument/2006/relationships/notesMaster" Target="/ppt/notesMasters/notesMaster1.xml" Id="R9d270c24ae5a47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8b5c74e2574235" /><Relationship Type="http://schemas.openxmlformats.org/officeDocument/2006/relationships/notesMaster" Target="/ppt/notesMasters/notesMaster1.xml" Id="R69aa65d4f3914e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f7442b21e74aa2" /><Relationship Type="http://schemas.openxmlformats.org/officeDocument/2006/relationships/notesMaster" Target="/ppt/notesMasters/notesMaster1.xml" Id="R5af0daae4dd640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4d969186f74a78" /><Relationship Type="http://schemas.openxmlformats.org/officeDocument/2006/relationships/notesMaster" Target="/ppt/notesMasters/notesMaster1.xml" Id="R47773c33c1304d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时间：0:30</a:t>
            </a:r>
          </a:p>
          <a:p xmlns:a="http://schemas.openxmlformats.org/drawingml/2006/main">
            <a:r>
              <a:t>要点：介绍课题名称、研究对象与汇报人。</a:t>
            </a:r>
          </a:p>
          <a:p xmlns:a="http://schemas.openxmlformats.org/drawingml/2006/main">
            <a:r>
              <a:t>过渡：从在线策略蒸馏的研究动机开始，说明为什么需要把学生真实生成状态纳入训练。</a:t>
            </a:r>
          </a:p>
          <a:p xmlns:a="http://schemas.openxmlformats.org/drawingml/2006/main">
            <a:r>
              <a:t>提示：封面信息为项目当前开题阶段信息。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时间：0:50</a:t>
            </a:r>
          </a:p>
          <a:p xmlns:a="http://schemas.openxmlformats.org/drawingml/2006/main">
            <a:r>
              <a:t>要点：强调三类缺口：状态分布偏移、目标函数与监督粒度的耦合、token 指标和端到端工具调用之间的断层。</a:t>
            </a:r>
          </a:p>
          <a:p xmlns:a="http://schemas.openxmlformats.org/drawingml/2006/main">
            <a:r>
              <a:t>过渡：下面把这些缺口压缩成三个可检验的研究问题。</a:t>
            </a:r>
          </a:p>
          <a:p xmlns:a="http://schemas.openxmlformats.org/drawingml/2006/main">
            <a:r>
              <a:t>提示：此页是研究动机与问题缺口，不报告实验结论。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时间：0:55</a:t>
            </a:r>
          </a:p>
          <a:p xmlns:a="http://schemas.openxmlformats.org/drawingml/2006/main">
            <a:r>
              <a:t>要点：依次解释 RQ1 状态分布、RQ2 散度目标、RQ3 监督信息粒度；三者分别对应在线性、目标函数、反馈成本。</a:t>
            </a:r>
          </a:p>
          <a:p xmlns:a="http://schemas.openxmlformats.org/drawingml/2006/main">
            <a:r>
              <a:t>过渡：三个问题共享同一条可复现训练与评测流水线。</a:t>
            </a:r>
          </a:p>
          <a:p xmlns:a="http://schemas.openxmlformats.org/drawingml/2006/main">
            <a:r>
              <a:t>提示：图示来自开题报告图2，具体结论仍待实验验证。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时间：0:45</a:t>
            </a:r>
          </a:p>
          <a:p xmlns:a="http://schemas.openxmlformats.org/drawingml/2006/main">
            <a:r>
              <a:t>要点：说明从数据、模型和模板对齐开始，经过训练脚本、统一评测与统计，最后形成可追溯结论。</a:t>
            </a:r>
          </a:p>
          <a:p xmlns:a="http://schemas.openxmlformats.org/drawingml/2006/main">
            <a:r>
              <a:t>过渡：下一页展开其中的在线训练与性能评测闭环。</a:t>
            </a:r>
          </a:p>
          <a:p xmlns:a="http://schemas.openxmlformats.org/drawingml/2006/main">
            <a:r>
              <a:t>提示：路线图是计划中的工程流程，尚未代表已完成实验。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时间：0:55</a:t>
            </a:r>
          </a:p>
          <a:p xmlns:a="http://schemas.openxmlformats.org/drawingml/2006/main">
            <a:r>
              <a:t>要点：学生先按当前策略 rollout，教师在真实学生状态上反馈；公式说明状态定义与逐位置在线目标，图4展示训练到评测的闭环。</a:t>
            </a:r>
          </a:p>
          <a:p xmlns:a="http://schemas.openxmlformats.org/drawingml/2006/main">
            <a:r>
              <a:t>过渡：状态固定后，第二个变量是散度目标本身。</a:t>
            </a:r>
          </a:p>
          <a:p xmlns:a="http://schemas.openxmlformats.org/drawingml/2006/main">
            <a:r>
              <a:t>提示：图4为计划流程，实际收益待实验验证。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时间：0:55</a:t>
            </a:r>
          </a:p>
          <a:p xmlns:a="http://schemas.openxmlformats.org/drawingml/2006/main">
            <a:r>
              <a:t>要点：两个 KL 公式展示不同的加权方向，Jensen-Shannon 公式给出严谨的混合分布定义；本研究在相同状态和预算下比较。</a:t>
            </a:r>
          </a:p>
          <a:p xmlns:a="http://schemas.openxmlformats.org/drawingml/2006/main">
            <a:r>
              <a:t>过渡：目标函数之外，还要控制教师反馈保留了多少信息。</a:t>
            </a:r>
          </a:p>
          <a:p xmlns:a="http://schemas.openxmlformats.org/drawingml/2006/main">
            <a:r>
              <a:t>提示：行为解释是研究假设，结论待实验验证。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时间：0:55</a:t>
            </a:r>
          </a:p>
          <a:p xmlns:a="http://schemas.openxmlformats.org/drawingml/2006/main">
            <a:r>
              <a:t>要点：Top-K 公式明确支持集截断与重新归一化，K1 公式明确它是教师交叉熵项的单样本估计；三种粒度共享预算。</a:t>
            </a:r>
          </a:p>
          <a:p xmlns:a="http://schemas.openxmlformats.org/drawingml/2006/main">
            <a:r>
              <a:t>过渡：接下来说明如何控制变量并进行公平比较。</a:t>
            </a:r>
          </a:p>
          <a:p xmlns:a="http://schemas.openxmlformats.org/drawingml/2006/main">
            <a:r>
              <a:t>提示：三种粒度的效果、稳定性和成本均待实验验证。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时间：0:55</a:t>
            </a:r>
          </a:p>
          <a:p xmlns:a="http://schemas.openxmlformats.org/drawingml/2006/main">
            <a:r>
              <a:t>要点：固定模型、数据、LoRA、训练预算、生成参数与评测脚本；同时报告任务、稳定性、资源和可追溯性指标。</a:t>
            </a:r>
          </a:p>
          <a:p xmlns:a="http://schemas.openxmlformats.org/drawingml/2006/main">
            <a:r>
              <a:t>过渡：最后给出当前计划、风险与预期产出。</a:t>
            </a:r>
          </a:p>
          <a:p xmlns:a="http://schemas.openxmlformats.org/drawingml/2006/main">
            <a:r>
              <a:t>提示：正式实验至少 3 个随机种子，所有性能结论待实验验证。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时间：0:45</a:t>
            </a:r>
          </a:p>
          <a:p xmlns:a="http://schemas.openxmlformats.org/drawingml/2006/main">
            <a:r>
              <a:t>要点：按月份说明文献与方案、基线实现、正式实验、论文初稿、修改与答辩的安排。</a:t>
            </a:r>
          </a:p>
          <a:p xmlns:a="http://schemas.openxmlformats.org/drawingml/2006/main">
            <a:r>
              <a:t>过渡：计划之外，还需要提前识别预期贡献与主要风险。</a:t>
            </a:r>
          </a:p>
          <a:p xmlns:a="http://schemas.openxmlformats.org/drawingml/2006/main">
            <a:r>
              <a:t>提示：时间表是当前计划，实际节点将随实验进展调整。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时间：0:45</a:t>
            </a:r>
          </a:p>
          <a:p xmlns:a="http://schemas.openxmlformats.org/drawingml/2006/main">
            <a:r>
              <a:t>要点：预期产出是统一协议、受控比较、分层评测与资源报告；风险集中在兼容性、成本、指标脱节和算力窗口。</a:t>
            </a:r>
          </a:p>
          <a:p xmlns:a="http://schemas.openxmlformats.org/drawingml/2006/main">
            <a:r>
              <a:t>过渡：以上内容汇报完毕，进入答辩交流。</a:t>
            </a:r>
          </a:p>
          <a:p xmlns:a="http://schemas.openxmlformats.org/drawingml/2006/main">
            <a:r>
              <a:t>提示：此页只列出预期贡献和风险，不把预期写成已验证结果。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时间：0:20 + 交流</a:t>
            </a:r>
          </a:p>
          <a:p xmlns:a="http://schemas.openxmlformats.org/drawingml/2006/main">
            <a:r>
              <a:t>要点：感谢老师，准备围绕研究问题、控制变量、成本预算与待验证实验假设回答。</a:t>
            </a:r>
          </a:p>
          <a:p xmlns:a="http://schemas.openxmlformats.org/drawingml/2006/main">
            <a:r>
              <a:t>过渡：邀请老师提问。</a:t>
            </a:r>
          </a:p>
          <a:p xmlns:a="http://schemas.openxmlformats.org/drawingml/2006/main">
            <a:r>
              <a:t>提示：交流页不包含任何实验结果。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880aa8f43946f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225befb9c44c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a5023ebd064d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b8f9afe3b940c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3d377e9f444cf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64b947987042e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0f9fda9d71427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314e77e6cd495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99e6454a5b487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131f171b28466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ca3e02cf7d4d5b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368faa6f6fac4f00" /><Relationship Type="http://schemas.openxmlformats.org/officeDocument/2006/relationships/theme" Target="/ppt/slideMasters/theme/theme2.xml" Id="Rae0f819b4c164263" /><Relationship Type="http://schemas.openxmlformats.org/officeDocument/2006/relationships/slideLayout" Target="/ppt/slideLayouts/slideLayout1.xml" Id="R3de02a9c61b94d4f" /><Relationship Type="http://schemas.openxmlformats.org/officeDocument/2006/relationships/slideLayout" Target="/ppt/slideLayouts/slideLayout2.xml" Id="Rf9927d794f244d12" /><Relationship Type="http://schemas.openxmlformats.org/officeDocument/2006/relationships/slideLayout" Target="/ppt/slideLayouts/slideLayout3.xml" Id="R204aaefb0889402a" /><Relationship Type="http://schemas.openxmlformats.org/officeDocument/2006/relationships/slideLayout" Target="/ppt/slideLayouts/slideLayout4.xml" Id="R2bb41c1fdedc4502" /><Relationship Type="http://schemas.openxmlformats.org/officeDocument/2006/relationships/slideLayout" Target="/ppt/slideLayouts/slideLayout5.xml" Id="R47bf2b7a9a5e46f6" /><Relationship Type="http://schemas.openxmlformats.org/officeDocument/2006/relationships/slideLayout" Target="/ppt/slideLayouts/slideLayout6.xml" Id="R54facc3859954f11" /><Relationship Type="http://schemas.openxmlformats.org/officeDocument/2006/relationships/slideLayout" Target="/ppt/slideLayouts/slideLayout7.xml" Id="R33295dcd4ea64aee" /><Relationship Type="http://schemas.openxmlformats.org/officeDocument/2006/relationships/slideLayout" Target="/ppt/slideLayouts/slideLayout8.xml" Id="R7e8711451ff04004" /><Relationship Type="http://schemas.openxmlformats.org/officeDocument/2006/relationships/slideLayout" Target="/ppt/slideLayouts/slideLayout9.xml" Id="Raa0f7268c14147c2" /><Relationship Type="http://schemas.openxmlformats.org/officeDocument/2006/relationships/slideLayout" Target="/ppt/slideLayouts/slideLayout10.xml" Id="R972fd69aa61f4313" /><Relationship Type="http://schemas.openxmlformats.org/officeDocument/2006/relationships/slideLayout" Target="/ppt/slideLayouts/slideLayout11.xml" Id="R8c02897041fd4fe0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68faa6f6fac4f0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e02a9c61b94d4f"/>
    <p:sldLayoutId xmlns:r="http://schemas.openxmlformats.org/officeDocument/2006/relationships" id="2147483650" r:id="Rf9927d794f244d12"/>
    <p:sldLayoutId xmlns:r="http://schemas.openxmlformats.org/officeDocument/2006/relationships" id="2147483651" r:id="R204aaefb0889402a"/>
    <p:sldLayoutId xmlns:r="http://schemas.openxmlformats.org/officeDocument/2006/relationships" id="2147483652" r:id="R2bb41c1fdedc4502"/>
    <p:sldLayoutId xmlns:r="http://schemas.openxmlformats.org/officeDocument/2006/relationships" id="2147483653" r:id="R47bf2b7a9a5e46f6"/>
    <p:sldLayoutId xmlns:r="http://schemas.openxmlformats.org/officeDocument/2006/relationships" id="2147483654" r:id="R54facc3859954f11"/>
    <p:sldLayoutId xmlns:r="http://schemas.openxmlformats.org/officeDocument/2006/relationships" id="2147483655" r:id="R33295dcd4ea64aee"/>
    <p:sldLayoutId xmlns:r="http://schemas.openxmlformats.org/officeDocument/2006/relationships" id="2147483656" r:id="R7e8711451ff04004"/>
    <p:sldLayoutId xmlns:r="http://schemas.openxmlformats.org/officeDocument/2006/relationships" id="2147483657" r:id="Raa0f7268c14147c2"/>
    <p:sldLayoutId xmlns:r="http://schemas.openxmlformats.org/officeDocument/2006/relationships" id="2147483658" r:id="R972fd69aa61f4313"/>
    <p:sldLayoutId xmlns:r="http://schemas.openxmlformats.org/officeDocument/2006/relationships" id="2147483659" r:id="R8c02897041fd4fe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a5fc728b3479f" /><Relationship Type="http://schemas.openxmlformats.org/officeDocument/2006/relationships/image" Target="/ppt/media/image.png" Id="Rb9f02e993ac3468e" /><Relationship Type="http://schemas.openxmlformats.org/officeDocument/2006/relationships/image" Target="/ppt/media/image2.png" Id="R9edd1c64ddfc4149" /><Relationship Type="http://schemas.openxmlformats.org/officeDocument/2006/relationships/image" Target="/ppt/media/image3.png" Id="R7904a91680f747bb" /><Relationship Type="http://schemas.openxmlformats.org/officeDocument/2006/relationships/notesSlide" Target="/ppt/notesSlides/notesSlide1.xml" Id="Rd5299ae7b55149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eee1318b444981" /><Relationship Type="http://schemas.openxmlformats.org/officeDocument/2006/relationships/notesSlide" Target="/ppt/notesSlides/notesSlide2.xml" Id="Rdf41f42c5eb54e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3e6b8c34b04bd5" /><Relationship Type="http://schemas.openxmlformats.org/officeDocument/2006/relationships/image" Target="/ppt/media/image4.png" Id="Rffd4484fda8a4b8a" /><Relationship Type="http://schemas.openxmlformats.org/officeDocument/2006/relationships/notesSlide" Target="/ppt/notesSlides/notesSlide3.xml" Id="R27107503f9714b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8892af69924642" /><Relationship Type="http://schemas.openxmlformats.org/officeDocument/2006/relationships/image" Target="/ppt/media/image5.png" Id="Rf56208e15f024afc" /><Relationship Type="http://schemas.openxmlformats.org/officeDocument/2006/relationships/notesSlide" Target="/ppt/notesSlides/notesSlide4.xml" Id="Rf413d3b4ebea4c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c27022a55948b2" /><Relationship Type="http://schemas.openxmlformats.org/officeDocument/2006/relationships/image" Target="/ppt/media/image6.png" Id="Rff7c5e6ddd7c46d3" /><Relationship Type="http://schemas.openxmlformats.org/officeDocument/2006/relationships/image" Target="/ppt/media/image7.png" Id="R0997a9cb835b4dd6" /><Relationship Type="http://schemas.openxmlformats.org/officeDocument/2006/relationships/image" Target="/ppt/media/image8.png" Id="Rbf45c7abd29e47f0" /><Relationship Type="http://schemas.openxmlformats.org/officeDocument/2006/relationships/notesSlide" Target="/ppt/notesSlides/notesSlide5.xml" Id="R2dc1c25b29944e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62948cdc8b4e3a" /><Relationship Type="http://schemas.openxmlformats.org/officeDocument/2006/relationships/image" Target="/ppt/media/image9.png" Id="R7c6e165da11b44b7" /><Relationship Type="http://schemas.openxmlformats.org/officeDocument/2006/relationships/image" Target="/ppt/media/image10.png" Id="Rf206c0163956431e" /><Relationship Type="http://schemas.openxmlformats.org/officeDocument/2006/relationships/image" Target="/ppt/media/image11.png" Id="R9cbf69fbd12d4616" /><Relationship Type="http://schemas.openxmlformats.org/officeDocument/2006/relationships/notesSlide" Target="/ppt/notesSlides/notesSlide6.xml" Id="R47e327a66e2a4f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d07989d18d4efa" /><Relationship Type="http://schemas.openxmlformats.org/officeDocument/2006/relationships/image" Target="/ppt/media/image12.png" Id="R58db7dafc5b34989" /><Relationship Type="http://schemas.openxmlformats.org/officeDocument/2006/relationships/image" Target="/ppt/media/image13.png" Id="Rc96ae77bf8764321" /><Relationship Type="http://schemas.openxmlformats.org/officeDocument/2006/relationships/notesSlide" Target="/ppt/notesSlides/notesSlide7.xml" Id="Re42df2116b0b4b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6f4c2323a8467e" /><Relationship Type="http://schemas.openxmlformats.org/officeDocument/2006/relationships/notesSlide" Target="/ppt/notesSlides/notesSlide8.xml" Id="R16eb2dec18c947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83f2f939f74b6c" /><Relationship Type="http://schemas.openxmlformats.org/officeDocument/2006/relationships/image" Target="/ppt/media/image2.jpeg" Id="R5b3d50b184344600" /><Relationship Type="http://schemas.openxmlformats.org/officeDocument/2006/relationships/image" Target="/ppt/media/image.png" Id="Re3e4200ee20a4df8" /><Relationship Type="http://schemas.openxmlformats.org/officeDocument/2006/relationships/image" Target="/ppt/media/image2.png" Id="R94b584f4a3194b12" /><Relationship Type="http://schemas.openxmlformats.org/officeDocument/2006/relationships/image" Target="/ppt/media/image3.png" Id="R92845b7633ae49b6" /><Relationship Type="http://schemas.openxmlformats.org/officeDocument/2006/relationships/image" Target="/ppt/media/image14.png" Id="R2003e9363d874892" /><Relationship Type="http://schemas.openxmlformats.org/officeDocument/2006/relationships/notesSlide" Target="/ppt/notesSlides/notesSlide9.xml" Id="Rcd68994ae1354e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6cbb62046549c1" /><Relationship Type="http://schemas.openxmlformats.org/officeDocument/2006/relationships/image" Target="/ppt/media/image2.jpeg" Id="R164dd156e0984789" /><Relationship Type="http://schemas.openxmlformats.org/officeDocument/2006/relationships/image" Target="/ppt/media/image.png" Id="Rfa17d2f9479c4013" /><Relationship Type="http://schemas.openxmlformats.org/officeDocument/2006/relationships/image" Target="/ppt/media/image2.png" Id="Re4e9d97f2a9546ee" /><Relationship Type="http://schemas.openxmlformats.org/officeDocument/2006/relationships/image" Target="/ppt/media/image3.png" Id="R203ec6b3498548e3" /><Relationship Type="http://schemas.openxmlformats.org/officeDocument/2006/relationships/notesSlide" Target="/ppt/notesSlides/notesSlide10.xml" Id="R5d5074ed3e304f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20691bc5db4670" /><Relationship Type="http://schemas.openxmlformats.org/officeDocument/2006/relationships/image" Target="/ppt/media/image9.png" Id="R6ac11d7a23ea4932" /><Relationship Type="http://schemas.openxmlformats.org/officeDocument/2006/relationships/image" Target="/ppt/media/image10.png" Id="Rf98df9cfdf2245de" /><Relationship Type="http://schemas.openxmlformats.org/officeDocument/2006/relationships/image" Target="/ppt/media/image11.png" Id="R48fdd2f8a9984c75" /><Relationship Type="http://schemas.openxmlformats.org/officeDocument/2006/relationships/notesSlide" Target="/ppt/notesSlides/notesSlide11.xml" Id="R756c13c119da48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02e993ac346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79282" y="3602075"/>
            <a:ext cx="6287881" cy="2749276"/>
          </a:xfrm>
          <a:prstGeom xmlns:a="http://schemas.openxmlformats.org/drawingml/2006/main" prst="rect">
            <a:avLst/>
          </a:prstGeom>
        </p:spPr>
      </p:pic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619E822-A312-4996-BF30-6158F3CF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" y="6296878"/>
            <a:ext cx="12191999" cy="5611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75"/>
          </a:solidFill>
          <a:ln xmlns:a="http://schemas.openxmlformats.org/drawingml/2006/main">
            <a:solidFill>
              <a:srgbClr val="00537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140C4FE-E654-4099-8A71-50978901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0206"/>
            <a:ext cx="12192000" cy="21736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75"/>
          </a:solidFill>
          <a:ln xmlns:a="http://schemas.openxmlformats.org/drawingml/2006/main">
            <a:solidFill>
              <a:srgbClr val="00537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0479655-78CC-4E9E-9D68-DE6F8D17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" y="672215"/>
            <a:ext cx="1117428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537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9FE66E0-5ABC-4588-A4C1-9C571653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50" y="5386000"/>
            <a:ext cx="11214100" cy="6804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/>
          <a:lstStyle xmlns:a="http://schemas.openxmlformats.org/drawingml/2006/main"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725">
                <a:solidFill>
                  <a:srgbClr val="075C7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075C79"/>
                </a:solidFill>
                <a:latin typeface="微软雅黑"/>
                <a:ea typeface="微软雅黑"/>
                <a:cs typeface="微软雅黑"/>
              </a:rPr>
              <a:t>2026年9月27日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3A412CF4-80D5-4B84-AC6D-AF89583F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4934"/>
            <a:ext cx="411988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75C79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75C79"/>
                </a:solidFill>
                <a:latin typeface="微软雅黑"/>
                <a:ea typeface="微软雅黑"/>
                <a:cs typeface="微软雅黑"/>
              </a:rPr>
              <a:t>本科毕业设计开题答辩</a:t>
            </a:r>
          </a:p>
        </p:txBody>
      </p:sp>
      <p:pic>
        <p:nvPicPr>
          <p:cNvPr id="24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dd1c64ddfc41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48710" y="228600"/>
            <a:ext cx="1061070" cy="463936"/>
          </a:xfrm>
          <a:prstGeom xmlns:a="http://schemas.openxmlformats.org/drawingml/2006/main" prst="rect">
            <a:avLst/>
          </a:prstGeom>
        </p:spPr>
      </p:pic>
      <p:pic>
        <p:nvPicPr>
          <p:cNvPr id="25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4a91680f747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0314" y="6415212"/>
            <a:ext cx="1655733" cy="324128"/>
          </a:xfrm>
          <a:prstGeom xmlns:a="http://schemas.openxmlformats.org/drawingml/2006/main" prst="rect">
            <a:avLst/>
          </a:prstGeom>
        </p:spPr>
      </p:pic>
      <p:sp>
        <p:nvSpPr>
          <p:cNvPr id="1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077F7373-2BDF-4355-8F9E-745B8B33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50" y="4070300"/>
            <a:ext cx="11214100" cy="6804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/>
          <a:lstStyle xmlns:a="http://schemas.openxmlformats.org/drawingml/2006/main"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800">
                <a:solidFill>
                  <a:srgbClr val="075C7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75C79"/>
                </a:solidFill>
                <a:latin typeface="微软雅黑"/>
                <a:ea typeface="微软雅黑"/>
                <a:cs typeface="微软雅黑"/>
              </a:rPr>
              <a:t>计算机科学与技术</a:t>
            </a:r>
            <a:endParaRPr b="1">
              <a:solidFill>
                <a:srgbClr val="00537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B786D1-A662-4750-B853-D343D6F1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82" y="1382173"/>
            <a:ext cx="11201400" cy="2069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基于在线策略蒸馏的</a:t>
            </a:r>
          </a:p>
          <a:p xmlns:a="http://schemas.openxmlformats.org/drawingml/2006/main">
            <a:pPr algn="ctr">
              <a:defRPr sz="3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大语言模型后训练方法研究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A0FEA-F474-4A23-B51B-8A984941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18" y="4728115"/>
            <a:ext cx="11214068" cy="680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075C79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075C79"/>
                </a:solidFill>
                <a:latin typeface="微软雅黑"/>
                <a:ea typeface="微软雅黑"/>
                <a:cs typeface="微软雅黑"/>
              </a:rPr>
              <a:t>汇报人：张子琦</a:t>
            </a:r>
          </a:p>
        </p:txBody>
      </p:sp>
    </p:spTree>
    <p:extLst>
      <p:ext uri="{BB962C8B-B14F-4D97-AF65-F5344CB8AC3E}">
        <p14:creationId xmlns:p14="http://schemas.microsoft.com/office/powerpoint/2010/main" val="5672577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gwheels_376015">
            <a:extLst xmlns:a="http://schemas.openxmlformats.org/drawingml/2006/main">
              <a:ext uri="{FF2B5EF4-FFF2-40B4-BE49-F238E27FC236}">
                <a16:creationId xmlns:a16="http://schemas.microsoft.com/office/drawing/2014/main" id="{86ADC6B0-98E1-40B7-A549-7F11F604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833" y="1415499"/>
            <a:ext cx="4224055" cy="4280147"/>
          </a:xfrm>
          <a:custGeom xmlns:a="http://schemas.openxmlformats.org/drawingml/2006/main">
            <a:gdLst>
              <a:gd name="T0" fmla="*/ 3621 w 6468"/>
              <a:gd name="T1" fmla="*/ 3299 h 6564"/>
              <a:gd name="T2" fmla="*/ 4214 w 6468"/>
              <a:gd name="T3" fmla="*/ 4727 h 6564"/>
              <a:gd name="T4" fmla="*/ 6337 w 6468"/>
              <a:gd name="T5" fmla="*/ 4571 h 6564"/>
              <a:gd name="T6" fmla="*/ 5974 w 6468"/>
              <a:gd name="T7" fmla="*/ 3603 h 6564"/>
              <a:gd name="T8" fmla="*/ 6429 w 6468"/>
              <a:gd name="T9" fmla="*/ 3225 h 6564"/>
              <a:gd name="T10" fmla="*/ 6022 w 6468"/>
              <a:gd name="T11" fmla="*/ 2697 h 6564"/>
              <a:gd name="T12" fmla="*/ 5080 w 6468"/>
              <a:gd name="T13" fmla="*/ 2269 h 6564"/>
              <a:gd name="T14" fmla="*/ 5136 w 6468"/>
              <a:gd name="T15" fmla="*/ 1681 h 6564"/>
              <a:gd name="T16" fmla="*/ 4477 w 6468"/>
              <a:gd name="T17" fmla="*/ 1593 h 6564"/>
              <a:gd name="T18" fmla="*/ 3837 w 6468"/>
              <a:gd name="T19" fmla="*/ 1917 h 6564"/>
              <a:gd name="T20" fmla="*/ 3357 w 6468"/>
              <a:gd name="T21" fmla="*/ 2412 h 6564"/>
              <a:gd name="T22" fmla="*/ 3445 w 6468"/>
              <a:gd name="T23" fmla="*/ 2889 h 6564"/>
              <a:gd name="T24" fmla="*/ 5048 w 6468"/>
              <a:gd name="T25" fmla="*/ 3547 h 6564"/>
              <a:gd name="T26" fmla="*/ 2792 w 6468"/>
              <a:gd name="T27" fmla="*/ 4483 h 6564"/>
              <a:gd name="T28" fmla="*/ 2397 w 6468"/>
              <a:gd name="T29" fmla="*/ 3364 h 6564"/>
              <a:gd name="T30" fmla="*/ 1830 w 6468"/>
              <a:gd name="T31" fmla="*/ 3843 h 6564"/>
              <a:gd name="T32" fmla="*/ 1502 w 6468"/>
              <a:gd name="T33" fmla="*/ 4577 h 6564"/>
              <a:gd name="T34" fmla="*/ 1589 w 6468"/>
              <a:gd name="T35" fmla="*/ 5239 h 6564"/>
              <a:gd name="T36" fmla="*/ 2178 w 6468"/>
              <a:gd name="T37" fmla="*/ 5181 h 6564"/>
              <a:gd name="T38" fmla="*/ 2609 w 6468"/>
              <a:gd name="T39" fmla="*/ 6123 h 6564"/>
              <a:gd name="T40" fmla="*/ 3138 w 6468"/>
              <a:gd name="T41" fmla="*/ 6528 h 6564"/>
              <a:gd name="T42" fmla="*/ 3513 w 6468"/>
              <a:gd name="T43" fmla="*/ 6072 h 6564"/>
              <a:gd name="T44" fmla="*/ 4484 w 6468"/>
              <a:gd name="T45" fmla="*/ 6433 h 6564"/>
              <a:gd name="T46" fmla="*/ 5145 w 6468"/>
              <a:gd name="T47" fmla="*/ 6347 h 6564"/>
              <a:gd name="T48" fmla="*/ 5088 w 6468"/>
              <a:gd name="T49" fmla="*/ 5759 h 6564"/>
              <a:gd name="T50" fmla="*/ 6029 w 6468"/>
              <a:gd name="T51" fmla="*/ 5328 h 6564"/>
              <a:gd name="T52" fmla="*/ 6434 w 6468"/>
              <a:gd name="T53" fmla="*/ 4799 h 6564"/>
              <a:gd name="T54" fmla="*/ 370 w 6468"/>
              <a:gd name="T55" fmla="*/ 1975 h 6564"/>
              <a:gd name="T56" fmla="*/ 0 w 6468"/>
              <a:gd name="T57" fmla="*/ 1827 h 6564"/>
              <a:gd name="T58" fmla="*/ 148 w 6468"/>
              <a:gd name="T59" fmla="*/ 1436 h 6564"/>
              <a:gd name="T60" fmla="*/ 580 w 6468"/>
              <a:gd name="T61" fmla="*/ 947 h 6564"/>
              <a:gd name="T62" fmla="*/ 424 w 6468"/>
              <a:gd name="T63" fmla="*/ 583 h 6564"/>
              <a:gd name="T64" fmla="*/ 802 w 6468"/>
              <a:gd name="T65" fmla="*/ 412 h 6564"/>
              <a:gd name="T66" fmla="*/ 1454 w 6468"/>
              <a:gd name="T67" fmla="*/ 371 h 6564"/>
              <a:gd name="T68" fmla="*/ 1602 w 6468"/>
              <a:gd name="T69" fmla="*/ 0 h 6564"/>
              <a:gd name="T70" fmla="*/ 1993 w 6468"/>
              <a:gd name="T71" fmla="*/ 148 h 6564"/>
              <a:gd name="T72" fmla="*/ 2482 w 6468"/>
              <a:gd name="T73" fmla="*/ 580 h 6564"/>
              <a:gd name="T74" fmla="*/ 2848 w 6468"/>
              <a:gd name="T75" fmla="*/ 423 h 6564"/>
              <a:gd name="T76" fmla="*/ 3018 w 6468"/>
              <a:gd name="T77" fmla="*/ 801 h 6564"/>
              <a:gd name="T78" fmla="*/ 3060 w 6468"/>
              <a:gd name="T79" fmla="*/ 1453 h 6564"/>
              <a:gd name="T80" fmla="*/ 3430 w 6468"/>
              <a:gd name="T81" fmla="*/ 1601 h 6564"/>
              <a:gd name="T82" fmla="*/ 3282 w 6468"/>
              <a:gd name="T83" fmla="*/ 1992 h 6564"/>
              <a:gd name="T84" fmla="*/ 2850 w 6468"/>
              <a:gd name="T85" fmla="*/ 2481 h 6564"/>
              <a:gd name="T86" fmla="*/ 3008 w 6468"/>
              <a:gd name="T87" fmla="*/ 2847 h 6564"/>
              <a:gd name="T88" fmla="*/ 2629 w 6468"/>
              <a:gd name="T89" fmla="*/ 3017 h 6564"/>
              <a:gd name="T90" fmla="*/ 1977 w 6468"/>
              <a:gd name="T91" fmla="*/ 3059 h 6564"/>
              <a:gd name="T92" fmla="*/ 1829 w 6468"/>
              <a:gd name="T93" fmla="*/ 3429 h 6564"/>
              <a:gd name="T94" fmla="*/ 1438 w 6468"/>
              <a:gd name="T95" fmla="*/ 3281 h 6564"/>
              <a:gd name="T96" fmla="*/ 949 w 6468"/>
              <a:gd name="T97" fmla="*/ 2849 h 6564"/>
              <a:gd name="T98" fmla="*/ 584 w 6468"/>
              <a:gd name="T99" fmla="*/ 3007 h 6564"/>
              <a:gd name="T100" fmla="*/ 413 w 6468"/>
              <a:gd name="T101" fmla="*/ 2628 h 6564"/>
              <a:gd name="T102" fmla="*/ 370 w 6468"/>
              <a:gd name="T103" fmla="*/ 1975 h 6564"/>
              <a:gd name="T104" fmla="*/ 2173 w 6468"/>
              <a:gd name="T105" fmla="*/ 2177 h 6564"/>
              <a:gd name="T106" fmla="*/ 1257 w 6468"/>
              <a:gd name="T107" fmla="*/ 1251 h 6564"/>
            </a:gdLst>
            <a:rect l="0" t="0" r="r" b="b"/>
            <a:pathLst>
              <a:path w="6468" h="6564">
                <a:moveTo>
                  <a:pt x="3204" y="4309"/>
                </a:moveTo>
                <a:cubicBezTo>
                  <a:pt x="3040" y="3916"/>
                  <a:pt x="3228" y="3463"/>
                  <a:pt x="3621" y="3299"/>
                </a:cubicBezTo>
                <a:cubicBezTo>
                  <a:pt x="4014" y="3135"/>
                  <a:pt x="4468" y="3323"/>
                  <a:pt x="4632" y="3716"/>
                </a:cubicBezTo>
                <a:cubicBezTo>
                  <a:pt x="4796" y="4109"/>
                  <a:pt x="4608" y="4563"/>
                  <a:pt x="4214" y="4727"/>
                </a:cubicBezTo>
                <a:cubicBezTo>
                  <a:pt x="3821" y="4891"/>
                  <a:pt x="3368" y="4703"/>
                  <a:pt x="3204" y="4309"/>
                </a:cubicBezTo>
                <a:close/>
                <a:moveTo>
                  <a:pt x="6337" y="4571"/>
                </a:moveTo>
                <a:lnTo>
                  <a:pt x="5974" y="4421"/>
                </a:lnTo>
                <a:cubicBezTo>
                  <a:pt x="6028" y="4156"/>
                  <a:pt x="6029" y="3877"/>
                  <a:pt x="5974" y="3603"/>
                </a:cubicBezTo>
                <a:lnTo>
                  <a:pt x="6336" y="3452"/>
                </a:lnTo>
                <a:cubicBezTo>
                  <a:pt x="6424" y="3416"/>
                  <a:pt x="6466" y="3315"/>
                  <a:pt x="6429" y="3225"/>
                </a:cubicBezTo>
                <a:lnTo>
                  <a:pt x="6249" y="2791"/>
                </a:lnTo>
                <a:cubicBezTo>
                  <a:pt x="6213" y="2703"/>
                  <a:pt x="6112" y="2660"/>
                  <a:pt x="6022" y="2697"/>
                </a:cubicBezTo>
                <a:lnTo>
                  <a:pt x="5660" y="2848"/>
                </a:lnTo>
                <a:cubicBezTo>
                  <a:pt x="5504" y="2615"/>
                  <a:pt x="5305" y="2419"/>
                  <a:pt x="5080" y="2269"/>
                </a:cubicBezTo>
                <a:lnTo>
                  <a:pt x="5229" y="1907"/>
                </a:lnTo>
                <a:cubicBezTo>
                  <a:pt x="5265" y="1819"/>
                  <a:pt x="5224" y="1717"/>
                  <a:pt x="5136" y="1681"/>
                </a:cubicBezTo>
                <a:lnTo>
                  <a:pt x="4702" y="1500"/>
                </a:lnTo>
                <a:cubicBezTo>
                  <a:pt x="4614" y="1464"/>
                  <a:pt x="4513" y="1505"/>
                  <a:pt x="4477" y="1593"/>
                </a:cubicBezTo>
                <a:lnTo>
                  <a:pt x="4328" y="1956"/>
                </a:lnTo>
                <a:cubicBezTo>
                  <a:pt x="4168" y="1924"/>
                  <a:pt x="4002" y="1911"/>
                  <a:pt x="3837" y="1917"/>
                </a:cubicBezTo>
                <a:cubicBezTo>
                  <a:pt x="3804" y="2165"/>
                  <a:pt x="3609" y="2361"/>
                  <a:pt x="3364" y="2397"/>
                </a:cubicBezTo>
                <a:cubicBezTo>
                  <a:pt x="3361" y="2403"/>
                  <a:pt x="3360" y="2407"/>
                  <a:pt x="3357" y="2412"/>
                </a:cubicBezTo>
                <a:cubicBezTo>
                  <a:pt x="3426" y="2507"/>
                  <a:pt x="3465" y="2621"/>
                  <a:pt x="3465" y="2743"/>
                </a:cubicBezTo>
                <a:cubicBezTo>
                  <a:pt x="3465" y="2793"/>
                  <a:pt x="3458" y="2841"/>
                  <a:pt x="3445" y="2889"/>
                </a:cubicBezTo>
                <a:cubicBezTo>
                  <a:pt x="3448" y="2888"/>
                  <a:pt x="3449" y="2887"/>
                  <a:pt x="3452" y="2887"/>
                </a:cubicBezTo>
                <a:cubicBezTo>
                  <a:pt x="4073" y="2628"/>
                  <a:pt x="4789" y="2924"/>
                  <a:pt x="5048" y="3547"/>
                </a:cubicBezTo>
                <a:cubicBezTo>
                  <a:pt x="5306" y="4168"/>
                  <a:pt x="5010" y="4884"/>
                  <a:pt x="4388" y="5143"/>
                </a:cubicBezTo>
                <a:cubicBezTo>
                  <a:pt x="3766" y="5401"/>
                  <a:pt x="3050" y="5105"/>
                  <a:pt x="2792" y="4483"/>
                </a:cubicBezTo>
                <a:cubicBezTo>
                  <a:pt x="2650" y="4140"/>
                  <a:pt x="2676" y="3771"/>
                  <a:pt x="2832" y="3464"/>
                </a:cubicBezTo>
                <a:cubicBezTo>
                  <a:pt x="2682" y="3491"/>
                  <a:pt x="2524" y="3459"/>
                  <a:pt x="2397" y="3364"/>
                </a:cubicBezTo>
                <a:cubicBezTo>
                  <a:pt x="2392" y="3367"/>
                  <a:pt x="2388" y="3368"/>
                  <a:pt x="2382" y="3369"/>
                </a:cubicBezTo>
                <a:cubicBezTo>
                  <a:pt x="2341" y="3637"/>
                  <a:pt x="2109" y="3843"/>
                  <a:pt x="1830" y="3843"/>
                </a:cubicBezTo>
                <a:cubicBezTo>
                  <a:pt x="1814" y="4035"/>
                  <a:pt x="1824" y="4231"/>
                  <a:pt x="1864" y="4427"/>
                </a:cubicBezTo>
                <a:lnTo>
                  <a:pt x="1502" y="4577"/>
                </a:lnTo>
                <a:cubicBezTo>
                  <a:pt x="1414" y="4613"/>
                  <a:pt x="1372" y="4715"/>
                  <a:pt x="1409" y="4804"/>
                </a:cubicBezTo>
                <a:lnTo>
                  <a:pt x="1589" y="5239"/>
                </a:lnTo>
                <a:cubicBezTo>
                  <a:pt x="1625" y="5327"/>
                  <a:pt x="1726" y="5369"/>
                  <a:pt x="1816" y="5332"/>
                </a:cubicBezTo>
                <a:lnTo>
                  <a:pt x="2178" y="5181"/>
                </a:lnTo>
                <a:cubicBezTo>
                  <a:pt x="2334" y="5415"/>
                  <a:pt x="2533" y="5611"/>
                  <a:pt x="2758" y="5760"/>
                </a:cubicBezTo>
                <a:lnTo>
                  <a:pt x="2609" y="6123"/>
                </a:lnTo>
                <a:cubicBezTo>
                  <a:pt x="2573" y="6211"/>
                  <a:pt x="2614" y="6312"/>
                  <a:pt x="2702" y="6348"/>
                </a:cubicBezTo>
                <a:lnTo>
                  <a:pt x="3138" y="6528"/>
                </a:lnTo>
                <a:cubicBezTo>
                  <a:pt x="3226" y="6564"/>
                  <a:pt x="3328" y="6523"/>
                  <a:pt x="3364" y="6435"/>
                </a:cubicBezTo>
                <a:lnTo>
                  <a:pt x="3513" y="6072"/>
                </a:lnTo>
                <a:cubicBezTo>
                  <a:pt x="3778" y="6125"/>
                  <a:pt x="4057" y="6127"/>
                  <a:pt x="4333" y="6072"/>
                </a:cubicBezTo>
                <a:lnTo>
                  <a:pt x="4484" y="6433"/>
                </a:lnTo>
                <a:cubicBezTo>
                  <a:pt x="4520" y="6521"/>
                  <a:pt x="4621" y="6564"/>
                  <a:pt x="4710" y="6527"/>
                </a:cubicBezTo>
                <a:lnTo>
                  <a:pt x="5145" y="6347"/>
                </a:lnTo>
                <a:cubicBezTo>
                  <a:pt x="5233" y="6311"/>
                  <a:pt x="5276" y="6209"/>
                  <a:pt x="5238" y="6120"/>
                </a:cubicBezTo>
                <a:lnTo>
                  <a:pt x="5088" y="5759"/>
                </a:lnTo>
                <a:cubicBezTo>
                  <a:pt x="5321" y="5603"/>
                  <a:pt x="5517" y="5404"/>
                  <a:pt x="5666" y="5179"/>
                </a:cubicBezTo>
                <a:lnTo>
                  <a:pt x="6029" y="5328"/>
                </a:lnTo>
                <a:cubicBezTo>
                  <a:pt x="6117" y="5364"/>
                  <a:pt x="6218" y="5323"/>
                  <a:pt x="6254" y="5235"/>
                </a:cubicBezTo>
                <a:lnTo>
                  <a:pt x="6434" y="4799"/>
                </a:lnTo>
                <a:cubicBezTo>
                  <a:pt x="6468" y="4708"/>
                  <a:pt x="6425" y="4608"/>
                  <a:pt x="6337" y="4571"/>
                </a:cubicBezTo>
                <a:close/>
                <a:moveTo>
                  <a:pt x="370" y="1975"/>
                </a:moveTo>
                <a:lnTo>
                  <a:pt x="145" y="1973"/>
                </a:lnTo>
                <a:cubicBezTo>
                  <a:pt x="65" y="1973"/>
                  <a:pt x="0" y="1908"/>
                  <a:pt x="0" y="1827"/>
                </a:cubicBezTo>
                <a:lnTo>
                  <a:pt x="1" y="1581"/>
                </a:lnTo>
                <a:cubicBezTo>
                  <a:pt x="1" y="1501"/>
                  <a:pt x="66" y="1436"/>
                  <a:pt x="148" y="1436"/>
                </a:cubicBezTo>
                <a:lnTo>
                  <a:pt x="373" y="1437"/>
                </a:lnTo>
                <a:cubicBezTo>
                  <a:pt x="408" y="1264"/>
                  <a:pt x="477" y="1097"/>
                  <a:pt x="580" y="947"/>
                </a:cubicBezTo>
                <a:lnTo>
                  <a:pt x="422" y="788"/>
                </a:lnTo>
                <a:cubicBezTo>
                  <a:pt x="366" y="731"/>
                  <a:pt x="366" y="639"/>
                  <a:pt x="424" y="583"/>
                </a:cubicBezTo>
                <a:lnTo>
                  <a:pt x="597" y="411"/>
                </a:lnTo>
                <a:cubicBezTo>
                  <a:pt x="654" y="355"/>
                  <a:pt x="746" y="355"/>
                  <a:pt x="802" y="412"/>
                </a:cubicBezTo>
                <a:lnTo>
                  <a:pt x="961" y="572"/>
                </a:lnTo>
                <a:cubicBezTo>
                  <a:pt x="1113" y="471"/>
                  <a:pt x="1281" y="404"/>
                  <a:pt x="1454" y="371"/>
                </a:cubicBezTo>
                <a:lnTo>
                  <a:pt x="1456" y="145"/>
                </a:lnTo>
                <a:cubicBezTo>
                  <a:pt x="1456" y="65"/>
                  <a:pt x="1521" y="0"/>
                  <a:pt x="1602" y="0"/>
                </a:cubicBezTo>
                <a:lnTo>
                  <a:pt x="1848" y="1"/>
                </a:lnTo>
                <a:cubicBezTo>
                  <a:pt x="1928" y="1"/>
                  <a:pt x="1993" y="67"/>
                  <a:pt x="1993" y="148"/>
                </a:cubicBezTo>
                <a:lnTo>
                  <a:pt x="1992" y="373"/>
                </a:lnTo>
                <a:cubicBezTo>
                  <a:pt x="2165" y="408"/>
                  <a:pt x="2332" y="477"/>
                  <a:pt x="2482" y="580"/>
                </a:cubicBezTo>
                <a:lnTo>
                  <a:pt x="2642" y="421"/>
                </a:lnTo>
                <a:cubicBezTo>
                  <a:pt x="2700" y="365"/>
                  <a:pt x="2792" y="365"/>
                  <a:pt x="2848" y="423"/>
                </a:cubicBezTo>
                <a:lnTo>
                  <a:pt x="3020" y="596"/>
                </a:lnTo>
                <a:cubicBezTo>
                  <a:pt x="3076" y="653"/>
                  <a:pt x="3076" y="745"/>
                  <a:pt x="3018" y="801"/>
                </a:cubicBezTo>
                <a:lnTo>
                  <a:pt x="2858" y="960"/>
                </a:lnTo>
                <a:cubicBezTo>
                  <a:pt x="2960" y="1112"/>
                  <a:pt x="3026" y="1280"/>
                  <a:pt x="3060" y="1453"/>
                </a:cubicBezTo>
                <a:lnTo>
                  <a:pt x="3285" y="1455"/>
                </a:lnTo>
                <a:cubicBezTo>
                  <a:pt x="3365" y="1455"/>
                  <a:pt x="3430" y="1520"/>
                  <a:pt x="3430" y="1601"/>
                </a:cubicBezTo>
                <a:lnTo>
                  <a:pt x="3429" y="1847"/>
                </a:lnTo>
                <a:cubicBezTo>
                  <a:pt x="3429" y="1927"/>
                  <a:pt x="3364" y="1992"/>
                  <a:pt x="3282" y="1992"/>
                </a:cubicBezTo>
                <a:lnTo>
                  <a:pt x="3057" y="1991"/>
                </a:lnTo>
                <a:cubicBezTo>
                  <a:pt x="3022" y="2164"/>
                  <a:pt x="2953" y="2331"/>
                  <a:pt x="2850" y="2481"/>
                </a:cubicBezTo>
                <a:lnTo>
                  <a:pt x="3009" y="2641"/>
                </a:lnTo>
                <a:cubicBezTo>
                  <a:pt x="3065" y="2699"/>
                  <a:pt x="3065" y="2791"/>
                  <a:pt x="3008" y="2847"/>
                </a:cubicBezTo>
                <a:lnTo>
                  <a:pt x="2834" y="3019"/>
                </a:lnTo>
                <a:cubicBezTo>
                  <a:pt x="2777" y="3075"/>
                  <a:pt x="2685" y="3075"/>
                  <a:pt x="2629" y="3017"/>
                </a:cubicBezTo>
                <a:lnTo>
                  <a:pt x="2470" y="2857"/>
                </a:lnTo>
                <a:cubicBezTo>
                  <a:pt x="2318" y="2959"/>
                  <a:pt x="2150" y="3025"/>
                  <a:pt x="1977" y="3059"/>
                </a:cubicBezTo>
                <a:lnTo>
                  <a:pt x="1976" y="3284"/>
                </a:lnTo>
                <a:cubicBezTo>
                  <a:pt x="1976" y="3364"/>
                  <a:pt x="1910" y="3429"/>
                  <a:pt x="1829" y="3429"/>
                </a:cubicBezTo>
                <a:lnTo>
                  <a:pt x="1584" y="3428"/>
                </a:lnTo>
                <a:cubicBezTo>
                  <a:pt x="1504" y="3428"/>
                  <a:pt x="1438" y="3363"/>
                  <a:pt x="1438" y="3281"/>
                </a:cubicBezTo>
                <a:lnTo>
                  <a:pt x="1440" y="3056"/>
                </a:lnTo>
                <a:cubicBezTo>
                  <a:pt x="1266" y="3021"/>
                  <a:pt x="1100" y="2952"/>
                  <a:pt x="949" y="2849"/>
                </a:cubicBezTo>
                <a:lnTo>
                  <a:pt x="789" y="3008"/>
                </a:lnTo>
                <a:cubicBezTo>
                  <a:pt x="732" y="3064"/>
                  <a:pt x="640" y="3064"/>
                  <a:pt x="584" y="3007"/>
                </a:cubicBezTo>
                <a:lnTo>
                  <a:pt x="412" y="2833"/>
                </a:lnTo>
                <a:cubicBezTo>
                  <a:pt x="356" y="2776"/>
                  <a:pt x="356" y="2684"/>
                  <a:pt x="413" y="2628"/>
                </a:cubicBezTo>
                <a:lnTo>
                  <a:pt x="573" y="2469"/>
                </a:lnTo>
                <a:cubicBezTo>
                  <a:pt x="470" y="2316"/>
                  <a:pt x="404" y="2148"/>
                  <a:pt x="370" y="1975"/>
                </a:cubicBezTo>
                <a:close/>
                <a:moveTo>
                  <a:pt x="1252" y="2172"/>
                </a:moveTo>
                <a:cubicBezTo>
                  <a:pt x="1505" y="2428"/>
                  <a:pt x="1917" y="2431"/>
                  <a:pt x="2173" y="2177"/>
                </a:cubicBezTo>
                <a:cubicBezTo>
                  <a:pt x="2429" y="1924"/>
                  <a:pt x="2432" y="1512"/>
                  <a:pt x="2178" y="1256"/>
                </a:cubicBezTo>
                <a:cubicBezTo>
                  <a:pt x="1925" y="1000"/>
                  <a:pt x="1513" y="997"/>
                  <a:pt x="1257" y="1251"/>
                </a:cubicBezTo>
                <a:cubicBezTo>
                  <a:pt x="1000" y="1504"/>
                  <a:pt x="998" y="1916"/>
                  <a:pt x="1252" y="2172"/>
                </a:cubicBezTo>
                <a:close/>
              </a:path>
            </a:pathLst>
          </a:cu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DF0B98D-1D3B-4325-8F51-999B6E7C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2458" y="1536479"/>
            <a:ext cx="559044" cy="58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7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latin typeface="Arial Black"/>
                <a:ea typeface="Arial Black"/>
                <a:cs typeface="Arial Black"/>
              </a:rPr>
              <a:t>1</a:t>
            </a:r>
            <a:endParaRPr sz="2400">
              <a:latin typeface="Arial Black"/>
              <a:ea typeface="Arial Black"/>
              <a:cs typeface="Arial Black"/>
            </a:endParaRP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B8B8B353-EC6E-47BE-93B0-A1BBE5C3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2093" y="2110111"/>
            <a:ext cx="5400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537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796423C1-73A0-4AE1-B91F-5C76FD8E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413" y="1513798"/>
            <a:ext cx="485368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latin typeface="微软雅黑"/>
                <a:ea typeface="微软雅黑"/>
                <a:cs typeface="微软雅黑"/>
              </a:rPr>
              <a:t>赛事简介和办赛条件</a:t>
            </a:r>
            <a:endParaRPr sz="28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0C875E3-E15A-468C-9F77-68F7AA54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2458" y="2461150"/>
            <a:ext cx="559044" cy="58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7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latin typeface="Arial Black"/>
                <a:ea typeface="Arial Black"/>
                <a:cs typeface="Arial Black"/>
              </a:rPr>
              <a:t>2</a:t>
            </a:r>
            <a:endParaRPr sz="2400">
              <a:latin typeface="Arial Black"/>
              <a:ea typeface="Arial Black"/>
              <a:cs typeface="Arial Black"/>
            </a:endParaRPr>
          </a:p>
        </p:txBody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BC7C7F24-0301-41C6-A395-B85D67F0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2093" y="3034782"/>
            <a:ext cx="5400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537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9DC2A4D1-34C5-42F5-B586-FA664554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413" y="2411742"/>
            <a:ext cx="485368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latin typeface="微软雅黑"/>
                <a:ea typeface="微软雅黑"/>
                <a:cs typeface="微软雅黑"/>
              </a:rPr>
              <a:t>运行模式和时间安排</a:t>
            </a:r>
            <a:endParaRPr sz="28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41F1037-D76D-457D-815B-815FC837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2458" y="3385821"/>
            <a:ext cx="559044" cy="58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7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latin typeface="Arial Black"/>
                <a:ea typeface="Arial Black"/>
                <a:cs typeface="Arial Black"/>
              </a:rPr>
              <a:t>3</a:t>
            </a:r>
            <a:endParaRPr sz="2400">
              <a:latin typeface="Arial Black"/>
              <a:ea typeface="Arial Black"/>
              <a:cs typeface="Arial Black"/>
            </a:endParaRP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8B4D2F77-1158-45AA-B43B-F5C4C9E1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2093" y="3959453"/>
            <a:ext cx="5400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537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F2F39AEA-6313-458C-82A9-F54A7D1D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413" y="3336413"/>
            <a:ext cx="485368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latin typeface="微软雅黑"/>
                <a:ea typeface="微软雅黑"/>
                <a:cs typeface="微软雅黑"/>
              </a:rPr>
              <a:t>预期赛事规模和获奖</a:t>
            </a:r>
            <a:endParaRPr sz="28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C7166C5-59A0-4C9C-84BE-2256DDB1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2458" y="4310492"/>
            <a:ext cx="559044" cy="58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7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latin typeface="Arial Black"/>
                <a:ea typeface="Arial Black"/>
                <a:cs typeface="Arial Black"/>
              </a:rPr>
              <a:t>4</a:t>
            </a:r>
            <a:endParaRPr sz="2400">
              <a:latin typeface="Arial Black"/>
              <a:ea typeface="Arial Black"/>
              <a:cs typeface="Arial Black"/>
            </a:endParaRPr>
          </a:p>
        </p:txBody>
      </p:sp>
      <p:sp>
        <p:nvSpPr>
          <p:cNvPr id="20" name="直接连接符 19">
            <a:extLst xmlns:a="http://schemas.openxmlformats.org/drawingml/2006/main">
              <a:ext uri="{FF2B5EF4-FFF2-40B4-BE49-F238E27FC236}">
                <a16:creationId xmlns:a16="http://schemas.microsoft.com/office/drawing/2014/main" id="{D5B1BD64-E1BB-4CC2-B876-D5614E52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2093" y="4884124"/>
            <a:ext cx="5400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537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C0211A6A-5636-4AF3-8E07-C0126A74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413" y="4261084"/>
            <a:ext cx="485368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latin typeface="微软雅黑"/>
                <a:ea typeface="微软雅黑"/>
                <a:cs typeface="微软雅黑"/>
              </a:rPr>
              <a:t>组织创新点和育人成效</a:t>
            </a:r>
            <a:endParaRPr sz="28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3DF01F6-C19E-4078-8369-0D201AB8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2458" y="5235162"/>
            <a:ext cx="559044" cy="58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7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latin typeface="Arial Black"/>
                <a:ea typeface="Arial Black"/>
                <a:cs typeface="Arial Black"/>
              </a:rPr>
              <a:t>5</a:t>
            </a:r>
            <a:endParaRPr sz="2400">
              <a:latin typeface="Arial Black"/>
              <a:ea typeface="Arial Black"/>
              <a:cs typeface="Arial Black"/>
            </a:endParaRPr>
          </a:p>
        </p:txBody>
      </p:sp>
      <p:sp>
        <p:nvSpPr>
          <p:cNvPr id="23" name="直接连接符 22">
            <a:extLst xmlns:a="http://schemas.openxmlformats.org/drawingml/2006/main">
              <a:ext uri="{FF2B5EF4-FFF2-40B4-BE49-F238E27FC236}">
                <a16:creationId xmlns:a16="http://schemas.microsoft.com/office/drawing/2014/main" id="{E48302F2-36FD-44BF-85AB-4F290D6D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2093" y="5808794"/>
            <a:ext cx="5400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537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F7B97590-98C8-43C2-8EF3-77F04EBB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413" y="5185754"/>
            <a:ext cx="485368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latin typeface="微软雅黑"/>
                <a:ea typeface="微软雅黑"/>
                <a:cs typeface="微软雅黑"/>
              </a:rPr>
              <a:t>经费预算</a:t>
            </a:r>
            <a:endParaRPr sz="28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DC5F8549-20C1-44D0-8372-CE5DEDF6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830" y="242797"/>
            <a:ext cx="855234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F0000"/>
                </a:solidFill>
                <a:latin typeface="幼圆"/>
                <a:ea typeface="幼圆"/>
                <a:cs typeface="幼圆"/>
              </a:rPr>
              <a:t/>
            </a:r>
            <a:endParaRPr b="1">
              <a:solidFill>
                <a:srgbClr val="FF0000"/>
              </a:solidFill>
              <a:latin typeface="幼圆"/>
              <a:ea typeface="幼圆"/>
              <a:cs typeface="幼圆"/>
            </a:endParaRP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2D299B-7C3C-4D0B-BC31-91EF718C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1555B1-9C18-453E-8242-3472C3B0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"/>
            <a:ext cx="11220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研究背景与问题缺口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288AF5-07FC-4A59-8CF8-8F725778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1220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0CAC4F-4B30-43BB-9BE7-1953DDB0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75C79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75C79"/>
                </a:solidFill>
                <a:latin typeface="微软雅黑"/>
                <a:ea typeface="微软雅黑"/>
                <a:cs typeface="微软雅黑"/>
              </a:rPr>
              <a:t>在线策略蒸馏的关键矛盾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8C4A5A-8F3E-4DD1-A125-009D4B01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AE7A11-8ABA-4CB4-BAE1-32B3FEE8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4305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状态分布发生偏移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C85D7C-9AD6-4B60-B1B4-DFF5F502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4310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F78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5F6F78"/>
                </a:solidFill>
                <a:latin typeface="微软雅黑"/>
                <a:ea typeface="微软雅黑"/>
                <a:cs typeface="微软雅黑"/>
              </a:rPr>
              <a:t>离线前缀与学生实际 rollout 不同，教师反馈难以对准真实生成状态。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1C8F6B-16E8-48FB-B7BE-C295C894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43175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F1F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3A0513-10DF-4C34-9629-F71EBF46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5B562B-771C-42EF-934E-07D1F588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146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散度与监督粒度交织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8AAB2C-178C-4D7D-9055-0D25A975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14675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F78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5F6F78"/>
                </a:solidFill>
                <a:latin typeface="微软雅黑"/>
                <a:ea typeface="微软雅黑"/>
                <a:cs typeface="微软雅黑"/>
              </a:rPr>
              <a:t>不同 KL 目标、全词表/Top-K/K1 同时变化，训练行为差异难以归因。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6B6060-374E-4E25-BD4A-1453959A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F1F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62F4A0-467A-448D-BC36-0062926A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147134-438A-4ACE-B13C-B75186B0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局部指标难代表工具调用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20E327-421E-47C7-A9A3-17B954E1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F78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5F6F78"/>
                </a:solidFill>
                <a:latin typeface="微软雅黑"/>
                <a:ea typeface="微软雅黑"/>
                <a:cs typeface="微软雅黑"/>
              </a:rPr>
              <a:t>需要从格式、选函数、参数到执行成功的端到端证据。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EFA70F-AB83-4A30-A323-69AD30C0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8394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8F1F3"/>
          </a:solidFill>
          <a:ln xmlns:a="http://schemas.openxmlformats.org/drawingml/2006/main" w="0">
            <a:solidFill>
              <a:srgbClr val="E8F1F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17047E-0C8A-481C-9EBD-D2E65EA5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75C79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75C79"/>
                </a:solidFill>
                <a:latin typeface="微软雅黑"/>
                <a:ea typeface="微软雅黑"/>
                <a:cs typeface="微软雅黑"/>
              </a:rPr>
              <a:t>研究目标：建立可复现、可归因、可部署的在线策略蒸馏比较协议。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F6EDFE-036F-472D-ABEF-A427F73A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5172" y="6578632"/>
            <a:ext cx="2743200" cy="27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134887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直角三角形 2">
            <a:extLst xmlns:a="http://schemas.openxmlformats.org/drawingml/2006/main">
              <a:ext uri="{FF2B5EF4-FFF2-40B4-BE49-F238E27FC236}">
                <a16:creationId xmlns:a16="http://schemas.microsoft.com/office/drawing/2014/main" id="{464B37EA-2474-4E02-A8F8-DDEF92F0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328" y="892613"/>
            <a:ext cx="104416" cy="54367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Aft>
                <a:spcPts val="600"/>
              </a:spcAft>
              <a:buNone/>
            </a:pPr>
            <a:endParaRPr sz="2000" b="1">
              <a:solidFill>
                <a:srgbClr val="FFFFFF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4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7BBA9F30-FCFD-428F-88E5-5D105813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164449"/>
            <a:ext cx="11214100" cy="101092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537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对角圆角矩形 80">
            <a:extLst xmlns:a="http://schemas.openxmlformats.org/drawingml/2006/main">
              <a:ext uri="{FF2B5EF4-FFF2-40B4-BE49-F238E27FC236}">
                <a16:creationId xmlns:a16="http://schemas.microsoft.com/office/drawing/2014/main" id="{B77FCB03-23B6-41C0-AE2D-7A47D6F5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74" y="892613"/>
            <a:ext cx="1357217" cy="543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7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8581" tIns="49291" rIns="98581" bIns="49291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XX</a:t>
            </a: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C0FCA-2101-4727-A7EE-616CFEF1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1E327-2D2B-405C-A996-82ED2F90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"/>
            <a:ext cx="11220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三个研究问题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1EC37-92C5-4F64-A862-EF14CEDC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1220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79C5D-0B64-4F14-BA39-0614AE43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5C7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75C79"/>
                </a:solidFill>
                <a:latin typeface="微软雅黑"/>
                <a:ea typeface="微软雅黑"/>
                <a:cs typeface="微软雅黑"/>
              </a:rPr>
              <a:t>研究主线：状态 → 目标 → 信息量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4484fda8a4b8a"/>
          <a:stretch xmlns:a="http://schemas.openxmlformats.org/drawingml/2006/main"/>
        </p:blipFill>
        <p:spPr>
          <a:xfrm xmlns:a="http://schemas.openxmlformats.org/drawingml/2006/main">
            <a:off x="593119" y="1238250"/>
            <a:ext cx="11005762" cy="4953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5DE8D-D944-48B6-BA37-B69108E2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5172" y="6578632"/>
            <a:ext cx="2743200" cy="27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033774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直角三角形 2">
            <a:extLst xmlns:a="http://schemas.openxmlformats.org/drawingml/2006/main">
              <a:ext uri="{FF2B5EF4-FFF2-40B4-BE49-F238E27FC236}">
                <a16:creationId xmlns:a16="http://schemas.microsoft.com/office/drawing/2014/main" id="{C3A251FD-5CD3-4BBA-BA82-038F02A4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128" y="881324"/>
            <a:ext cx="104416" cy="54367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Aft>
                <a:spcPts val="600"/>
              </a:spcAft>
              <a:buNone/>
            </a:pPr>
            <a:endParaRPr sz="2000" b="1">
              <a:solidFill>
                <a:srgbClr val="FFFFFF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4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87F5D6A7-75EF-4A57-AAA4-C86A2E99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99" y="1153160"/>
            <a:ext cx="11214099" cy="101092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537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对角圆角矩形 80">
            <a:extLst xmlns:a="http://schemas.openxmlformats.org/drawingml/2006/main">
              <a:ext uri="{FF2B5EF4-FFF2-40B4-BE49-F238E27FC236}">
                <a16:creationId xmlns:a16="http://schemas.microsoft.com/office/drawing/2014/main" id="{B195960C-89EF-44B3-A47D-E1B40B64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70" y="881324"/>
            <a:ext cx="1916058" cy="543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7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8581" tIns="49291" rIns="98581" bIns="49291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XX</a:t>
            </a: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70864-E997-42FD-9CE3-D2F672A8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997D9-298B-42D5-A4A9-DD77EB06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"/>
            <a:ext cx="11220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总体技术路线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5B5E7-156F-4EA3-91FF-88A37573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1220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6208e15f024afc"/>
          <a:stretch xmlns:a="http://schemas.openxmlformats.org/drawingml/2006/main"/>
        </p:blipFill>
        <p:spPr>
          <a:xfrm xmlns:a="http://schemas.openxmlformats.org/drawingml/2006/main">
            <a:off x="666750" y="1068695"/>
            <a:ext cx="10858500" cy="4072909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F5FDD6-C4B5-4580-89DE-CB5D963B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105537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8F1F3"/>
          </a:solidFill>
          <a:ln xmlns:a="http://schemas.openxmlformats.org/drawingml/2006/main" w="0">
            <a:solidFill>
              <a:srgbClr val="E8F1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12EBA0-F9E4-4B67-940E-212FF018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34025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5C7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75C79"/>
                </a:solidFill>
                <a:latin typeface="微软雅黑"/>
                <a:ea typeface="微软雅黑"/>
                <a:cs typeface="微软雅黑"/>
              </a:rPr>
              <a:t>研究闭环：数据与模型准备 → 在线反馈训练 → 统一评测 → 结果归因与论文整理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369DE-888D-4FBD-8E57-992FF294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5172" y="6578632"/>
            <a:ext cx="2743200" cy="27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53359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B446128E-1BA1-4E29-A675-4E0B58D6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3834" y="1006057"/>
            <a:ext cx="104416" cy="54367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Aft>
                <a:spcPts val="600"/>
              </a:spcAft>
              <a:buNone/>
            </a:pPr>
            <a:endParaRPr sz="2000" b="1">
              <a:solidFill>
                <a:srgbClr val="FFFFFF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12BCDE73-43C5-4109-9B56-1DFD29F4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724" y="993050"/>
            <a:ext cx="104416" cy="54367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Aft>
                <a:spcPts val="600"/>
              </a:spcAft>
              <a:buNone/>
            </a:pPr>
            <a:endParaRPr sz="2000" b="1">
              <a:solidFill>
                <a:srgbClr val="FFFFFF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0" name="直角三角形 9">
            <a:extLst xmlns:a="http://schemas.openxmlformats.org/drawingml/2006/main">
              <a:ext uri="{FF2B5EF4-FFF2-40B4-BE49-F238E27FC236}">
                <a16:creationId xmlns:a16="http://schemas.microsoft.com/office/drawing/2014/main" id="{8581EDCE-DF68-43D1-B777-1303FCD4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99" y="3732858"/>
            <a:ext cx="104416" cy="54367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Aft>
                <a:spcPts val="600"/>
              </a:spcAft>
              <a:buNone/>
            </a:pPr>
            <a:endParaRPr sz="2000" b="1">
              <a:solidFill>
                <a:srgbClr val="FFFFFF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1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38B54DE0-A3EB-41D5-AEFC-D05273E0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360312"/>
            <a:ext cx="5312210" cy="4933224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537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CB00D74F-4BDA-4114-9DD2-DC17019A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490" y="1360312"/>
            <a:ext cx="5312210" cy="4933224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537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对角圆角矩形 80">
            <a:extLst xmlns:a="http://schemas.openxmlformats.org/drawingml/2006/main">
              <a:ext uri="{FF2B5EF4-FFF2-40B4-BE49-F238E27FC236}">
                <a16:creationId xmlns:a16="http://schemas.microsoft.com/office/drawing/2014/main" id="{908C453B-C0DE-429D-A8BB-C223DBCA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7420" y="1006057"/>
            <a:ext cx="2608304" cy="543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7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8581" tIns="49291" rIns="98581" bIns="49291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XXXX</a:t>
            </a: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对角圆角矩形 80">
            <a:extLst xmlns:a="http://schemas.openxmlformats.org/drawingml/2006/main">
              <a:ext uri="{FF2B5EF4-FFF2-40B4-BE49-F238E27FC236}">
                <a16:creationId xmlns:a16="http://schemas.microsoft.com/office/drawing/2014/main" id="{5BD401D7-0CD7-4B3D-8189-AC9965CA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530" y="1006057"/>
            <a:ext cx="2608304" cy="543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7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8581" tIns="49291" rIns="98581" bIns="49291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XXXX</a:t>
            </a: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2BC74B-61B7-422A-8CE0-70A435FE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B7ABD4-EA94-4CA9-B492-99B64615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"/>
            <a:ext cx="11220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问题一：学生状态上的教师监督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CFC0C0-A32C-406A-B8A9-A986ACC7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1220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c5e6ddd7c46d3"/>
          <a:stretch xmlns:a="http://schemas.openxmlformats.org/drawingml/2006/main"/>
        </p:blipFill>
        <p:spPr>
          <a:xfrm xmlns:a="http://schemas.openxmlformats.org/drawingml/2006/main">
            <a:off x="1120926" y="1047750"/>
            <a:ext cx="5530548" cy="280987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46DD72-E218-4D5F-9D56-3FBBA038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24300"/>
            <a:ext cx="6743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B2BE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7a9cb835b4dd6"/>
          <a:stretch xmlns:a="http://schemas.openxmlformats.org/drawingml/2006/main"/>
        </p:blipFill>
        <p:spPr>
          <a:xfrm xmlns:a="http://schemas.openxmlformats.org/drawingml/2006/main">
            <a:off x="1229755" y="3962400"/>
            <a:ext cx="5312891" cy="323850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45c7abd29e47f0"/>
          <a:stretch xmlns:a="http://schemas.openxmlformats.org/drawingml/2006/main"/>
        </p:blipFill>
        <p:spPr>
          <a:xfrm xmlns:a="http://schemas.openxmlformats.org/drawingml/2006/main">
            <a:off x="685800" y="4329293"/>
            <a:ext cx="6400800" cy="390164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9C6594-2255-4FA4-850A-D67F7502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0668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5C79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75C79"/>
                </a:solidFill>
                <a:latin typeface="微软雅黑"/>
                <a:ea typeface="微软雅黑"/>
                <a:cs typeface="微软雅黑"/>
              </a:rPr>
              <a:t>训练闭环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6C7700-4F6E-4602-A125-FAC62E4B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52400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Rollout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46B2B1-9C89-413A-8E42-7A0D3FF2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5257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学生生成真实轨迹，保留实际前缀。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153799-E14F-41DC-98B3-7D22EB77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28875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Feedback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8FFCC2-C1F7-4F77-9231-C7872307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5745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冻结 Qwen3-4B，给出分布或采样反馈。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4A7FCB-B9EB-4F0F-9585-9F5104CD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337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Update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571C1A-A533-4E5D-B112-3B16E17E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6232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只更新 Qwen3-0.6B 的 LoRA 参数。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5D4F17-33D9-475C-89E3-F0D4963A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0858500" cy="962025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E8F1F3"/>
          </a:solidFill>
          <a:ln xmlns:a="http://schemas.openxmlformats.org/drawingml/2006/main" w="0">
            <a:solidFill>
              <a:srgbClr val="E8F1F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7981B4-B94C-46A1-88FF-69376739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042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控制变量：同一 Function Calling 数据、模板、采样规则、有效 token 预算与评测脚本。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73B778-A120-4B07-87B8-E61E548D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10420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75C79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075C79"/>
                </a:solidFill>
                <a:latin typeface="微软雅黑"/>
                <a:ea typeface="微软雅黑"/>
                <a:cs typeface="微软雅黑"/>
              </a:rPr>
              <a:t>目标：将“在线状态反馈”的作用与离线监督差异分离出来。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CA36AB-EF6E-40A0-A353-E2195DC6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5172" y="6578632"/>
            <a:ext cx="2743200" cy="27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834094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直角三角形 17">
            <a:extLst xmlns:a="http://schemas.openxmlformats.org/drawingml/2006/main">
              <a:ext uri="{FF2B5EF4-FFF2-40B4-BE49-F238E27FC236}">
                <a16:creationId xmlns:a16="http://schemas.microsoft.com/office/drawing/2014/main" id="{B7BDB45F-58A3-47FE-BC35-048A5A12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651" y="1094649"/>
            <a:ext cx="93174" cy="54367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Aft>
                <a:spcPts val="600"/>
              </a:spcAft>
              <a:buNone/>
            </a:pPr>
            <a:endParaRPr sz="2000" b="1">
              <a:solidFill>
                <a:srgbClr val="FFFFFF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9" name="直角三角形 18">
            <a:extLst xmlns:a="http://schemas.openxmlformats.org/drawingml/2006/main">
              <a:ext uri="{FF2B5EF4-FFF2-40B4-BE49-F238E27FC236}">
                <a16:creationId xmlns:a16="http://schemas.microsoft.com/office/drawing/2014/main" id="{CDF557E2-851E-4B96-ADA4-CE0278EF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655" y="1107656"/>
            <a:ext cx="93174" cy="54367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Aft>
                <a:spcPts val="600"/>
              </a:spcAft>
              <a:buNone/>
            </a:pPr>
            <a:endParaRPr sz="2000" b="1">
              <a:solidFill>
                <a:srgbClr val="FFFFFF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0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37BD35C7-6BC3-48C2-A02B-96926EF3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461911"/>
            <a:ext cx="3557884" cy="4933224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537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对角圆角矩形 80">
            <a:extLst xmlns:a="http://schemas.openxmlformats.org/drawingml/2006/main">
              <a:ext uri="{FF2B5EF4-FFF2-40B4-BE49-F238E27FC236}">
                <a16:creationId xmlns:a16="http://schemas.microsoft.com/office/drawing/2014/main" id="{EA607DEC-3577-4D3A-9283-F65B538A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99" y="1107656"/>
            <a:ext cx="2327480" cy="543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7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8581" tIns="49291" rIns="98581" bIns="49291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XXXX</a:t>
            </a: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B126FE4A-C9F5-43B0-A065-0C5A7003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978" y="1461911"/>
            <a:ext cx="3557884" cy="4933224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537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对角圆角矩形 80">
            <a:extLst xmlns:a="http://schemas.openxmlformats.org/drawingml/2006/main">
              <a:ext uri="{FF2B5EF4-FFF2-40B4-BE49-F238E27FC236}">
                <a16:creationId xmlns:a16="http://schemas.microsoft.com/office/drawing/2014/main" id="{B11E5D3E-90F7-41A7-8736-BF026FB1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176" y="1107656"/>
            <a:ext cx="2327480" cy="543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7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8581" tIns="49291" rIns="98581" bIns="49291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XXXX</a:t>
            </a: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直角三角形 23">
            <a:extLst xmlns:a="http://schemas.openxmlformats.org/drawingml/2006/main">
              <a:ext uri="{FF2B5EF4-FFF2-40B4-BE49-F238E27FC236}">
                <a16:creationId xmlns:a16="http://schemas.microsoft.com/office/drawing/2014/main" id="{1B588B61-67BB-47F6-B4F8-8D345D27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1493" y="1094649"/>
            <a:ext cx="93174" cy="54367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Aft>
                <a:spcPts val="600"/>
              </a:spcAft>
              <a:buNone/>
            </a:pPr>
            <a:endParaRPr sz="2000" b="1">
              <a:solidFill>
                <a:srgbClr val="FFFFFF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5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C7932C18-B564-461D-8E0B-3D50F314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816" y="1448904"/>
            <a:ext cx="3557884" cy="4933224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537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对角圆角矩形 80">
            <a:extLst xmlns:a="http://schemas.openxmlformats.org/drawingml/2006/main">
              <a:ext uri="{FF2B5EF4-FFF2-40B4-BE49-F238E27FC236}">
                <a16:creationId xmlns:a16="http://schemas.microsoft.com/office/drawing/2014/main" id="{C087EC68-F125-4290-ACFC-5840F27D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4015" y="1094649"/>
            <a:ext cx="2327480" cy="543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7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8581" tIns="49291" rIns="98581" bIns="49291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XXXX</a:t>
            </a: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7FF4AD-6D9E-4CAE-967B-7B7C5076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47179D-87E8-4911-8E65-F6399AF8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"/>
            <a:ext cx="11220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问题二：散度目标如何改变学习行为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E9B1F5-7C72-4819-B662-1A1DD0BD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1220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93187D-7097-4A6A-AFCB-97C191CE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5C7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75C79"/>
                </a:solidFill>
                <a:latin typeface="微软雅黑"/>
                <a:ea typeface="微软雅黑"/>
                <a:cs typeface="微软雅黑"/>
              </a:rPr>
              <a:t>固定学生状态与训练预算，仅切换目标函数；结论待实验验证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e165da11b44b7"/>
          <a:stretch xmlns:a="http://schemas.openxmlformats.org/drawingml/2006/main"/>
        </p:blipFill>
        <p:spPr>
          <a:xfrm xmlns:a="http://schemas.openxmlformats.org/drawingml/2006/main">
            <a:off x="721110" y="1257300"/>
            <a:ext cx="5225279" cy="342900"/>
          </a:xfrm>
          <a:prstGeom xmlns:a="http://schemas.openxmlformats.org/drawingml/2006/main" prst="rect">
            <a:avLst/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6c0163956431e"/>
          <a:stretch xmlns:a="http://schemas.openxmlformats.org/drawingml/2006/main"/>
        </p:blipFill>
        <p:spPr>
          <a:xfrm xmlns:a="http://schemas.openxmlformats.org/drawingml/2006/main">
            <a:off x="6245610" y="1257300"/>
            <a:ext cx="5225279" cy="342900"/>
          </a:xfrm>
          <a:prstGeom xmlns:a="http://schemas.openxmlformats.org/drawingml/2006/main" prst="rect">
            <a:avLst/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bf69fbd12d4616"/>
          <a:stretch xmlns:a="http://schemas.openxmlformats.org/drawingml/2006/main"/>
        </p:blipFill>
        <p:spPr>
          <a:xfrm xmlns:a="http://schemas.openxmlformats.org/drawingml/2006/main">
            <a:off x="3752078" y="1619250"/>
            <a:ext cx="4687845" cy="2857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A8C2AF-9AC5-4940-9D66-EBF19B98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4290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8FB2B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6D693B-049C-4033-8315-FFE22119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828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Forward KL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005501-ED01-47FB-8813-73F07847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29718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教师分布加权</a:t>
            </a:r>
          </a:p>
          <a:p xmlns:a="http://schemas.openxmlformats.org/drawingml/2006/main">
            <a:pPr>
              <a:def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覆盖教师支持区域</a:t>
            </a:r>
          </a:p>
          <a:p xmlns:a="http://schemas.openxmlformats.org/drawingml/2006/main">
            <a:pPr>
              <a:def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保留更多候选信息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关注：mode-covering 行为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6A3F99-B155-42FC-A3CE-3FFAC0C8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4290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8FB2B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5C50B5-17D4-408C-8CAD-451970B8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33600"/>
            <a:ext cx="1828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Reverse KL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01DC16-E873-487F-BD31-5C20F782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43200"/>
            <a:ext cx="29718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学生分布加权</a:t>
            </a:r>
          </a:p>
          <a:p xmlns:a="http://schemas.openxmlformats.org/drawingml/2006/main">
            <a:pPr>
              <a:def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聚焦当前高概率区域</a:t>
            </a:r>
          </a:p>
          <a:p xmlns:a="http://schemas.openxmlformats.org/drawingml/2006/main">
            <a:pPr>
              <a:def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强调当前策略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关注：mode-seeking 行为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C6B34D-25BB-4AFA-826A-2F47F10E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00250"/>
            <a:ext cx="34290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8FB2B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44D18F-2FB0-49DE-8832-B2A951B4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33600"/>
            <a:ext cx="1828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广义散度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36FDC0-B694-488C-AF5A-5357CA70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43200"/>
            <a:ext cx="29718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在两类权重间折中</a:t>
            </a:r>
          </a:p>
          <a:p xmlns:a="http://schemas.openxmlformats.org/drawingml/2006/main">
            <a:pPr>
              <a:def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调节匹配偏好</a:t>
            </a:r>
          </a:p>
          <a:p xmlns:a="http://schemas.openxmlformats.org/drawingml/2006/main">
            <a:pPr>
              <a:def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检验连续变化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候选：Jensen–Shannon / skew-KL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DCBA5A-CEDD-473A-9328-2F26A0EA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585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E8F1F3"/>
          </a:solidFill>
          <a:ln xmlns:a="http://schemas.openxmlformats.org/drawingml/2006/main" w="0">
            <a:solidFill>
              <a:srgbClr val="E8F1F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3E1F86B-7EB1-4EA1-BFA8-AC3C60D3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1042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5C7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75C79"/>
                </a:solidFill>
                <a:latin typeface="微软雅黑"/>
                <a:ea typeface="微软雅黑"/>
                <a:cs typeface="微软雅黑"/>
              </a:rPr>
              <a:t>观察：loss / 梯度 / 熵与分布重叠 / 工具调用分层指标；不预设优胜者。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45F15C-FAD4-42A7-886A-28FB4A5B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5172" y="6578632"/>
            <a:ext cx="2743200" cy="27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799637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直角三角形 3">
            <a:extLst xmlns:a="http://schemas.openxmlformats.org/drawingml/2006/main">
              <a:ext uri="{FF2B5EF4-FFF2-40B4-BE49-F238E27FC236}">
                <a16:creationId xmlns:a16="http://schemas.microsoft.com/office/drawing/2014/main" id="{9EA06938-53FA-4421-BE8B-34298F16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104" y="3617146"/>
            <a:ext cx="104416" cy="54367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Aft>
                <a:spcPts val="600"/>
              </a:spcAft>
              <a:buNone/>
            </a:pPr>
            <a:endParaRPr sz="2000" b="1">
              <a:solidFill>
                <a:srgbClr val="FFFFFF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8D5107D4-100D-408C-8D85-45144A67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104" y="890345"/>
            <a:ext cx="104416" cy="54367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Aft>
                <a:spcPts val="600"/>
              </a:spcAft>
              <a:buNone/>
            </a:pPr>
            <a:endParaRPr sz="2000" b="1">
              <a:solidFill>
                <a:srgbClr val="FFFFFF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6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C01388AE-F171-4723-AE05-0DCACBCD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3993424"/>
            <a:ext cx="11214100" cy="218440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537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F97107F0-6BCB-4B87-ACAF-B77DD017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244600"/>
            <a:ext cx="11214100" cy="218440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537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对角圆角矩形 80">
            <a:extLst xmlns:a="http://schemas.openxmlformats.org/drawingml/2006/main">
              <a:ext uri="{FF2B5EF4-FFF2-40B4-BE49-F238E27FC236}">
                <a16:creationId xmlns:a16="http://schemas.microsoft.com/office/drawing/2014/main" id="{2FAA29D1-A672-488B-A381-800641A4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890345"/>
            <a:ext cx="2608304" cy="543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7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8581" tIns="49291" rIns="98581" bIns="49291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XXXX</a:t>
            </a: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对角圆角矩形 81">
            <a:extLst xmlns:a="http://schemas.openxmlformats.org/drawingml/2006/main">
              <a:ext uri="{FF2B5EF4-FFF2-40B4-BE49-F238E27FC236}">
                <a16:creationId xmlns:a16="http://schemas.microsoft.com/office/drawing/2014/main" id="{5F3FAE1F-FF27-43D5-A74C-C870FB1F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3617146"/>
            <a:ext cx="2608304" cy="543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7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8581" tIns="49291" rIns="98581" bIns="49291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XXXX</a:t>
            </a: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9A3A4-0169-4BDB-B1A9-8FC55671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BD0DFA-F117-40B9-BF53-5BF1FA6F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"/>
            <a:ext cx="11220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问题三：监督信息粒度与成本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96FC5F-29A8-436F-B52C-A5814E19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1220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BDE9F8-5259-4A2D-91C3-93A404D9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5C7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75C79"/>
                </a:solidFill>
                <a:latin typeface="微软雅黑"/>
                <a:ea typeface="微软雅黑"/>
                <a:cs typeface="微软雅黑"/>
              </a:rPr>
              <a:t>同一 rollout、同一优化预算：比较教师信息保留量和反馈代价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b7dafc5b34989"/>
          <a:stretch xmlns:a="http://schemas.openxmlformats.org/drawingml/2006/main"/>
        </p:blipFill>
        <p:spPr>
          <a:xfrm xmlns:a="http://schemas.openxmlformats.org/drawingml/2006/main">
            <a:off x="1232677" y="1257300"/>
            <a:ext cx="5535646" cy="428625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ae77bf8764321"/>
          <a:stretch xmlns:a="http://schemas.openxmlformats.org/drawingml/2006/main"/>
        </p:blipFill>
        <p:spPr>
          <a:xfrm xmlns:a="http://schemas.openxmlformats.org/drawingml/2006/main">
            <a:off x="7239000" y="1288590"/>
            <a:ext cx="4286250" cy="261271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5165F-3473-459D-9B99-4C4C55CB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4290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8FB2B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9DF1F7-8209-42A3-AC7D-01CCB440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全词表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E9445B-515F-412C-8C6C-26AAE882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29718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完整分布</a:t>
            </a:r>
          </a:p>
          <a:p xmlns:a="http://schemas.openxmlformats.org/drawingml/2006/main">
            <a:pPr>
              <a:def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信息最充分</a:t>
            </a:r>
          </a:p>
          <a:p xmlns:a="http://schemas.openxmlformats.org/drawingml/2006/main">
            <a:pPr>
              <a:def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反馈开销最高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优先观察：上限效果与显存/时间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BEFEDC-5070-4757-8BA2-E74F22A4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4290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8FB2B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E889B7-9352-45D7-8DED-22007A69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3360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Top-K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B6820C-4E01-4633-AAAB-85276AE2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43200"/>
            <a:ext cx="29718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保留高概率支持集</a:t>
            </a:r>
          </a:p>
          <a:p xmlns:a="http://schemas.openxmlformats.org/drawingml/2006/main">
            <a:pPr>
              <a:def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压缩反馈体积</a:t>
            </a:r>
          </a:p>
          <a:p xmlns:a="http://schemas.openxmlformats.org/drawingml/2006/main">
            <a:pPr>
              <a:def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中等开销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优先观察：信息损失与效率折中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50A75C-12EB-410B-9461-64B4E3DA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00250"/>
            <a:ext cx="34290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8FB2B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12E4B2-7F01-4BBD-A421-390A9642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33600"/>
            <a:ext cx="1828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K=1 采样 token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28A397-2B5B-4C25-AE3A-35B5A89B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43200"/>
            <a:ext cx="29718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单 token 估计</a:t>
            </a:r>
          </a:p>
          <a:p xmlns:a="http://schemas.openxmlformats.org/drawingml/2006/main">
            <a:pPr>
              <a:def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信息最稀疏</a:t>
            </a:r>
          </a:p>
          <a:p xmlns:a="http://schemas.openxmlformats.org/drawingml/2006/main">
            <a:pPr>
              <a:def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单位步成本最低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优先观察：方差与训练稳定性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75FA60-E6D7-4388-9F76-101A5FD6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585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E8F1F3"/>
          </a:solidFill>
          <a:ln xmlns:a="http://schemas.openxmlformats.org/drawingml/2006/main" w="0">
            <a:solidFill>
              <a:srgbClr val="E8F1F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2D501A-375F-4FA8-A0A1-897252FC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1042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5C7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75C79"/>
                </a:solidFill>
                <a:latin typeface="微软雅黑"/>
                <a:ea typeface="微软雅黑"/>
                <a:cs typeface="微软雅黑"/>
              </a:rPr>
              <a:t>评价维度：效果 × 稳定性 × 教师时间 / 显存 / 反馈体积；结论待实验验证。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E4A567-9B5B-47EF-BEEE-4B481D9F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5172" y="6578632"/>
            <a:ext cx="2743200" cy="27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382253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直角三角形 3">
            <a:extLst xmlns:a="http://schemas.openxmlformats.org/drawingml/2006/main">
              <a:ext uri="{FF2B5EF4-FFF2-40B4-BE49-F238E27FC236}">
                <a16:creationId xmlns:a16="http://schemas.microsoft.com/office/drawing/2014/main" id="{267101EB-CD90-4152-A909-E59567D0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63" y="1144153"/>
            <a:ext cx="104416" cy="54367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Aft>
                <a:spcPts val="600"/>
              </a:spcAft>
              <a:buNone/>
            </a:pPr>
            <a:endParaRPr sz="2000" b="1">
              <a:solidFill>
                <a:srgbClr val="FFFFFF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3C66C3DA-A7BC-4C4E-B1B1-910C6FCC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6" y="1344768"/>
            <a:ext cx="11214100" cy="127508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537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对角圆角矩形 80">
            <a:extLst xmlns:a="http://schemas.openxmlformats.org/drawingml/2006/main">
              <a:ext uri="{FF2B5EF4-FFF2-40B4-BE49-F238E27FC236}">
                <a16:creationId xmlns:a16="http://schemas.microsoft.com/office/drawing/2014/main" id="{0C6B71E6-58D0-4576-B64E-54298ABF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50" y="1072932"/>
            <a:ext cx="671417" cy="543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7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8581" tIns="49291" rIns="98581" bIns="49291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直角三角形 6">
            <a:extLst xmlns:a="http://schemas.openxmlformats.org/drawingml/2006/main">
              <a:ext uri="{FF2B5EF4-FFF2-40B4-BE49-F238E27FC236}">
                <a16:creationId xmlns:a16="http://schemas.microsoft.com/office/drawing/2014/main" id="{CC1B78A6-9FB8-4976-B97A-0EAEE4C2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425" y="2962905"/>
            <a:ext cx="104416" cy="54367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Aft>
                <a:spcPts val="600"/>
              </a:spcAft>
              <a:buNone/>
            </a:pPr>
            <a:endParaRPr sz="2000" b="1">
              <a:solidFill>
                <a:srgbClr val="FFFFFF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8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C81D0DB0-2CD9-4B95-A1D2-051488E3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8" y="3163520"/>
            <a:ext cx="11214100" cy="127508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537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对角圆角矩形 80">
            <a:extLst xmlns:a="http://schemas.openxmlformats.org/drawingml/2006/main">
              <a:ext uri="{FF2B5EF4-FFF2-40B4-BE49-F238E27FC236}">
                <a16:creationId xmlns:a16="http://schemas.microsoft.com/office/drawing/2014/main" id="{926A3AD9-1AE6-4020-AE6F-29BBBA85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12" y="2891684"/>
            <a:ext cx="671417" cy="543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7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8581" tIns="49291" rIns="98581" bIns="49291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直角三角形 9">
            <a:extLst xmlns:a="http://schemas.openxmlformats.org/drawingml/2006/main">
              <a:ext uri="{FF2B5EF4-FFF2-40B4-BE49-F238E27FC236}">
                <a16:creationId xmlns:a16="http://schemas.microsoft.com/office/drawing/2014/main" id="{4542651A-10A2-44BF-8F98-9D7375EC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487" y="4781657"/>
            <a:ext cx="104416" cy="54367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Aft>
                <a:spcPts val="600"/>
              </a:spcAft>
              <a:buNone/>
            </a:pPr>
            <a:endParaRPr sz="2000" b="1">
              <a:solidFill>
                <a:srgbClr val="FFFFFF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1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6AD2D4C3-25A8-43DE-87E3-A3C84287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4982272"/>
            <a:ext cx="11214100" cy="127508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537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对角圆角矩形 80">
            <a:extLst xmlns:a="http://schemas.openxmlformats.org/drawingml/2006/main">
              <a:ext uri="{FF2B5EF4-FFF2-40B4-BE49-F238E27FC236}">
                <a16:creationId xmlns:a16="http://schemas.microsoft.com/office/drawing/2014/main" id="{EBC60284-A384-451D-BFE9-2A2F50F8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74" y="4710436"/>
            <a:ext cx="671417" cy="543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7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8581" tIns="49291" rIns="98581" bIns="49291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B76AE3-4384-447B-A8C8-6C742F25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802D2E-95D8-4C75-8788-E458F941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"/>
            <a:ext cx="11220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实验设计与公平比较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B350EE-4940-4A5F-9B94-76B41241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1220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3ACA91-A669-43F0-8205-23488D85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5C7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75C79"/>
                </a:solidFill>
                <a:latin typeface="微软雅黑"/>
                <a:ea typeface="微软雅黑"/>
                <a:cs typeface="微软雅黑"/>
              </a:rPr>
              <a:t>先固定协议，再改变一个研究因素；正式结论待实验验证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6B1B94-88D5-4E85-AB01-08D61655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52197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8FB2B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E845B-65CE-4B16-AA0F-BA8972AF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504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固定条件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87A9C5-BF83-4797-81BE-3D8E168F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• Student / Teacher：Qwen3-0.6B / Qwen3-4B</a:t>
            </a:r>
          </a:p>
          <a:p xmlns:a="http://schemas.openxmlformats.org/drawingml/2006/main">
            <a:pPr>
              <a:defRPr sz="127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• 数据：Function Calling，固定 train / valid split</a:t>
            </a:r>
          </a:p>
          <a:p xmlns:a="http://schemas.openxmlformats.org/drawingml/2006/main">
            <a:pPr>
              <a:defRPr sz="127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• 参数：LoRA 配置、steps、有效 token 预算</a:t>
            </a:r>
          </a:p>
          <a:p xmlns:a="http://schemas.openxmlformats.org/drawingml/2006/main">
            <a:pPr>
              <a:defRPr sz="127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• 生成与评测：模板、采样参数、evaluator</a:t>
            </a:r>
          </a:p>
          <a:p xmlns:a="http://schemas.openxmlformats.org/drawingml/2006/main">
            <a:pPr>
              <a:defRPr sz="127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• 稳定性：至少 3 个随机种子，报告均值 / 标准差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0E7A19-FAAD-4FA2-8AE6-9D08F439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28750"/>
            <a:ext cx="52197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8FB2B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5DC763-C6BF-447A-A66A-1F6D2790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62100"/>
            <a:ext cx="1504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分层指标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B5191A-E967-4489-B97E-6559CE24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71700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• 任务：格式、选函数、参数 key / value、执行、端到端</a:t>
            </a:r>
          </a:p>
          <a:p xmlns:a="http://schemas.openxmlformats.org/drawingml/2006/main">
            <a:pPr>
              <a:defRPr sz="127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• 稳定：loss / grad、NaN / Inf、entropy / overlap</a:t>
            </a:r>
          </a:p>
          <a:p xmlns:a="http://schemas.openxmlformats.org/drawingml/2006/main">
            <a:pPr>
              <a:defRPr sz="127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• 资源：teacher time、train time、吞吐、显存、feedback volume</a:t>
            </a:r>
          </a:p>
          <a:p xmlns:a="http://schemas.openxmlformats.org/drawingml/2006/main">
            <a:pPr>
              <a:defRPr sz="127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• 追溯：commit、config、environment、raw metrics</a:t>
            </a:r>
          </a:p>
          <a:p xmlns:a="http://schemas.openxmlformats.org/drawingml/2006/main">
            <a:pPr>
              <a:defRPr sz="127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• 比较：散度 × 监督粒度的受控组合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A58269-826E-459D-B798-1E64F6ED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86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每个正式实验记录配置、随机种子、环境与原始指标，避免把待验证假设写成结论。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775019-BABC-456F-A421-DBEA9DD1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5172" y="6578632"/>
            <a:ext cx="2743200" cy="27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74589279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b3d50b18434460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4200ee20a4d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6427" y="3596360"/>
            <a:ext cx="6287881" cy="2749276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9B2EBBF-68B7-48B7-8BE6-E621AF32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96878"/>
            <a:ext cx="12191999" cy="5611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7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8A9E0CD-D767-4B74-86A7-A8A7D933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89647"/>
            <a:ext cx="12192002" cy="177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7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4AFF3E7F-8FB0-4628-9EBC-E809C972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149746"/>
            <a:ext cx="4933046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537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AD745C27-B6F3-45FE-AFC2-141883CC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12860"/>
            <a:ext cx="11201400" cy="14905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4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34DAABE9-81BD-47AC-BE3F-7366399D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239000" y="1145795"/>
            <a:ext cx="49530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537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30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b584f4a3194b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7788" y="219682"/>
            <a:ext cx="2199274" cy="961598"/>
          </a:xfrm>
          <a:prstGeom xmlns:a="http://schemas.openxmlformats.org/drawingml/2006/main" prst="rect">
            <a:avLst/>
          </a:prstGeom>
        </p:spPr>
      </p:pic>
      <p:sp>
        <p:nvSpPr>
          <p:cNvPr id="1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694A54C-F118-4EB2-8033-600E96D4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12451"/>
            <a:ext cx="12192000" cy="680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>
                <a:solidFill>
                  <a:srgbClr val="005376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pic>
        <p:nvPicPr>
          <p:cNvPr id="32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45b7633ae49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9679" y="6415212"/>
            <a:ext cx="1655733" cy="324128"/>
          </a:xfrm>
          <a:prstGeom xmlns:a="http://schemas.openxmlformats.org/drawingml/2006/main" prst="rect">
            <a:avLst/>
          </a:prstGeom>
        </p:spPr>
      </p:pic>
      <p:sp>
        <p:nvSpPr>
          <p:cNvPr id="16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FFCD2DB-EF52-4A5D-9A1A-B08CDE49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50" y="4204207"/>
            <a:ext cx="11214100" cy="6804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>
                <a:solidFill>
                  <a:srgbClr val="005376"/>
                </a:solidFill>
                <a:latin typeface="微软雅黑"/>
                <a:ea typeface="微软雅黑"/>
                <a:cs typeface="微软雅黑"/>
              </a:rPr>
              <a:t/>
            </a:r>
            <a:endParaRPr b="1">
              <a:solidFill>
                <a:srgbClr val="00537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673030-A47D-44A4-9DCE-205F116E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B48270-9D0E-4FD1-93C6-9946C356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"/>
            <a:ext cx="11220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进度安排（2026.09—2027.05）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D59FF1-9012-4986-AAD5-06069C92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1220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3e9363d874892"/>
          <a:stretch xmlns:a="http://schemas.openxmlformats.org/drawingml/2006/main"/>
        </p:blipFill>
        <p:spPr>
          <a:xfrm xmlns:a="http://schemas.openxmlformats.org/drawingml/2006/main">
            <a:off x="762000" y="991606"/>
            <a:ext cx="10668000" cy="528436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358223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64dd156e098478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7d2f9479c4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6427" y="3596360"/>
            <a:ext cx="6287881" cy="2749276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9B2EBBF-68B7-48B7-8BE6-E621AF32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96878"/>
            <a:ext cx="12191999" cy="5611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7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8A9E0CD-D767-4B74-86A7-A8A7D933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89647"/>
            <a:ext cx="12192002" cy="177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7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4AFF3E7F-8FB0-4628-9EBC-E809C972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149746"/>
            <a:ext cx="4933046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537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AD745C27-B6F3-45FE-AFC2-141883CC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12860"/>
            <a:ext cx="11201400" cy="14905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4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谢</a:t>
            </a:r>
            <a:r>
              <a:rPr sz="4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4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谢</a:t>
            </a: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34DAABE9-81BD-47AC-BE3F-7366399D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239000" y="1145795"/>
            <a:ext cx="49530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537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0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9d97f2a9546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7788" y="219682"/>
            <a:ext cx="2199274" cy="961598"/>
          </a:xfrm>
          <a:prstGeom xmlns:a="http://schemas.openxmlformats.org/drawingml/2006/main" prst="rect">
            <a:avLst/>
          </a:prstGeom>
        </p:spPr>
      </p:pic>
      <p:sp>
        <p:nvSpPr>
          <p:cNvPr id="1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694A54C-F118-4EB2-8033-600E96D4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12451"/>
            <a:ext cx="12192000" cy="680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>
                <a:solidFill>
                  <a:srgbClr val="005376"/>
                </a:solidFill>
                <a:latin typeface="微软雅黑"/>
                <a:ea typeface="微软雅黑"/>
                <a:cs typeface="微软雅黑"/>
              </a:rPr>
              <a:t>202X</a:t>
            </a:r>
            <a:r>
              <a:rPr b="1">
                <a:solidFill>
                  <a:srgbClr val="005376"/>
                </a:solidFill>
                <a:latin typeface="微软雅黑"/>
                <a:ea typeface="微软雅黑"/>
                <a:cs typeface="微软雅黑"/>
              </a:rPr>
              <a:t>年</a:t>
            </a:r>
            <a:r>
              <a:rPr b="1">
                <a:solidFill>
                  <a:srgbClr val="005376"/>
                </a:solidFill>
                <a:latin typeface="微软雅黑"/>
                <a:ea typeface="微软雅黑"/>
                <a:cs typeface="微软雅黑"/>
              </a:rPr>
              <a:t>X</a:t>
            </a:r>
            <a:r>
              <a:rPr b="1">
                <a:solidFill>
                  <a:srgbClr val="005376"/>
                </a:solidFill>
                <a:latin typeface="微软雅黑"/>
                <a:ea typeface="微软雅黑"/>
                <a:cs typeface="微软雅黑"/>
              </a:rPr>
              <a:t>月</a:t>
            </a:r>
            <a:r>
              <a:rPr b="1">
                <a:solidFill>
                  <a:srgbClr val="005376"/>
                </a:solidFill>
                <a:latin typeface="微软雅黑"/>
                <a:ea typeface="微软雅黑"/>
                <a:cs typeface="微软雅黑"/>
              </a:rPr>
              <a:t>XX</a:t>
            </a:r>
            <a:r>
              <a:rPr b="1">
                <a:solidFill>
                  <a:srgbClr val="005376"/>
                </a:solidFill>
                <a:latin typeface="微软雅黑"/>
                <a:ea typeface="微软雅黑"/>
                <a:cs typeface="微软雅黑"/>
              </a:rPr>
              <a:t>日</a:t>
            </a:r>
          </a:p>
        </p:txBody>
      </p:sp>
      <p:pic>
        <p:nvPicPr>
          <p:cNvPr id="42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ec6b3498548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9679" y="6415212"/>
            <a:ext cx="1655733" cy="324128"/>
          </a:xfrm>
          <a:prstGeom xmlns:a="http://schemas.openxmlformats.org/drawingml/2006/main" prst="rect">
            <a:avLst/>
          </a:prstGeom>
        </p:spPr>
      </p:pic>
      <p:sp>
        <p:nvSpPr>
          <p:cNvPr id="16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FFCD2DB-EF52-4A5D-9A1A-B08CDE49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50" y="4204207"/>
            <a:ext cx="11214100" cy="6804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>
                <a:solidFill>
                  <a:srgbClr val="005376"/>
                </a:solidFill>
                <a:latin typeface="微软雅黑"/>
                <a:ea typeface="微软雅黑"/>
                <a:cs typeface="微软雅黑"/>
              </a:rPr>
              <a:t>XX</a:t>
            </a:r>
            <a:r>
              <a:rPr b="1">
                <a:solidFill>
                  <a:srgbClr val="005376"/>
                </a:solidFill>
                <a:latin typeface="微软雅黑"/>
                <a:ea typeface="微软雅黑"/>
                <a:cs typeface="微软雅黑"/>
              </a:rPr>
              <a:t>学院</a:t>
            </a:r>
            <a:r>
              <a:rPr b="1">
                <a:solidFill>
                  <a:srgbClr val="005376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b="1">
                <a:solidFill>
                  <a:srgbClr val="005376"/>
                </a:solidFill>
                <a:latin typeface="微软雅黑"/>
                <a:ea typeface="微软雅黑"/>
                <a:cs typeface="微软雅黑"/>
              </a:rPr>
              <a:t>学部</a:t>
            </a:r>
            <a:endParaRPr b="1">
              <a:solidFill>
                <a:srgbClr val="00537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BEEDBE-C255-4125-9295-B5AFC609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2C8D24-113A-4D24-A768-41E3B472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"/>
            <a:ext cx="11220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预期贡献与风险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1C4C23-8427-4CE6-900A-C595CA23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1220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C4ED42-CF04-4C1B-9197-C7DB6FBF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3429000" cy="36957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8FB2B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542D67-23A9-4F45-B5D9-0168EC71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504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预期贡献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CD53F3-BB6D-401D-BFF0-59419A11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9718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统一可复现实验协议</a:t>
            </a:r>
          </a:p>
          <a:p xmlns:a="http://schemas.openxmlformats.org/drawingml/2006/main">
            <a:pPr>
              <a:def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散度 × 粒度受控比较</a:t>
            </a:r>
          </a:p>
          <a:p xmlns:a="http://schemas.openxmlformats.org/drawingml/2006/main">
            <a:pPr>
              <a:def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工具调用分层评测</a:t>
            </a:r>
          </a:p>
          <a:p xmlns:a="http://schemas.openxmlformats.org/drawingml/2006/main">
            <a:pPr>
              <a:def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成本与部署证据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成果形式：代码、配置、原始指标与论文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5E889C-87F1-47CB-8BDE-B6386800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3429000" cy="36957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8FB2B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EF1233-D66D-4FF3-9FF6-2756793E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62100"/>
            <a:ext cx="1504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主要风险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E9CA58-171A-4E17-BC99-7F8E980E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71700"/>
            <a:ext cx="29718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师生 tokenizer / 模板不兼容</a:t>
            </a:r>
          </a:p>
          <a:p xmlns:a="http://schemas.openxmlformats.org/drawingml/2006/main">
            <a:pPr>
              <a:def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全词表反馈成本过高</a:t>
            </a:r>
          </a:p>
          <a:p xmlns:a="http://schemas.openxmlformats.org/drawingml/2006/main">
            <a:pPr>
              <a:def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token 指标与端到端脱节</a:t>
            </a:r>
          </a:p>
          <a:p xmlns:a="http://schemas.openxmlformats.org/drawingml/2006/main">
            <a:pPr>
              <a:def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实验窗口与算力有限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结论风险：待实验验证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C0C990-45B1-4B39-82EC-29097E93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28750"/>
            <a:ext cx="3429000" cy="36957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8FB2B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CBC870-BD50-4011-9868-97A7D041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62100"/>
            <a:ext cx="1504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缓解措施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96A2E1-6FD9-41FC-A416-5189D116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71700"/>
            <a:ext cx="29718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训练前做对齐审计</a:t>
            </a:r>
          </a:p>
          <a:p xmlns:a="http://schemas.openxmlformats.org/drawingml/2006/main">
            <a:pPr>
              <a:def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分块、缓存、Top-K / K1</a:t>
            </a:r>
          </a:p>
          <a:p xmlns:a="http://schemas.openxmlformats.org/drawingml/2006/main">
            <a:pPr>
              <a:def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保留失败轨迹并分层报告</a:t>
            </a:r>
          </a:p>
          <a:p xmlns:a="http://schemas.openxmlformats.org/drawingml/2006/main">
            <a:pPr>
              <a:def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固定预算并记录环境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必要时缩小实验矩阵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9B36D5-3DC6-4CEF-B86F-65BACCA9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585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E8F1F3"/>
          </a:solidFill>
          <a:ln xmlns:a="http://schemas.openxmlformats.org/drawingml/2006/main" w="0">
            <a:solidFill>
              <a:srgbClr val="E8F1F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F3A0E6-75BC-4645-B99A-AC24A9EF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1042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5C7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75C79"/>
                </a:solidFill>
                <a:latin typeface="微软雅黑"/>
                <a:ea typeface="微软雅黑"/>
                <a:cs typeface="微软雅黑"/>
              </a:rPr>
              <a:t>研究结论与量化收益均标记为：待实验验证。</a:t>
            </a:r>
          </a:p>
        </p:txBody>
      </p:sp>
    </p:spTree>
    <p:extLst>
      <p:ext uri="{BB962C8B-B14F-4D97-AF65-F5344CB8AC3E}">
        <p14:creationId xmlns:p14="http://schemas.microsoft.com/office/powerpoint/2010/main" val="107335822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直角三角形 17">
            <a:extLst xmlns:a="http://schemas.openxmlformats.org/drawingml/2006/main">
              <a:ext uri="{FF2B5EF4-FFF2-40B4-BE49-F238E27FC236}">
                <a16:creationId xmlns:a16="http://schemas.microsoft.com/office/drawing/2014/main" id="{B7BDB45F-58A3-47FE-BC35-048A5A12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651" y="1094649"/>
            <a:ext cx="93174" cy="54367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Aft>
                <a:spcPts val="600"/>
              </a:spcAft>
              <a:buNone/>
            </a:pPr>
            <a:endParaRPr sz="2000" b="1">
              <a:solidFill>
                <a:srgbClr val="FFFFFF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9" name="直角三角形 18">
            <a:extLst xmlns:a="http://schemas.openxmlformats.org/drawingml/2006/main">
              <a:ext uri="{FF2B5EF4-FFF2-40B4-BE49-F238E27FC236}">
                <a16:creationId xmlns:a16="http://schemas.microsoft.com/office/drawing/2014/main" id="{CDF557E2-851E-4B96-ADA4-CE0278EF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655" y="1107656"/>
            <a:ext cx="93174" cy="54367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Aft>
                <a:spcPts val="600"/>
              </a:spcAft>
              <a:buNone/>
            </a:pPr>
            <a:endParaRPr sz="2000" b="1">
              <a:solidFill>
                <a:srgbClr val="FFFFFF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0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37BD35C7-6BC3-48C2-A02B-96926EF3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461911"/>
            <a:ext cx="3557884" cy="4933224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537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对角圆角矩形 80">
            <a:extLst xmlns:a="http://schemas.openxmlformats.org/drawingml/2006/main">
              <a:ext uri="{FF2B5EF4-FFF2-40B4-BE49-F238E27FC236}">
                <a16:creationId xmlns:a16="http://schemas.microsoft.com/office/drawing/2014/main" id="{EA607DEC-3577-4D3A-9283-F65B538A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99" y="1107656"/>
            <a:ext cx="2327480" cy="543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7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8581" tIns="49291" rIns="98581" bIns="49291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XXXX</a:t>
            </a: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B126FE4A-C9F5-43B0-A065-0C5A7003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978" y="1461911"/>
            <a:ext cx="3557884" cy="4933224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537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对角圆角矩形 80">
            <a:extLst xmlns:a="http://schemas.openxmlformats.org/drawingml/2006/main">
              <a:ext uri="{FF2B5EF4-FFF2-40B4-BE49-F238E27FC236}">
                <a16:creationId xmlns:a16="http://schemas.microsoft.com/office/drawing/2014/main" id="{B11E5D3E-90F7-41A7-8736-BF026FB1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176" y="1107656"/>
            <a:ext cx="2327480" cy="543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7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8581" tIns="49291" rIns="98581" bIns="49291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XXXX</a:t>
            </a: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直角三角形 23">
            <a:extLst xmlns:a="http://schemas.openxmlformats.org/drawingml/2006/main">
              <a:ext uri="{FF2B5EF4-FFF2-40B4-BE49-F238E27FC236}">
                <a16:creationId xmlns:a16="http://schemas.microsoft.com/office/drawing/2014/main" id="{1B588B61-67BB-47F6-B4F8-8D345D27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1493" y="1094649"/>
            <a:ext cx="93174" cy="54367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Aft>
                <a:spcPts val="600"/>
              </a:spcAft>
              <a:buNone/>
            </a:pPr>
            <a:endParaRPr sz="2000" b="1">
              <a:solidFill>
                <a:srgbClr val="FFFFFF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5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C7932C18-B564-461D-8E0B-3D50F314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816" y="1448904"/>
            <a:ext cx="3557884" cy="4933224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537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对角圆角矩形 80">
            <a:extLst xmlns:a="http://schemas.openxmlformats.org/drawingml/2006/main">
              <a:ext uri="{FF2B5EF4-FFF2-40B4-BE49-F238E27FC236}">
                <a16:creationId xmlns:a16="http://schemas.microsoft.com/office/drawing/2014/main" id="{C087EC68-F125-4290-ACFC-5840F27D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4015" y="1094649"/>
            <a:ext cx="2327480" cy="543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7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8581" tIns="49291" rIns="98581" bIns="49291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XXXX</a:t>
            </a: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7FF4AD-6D9E-4CAE-967B-7B7C5076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47179D-87E8-4911-8E65-F6399AF8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"/>
            <a:ext cx="11220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问题二：散度目标如何改变学习行为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E9B1F5-7C72-4819-B662-1A1DD0BD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1220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93187D-7097-4A6A-AFCB-97C191CE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5C7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75C79"/>
                </a:solidFill>
                <a:latin typeface="微软雅黑"/>
                <a:ea typeface="微软雅黑"/>
                <a:cs typeface="微软雅黑"/>
              </a:rPr>
              <a:t>固定学生状态与训练预算，仅切换目标函数；结论待实验验证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11d7a23ea4932"/>
          <a:stretch xmlns:a="http://schemas.openxmlformats.org/drawingml/2006/main"/>
        </p:blipFill>
        <p:spPr>
          <a:xfrm xmlns:a="http://schemas.openxmlformats.org/drawingml/2006/main">
            <a:off x="721110" y="1257300"/>
            <a:ext cx="5225279" cy="342900"/>
          </a:xfrm>
          <a:prstGeom xmlns:a="http://schemas.openxmlformats.org/drawingml/2006/main" prst="rect">
            <a:avLst/>
          </a:prstGeom>
        </p:spPr>
      </p:pic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df9cfdf2245de"/>
          <a:stretch xmlns:a="http://schemas.openxmlformats.org/drawingml/2006/main"/>
        </p:blipFill>
        <p:spPr>
          <a:xfrm xmlns:a="http://schemas.openxmlformats.org/drawingml/2006/main">
            <a:off x="6245610" y="1257300"/>
            <a:ext cx="5225279" cy="342900"/>
          </a:xfrm>
          <a:prstGeom xmlns:a="http://schemas.openxmlformats.org/drawingml/2006/main" prst="rect">
            <a:avLst/>
          </a:prstGeom>
        </p:spPr>
      </p:pic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dd2f8a9984c75"/>
          <a:stretch xmlns:a="http://schemas.openxmlformats.org/drawingml/2006/main"/>
        </p:blipFill>
        <p:spPr>
          <a:xfrm xmlns:a="http://schemas.openxmlformats.org/drawingml/2006/main">
            <a:off x="3752078" y="1619250"/>
            <a:ext cx="4687845" cy="2857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A8C2AF-9AC5-4940-9D66-EBF19B98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4290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8FB2B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6D693B-049C-4033-8315-FFE22119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828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Forward KL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005501-ED01-47FB-8813-73F07847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29718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教师分布加权</a:t>
            </a:r>
          </a:p>
          <a:p xmlns:a="http://schemas.openxmlformats.org/drawingml/2006/main">
            <a:pPr>
              <a:def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覆盖教师支持区域</a:t>
            </a:r>
          </a:p>
          <a:p xmlns:a="http://schemas.openxmlformats.org/drawingml/2006/main">
            <a:pPr>
              <a:def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保留更多候选信息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关注：mode-covering 行为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6A3F99-B155-42FC-A3CE-3FFAC0C8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4290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8FB2B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5C50B5-17D4-408C-8CAD-451970B8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33600"/>
            <a:ext cx="1828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Reverse KL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01DC16-E873-487F-BD31-5C20F782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43200"/>
            <a:ext cx="29718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学生分布加权</a:t>
            </a:r>
          </a:p>
          <a:p xmlns:a="http://schemas.openxmlformats.org/drawingml/2006/main">
            <a:pPr>
              <a:def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聚焦当前高概率区域</a:t>
            </a:r>
          </a:p>
          <a:p xmlns:a="http://schemas.openxmlformats.org/drawingml/2006/main">
            <a:pPr>
              <a:def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强调当前策略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关注：mode-seeking 行为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C6B34D-25BB-4AFA-826A-2F47F10E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00250"/>
            <a:ext cx="34290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8FB2B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44D18F-2FB0-49DE-8832-B2A951B4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33600"/>
            <a:ext cx="1828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广义散度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36FDC0-B694-488C-AF5A-5357CA70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43200"/>
            <a:ext cx="29718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在两类权重间折中</a:t>
            </a:r>
          </a:p>
          <a:p xmlns:a="http://schemas.openxmlformats.org/drawingml/2006/main">
            <a:pPr>
              <a:def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调节匹配偏好</a:t>
            </a:r>
          </a:p>
          <a:p xmlns:a="http://schemas.openxmlformats.org/drawingml/2006/main">
            <a:pPr>
              <a:def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检验连续变化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D3D"/>
                </a:solidFill>
                <a:latin typeface="微软雅黑"/>
                <a:ea typeface="微软雅黑"/>
                <a:cs typeface="微软雅黑"/>
              </a:rPr>
              <a:t>候选：Jensen–Shannon / skew-KL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DCBA5A-CEDD-473A-9328-2F26A0EA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585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E8F1F3"/>
          </a:solidFill>
          <a:ln xmlns:a="http://schemas.openxmlformats.org/drawingml/2006/main" w="0">
            <a:solidFill>
              <a:srgbClr val="E8F1F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3E1F86B-7EB1-4EA1-BFA8-AC3C60D3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1042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5C7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75C79"/>
                </a:solidFill>
                <a:latin typeface="微软雅黑"/>
                <a:ea typeface="微软雅黑"/>
                <a:cs typeface="微软雅黑"/>
              </a:rPr>
              <a:t>观察：loss / 梯度 / 熵与分布重叠 / 工具调用分层指标；不预设优胜者。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0B92C6E-8BB7-4E5B-A9D0-EBC26765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8883DA-AD00-4569-9076-C0BDAC06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1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866131-85DC-4634-81F5-4358EEA2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"/>
            <a:ext cx="11220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Q&amp;A｜答辩交流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620DFE-7AF7-47F2-8436-553EEB99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1220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C79"/>
          </a:solidFill>
          <a:ln xmlns:a="http://schemas.openxmlformats.org/drawingml/2006/main" w="0">
            <a:solidFill>
              <a:srgbClr val="075C7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F4F2103-F75A-41C3-A955-6460282D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075C79"/>
                </a:solidFill>
                <a:latin typeface="微软雅黑"/>
                <a:ea typeface="微软雅黑"/>
                <a:cs typeface="微软雅黑"/>
              </a:defRPr>
            </a:pPr>
            <a:r>
              <a:rPr sz="4950" b="1">
                <a:solidFill>
                  <a:srgbClr val="075C79"/>
                </a:solidFill>
                <a:latin typeface="微软雅黑"/>
                <a:ea typeface="微软雅黑"/>
                <a:cs typeface="微软雅黑"/>
              </a:rPr>
              <a:t>谢谢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2ED62E6-1C83-4A42-B08A-8A5587D4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请老师指导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00E17E3-114B-4C4D-9E8F-278E3E12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B2B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07D789-396B-43DD-A274-C600A983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F6F78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5F6F78"/>
                </a:solidFill>
                <a:latin typeface="微软雅黑"/>
                <a:ea typeface="微软雅黑"/>
                <a:cs typeface="微软雅黑"/>
              </a:rPr>
              <a:t>张子琦  |  计算机科学与技术  |  2026年9月27日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EE956D9-673E-49E9-8A00-0F014C7E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5172" y="6578632"/>
            <a:ext cx="2743200" cy="27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7996371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2026-09-27T04:38:59.9620000Z</dcterms:created>
  <dcterms:modified xsi:type="dcterms:W3CDTF">2026-09-27T04:38:59.9630000Z</dcterms:modified>
</coreProperties>
</file>