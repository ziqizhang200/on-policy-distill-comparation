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5e96eebedb409a" /><Relationship Type="http://schemas.openxmlformats.org/officeDocument/2006/relationships/extended-properties" Target="/docProps/app.xml" Id="R9da40bd39b8a4b4a" /><Relationship Type="http://schemas.openxmlformats.org/officeDocument/2006/relationships/officeDocument" Target="/ppt/presentation.xml" Id="Rcea2c349e4e44e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4a816e30464846"/>
  </p:sldMasterIdLst>
  <p:notesMasterIdLst>
    <p:notesMasterId xmlns:r="http://schemas.openxmlformats.org/officeDocument/2006/relationships" r:id="R5720ca7fb59544c7"/>
  </p:notesMasterIdLst>
  <p:sldIdLst>
    <p:sldId xmlns:r="http://schemas.openxmlformats.org/officeDocument/2006/relationships" id="256" r:id="Rad0ae32ba1164f53"/>
    <p:sldId xmlns:r="http://schemas.openxmlformats.org/officeDocument/2006/relationships" id="257" r:id="Rb8c3d1d3d59a4d5a"/>
    <p:sldId xmlns:r="http://schemas.openxmlformats.org/officeDocument/2006/relationships" id="258" r:id="R5dbe03f5c11844e0"/>
    <p:sldId xmlns:r="http://schemas.openxmlformats.org/officeDocument/2006/relationships" id="259" r:id="Rf1d68e580fa44108"/>
    <p:sldId xmlns:r="http://schemas.openxmlformats.org/officeDocument/2006/relationships" id="260" r:id="R897dabe483034878"/>
    <p:sldId xmlns:r="http://schemas.openxmlformats.org/officeDocument/2006/relationships" id="261" r:id="R1a1d2de8a9194c00"/>
    <p:sldId xmlns:r="http://schemas.openxmlformats.org/officeDocument/2006/relationships" id="262" r:id="R317802594ce44c8e"/>
    <p:sldId xmlns:r="http://schemas.openxmlformats.org/officeDocument/2006/relationships" id="263" r:id="Rc9866d0999c54ccc"/>
    <p:sldId xmlns:r="http://schemas.openxmlformats.org/officeDocument/2006/relationships" id="264" r:id="R9a0a39155bd048a6"/>
    <p:sldId xmlns:r="http://schemas.openxmlformats.org/officeDocument/2006/relationships" id="265" r:id="R6eb2f2571b114548"/>
    <p:sldId xmlns:r="http://schemas.openxmlformats.org/officeDocument/2006/relationships" id="266" r:id="R237b9bfc99fc47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5044d8011c4e64" /><Relationship Type="http://schemas.openxmlformats.org/officeDocument/2006/relationships/slideMaster" Target="/ppt/slideMasters/slideMaster1.xml" Id="Ra74a816e30464846" /><Relationship Type="http://schemas.openxmlformats.org/officeDocument/2006/relationships/notesMaster" Target="/ppt/notesMasters/notesMaster1.xml" Id="R5720ca7fb59544c7" /><Relationship Type="http://schemas.openxmlformats.org/officeDocument/2006/relationships/presProps" Target="/ppt/presProps.xml" Id="Rd9834a7bef814846" /><Relationship Type="http://schemas.openxmlformats.org/officeDocument/2006/relationships/viewProps" Target="/ppt/viewProps.xml" Id="R6c7ffb4f0efa4e09" /><Relationship Type="http://schemas.openxmlformats.org/officeDocument/2006/relationships/tableStyles" Target="/ppt/tableStyles.xml" Id="Re6c0a937c8674390" /><Relationship Type="http://schemas.openxmlformats.org/officeDocument/2006/relationships/slide" Target="/ppt/slides/slide1.xml" Id="Rad0ae32ba1164f53" /><Relationship Type="http://schemas.openxmlformats.org/officeDocument/2006/relationships/slide" Target="/ppt/slides/slide2.xml" Id="Rb8c3d1d3d59a4d5a" /><Relationship Type="http://schemas.openxmlformats.org/officeDocument/2006/relationships/slide" Target="/ppt/slides/slide3.xml" Id="R5dbe03f5c11844e0" /><Relationship Type="http://schemas.openxmlformats.org/officeDocument/2006/relationships/slide" Target="/ppt/slides/slide4.xml" Id="Rf1d68e580fa44108" /><Relationship Type="http://schemas.openxmlformats.org/officeDocument/2006/relationships/slide" Target="/ppt/slides/slide5.xml" Id="R897dabe483034878" /><Relationship Type="http://schemas.openxmlformats.org/officeDocument/2006/relationships/slide" Target="/ppt/slides/slide6.xml" Id="R1a1d2de8a9194c00" /><Relationship Type="http://schemas.openxmlformats.org/officeDocument/2006/relationships/slide" Target="/ppt/slides/slide7.xml" Id="R317802594ce44c8e" /><Relationship Type="http://schemas.openxmlformats.org/officeDocument/2006/relationships/slide" Target="/ppt/slides/slide8.xml" Id="Rc9866d0999c54ccc" /><Relationship Type="http://schemas.openxmlformats.org/officeDocument/2006/relationships/slide" Target="/ppt/slides/slide9.xml" Id="R9a0a39155bd048a6" /><Relationship Type="http://schemas.openxmlformats.org/officeDocument/2006/relationships/slide" Target="/ppt/slides/slide10.xml" Id="R6eb2f2571b114548" /><Relationship Type="http://schemas.openxmlformats.org/officeDocument/2006/relationships/slide" Target="/ppt/slides/slide11.xml" Id="R237b9bfc99fc47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788f7065ed46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89a582ffd641dc" /><Relationship Type="http://schemas.openxmlformats.org/officeDocument/2006/relationships/notesMaster" Target="/ppt/notesMasters/notesMaster1.xml" Id="R7a7f1e9154f241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d04b86292c46f7" /><Relationship Type="http://schemas.openxmlformats.org/officeDocument/2006/relationships/notesMaster" Target="/ppt/notesMasters/notesMaster1.xml" Id="Rba0089fea1394a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fdf66561b34040" /><Relationship Type="http://schemas.openxmlformats.org/officeDocument/2006/relationships/notesMaster" Target="/ppt/notesMasters/notesMaster1.xml" Id="R7c14572134374e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70cbffa732a47c9" /><Relationship Type="http://schemas.openxmlformats.org/officeDocument/2006/relationships/notesMaster" Target="/ppt/notesMasters/notesMaster1.xml" Id="R0ed5a7be7edc4b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63def85d5d42c0" /><Relationship Type="http://schemas.openxmlformats.org/officeDocument/2006/relationships/notesMaster" Target="/ppt/notesMasters/notesMaster1.xml" Id="Redf1d8330a1143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0dec728b574c7e" /><Relationship Type="http://schemas.openxmlformats.org/officeDocument/2006/relationships/notesMaster" Target="/ppt/notesMasters/notesMaster1.xml" Id="Rcd35c91b244f46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6e795a3d1474291" /><Relationship Type="http://schemas.openxmlformats.org/officeDocument/2006/relationships/notesMaster" Target="/ppt/notesMasters/notesMaster1.xml" Id="Re3e9f420e0fc4a2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4531fb56b84afb" /><Relationship Type="http://schemas.openxmlformats.org/officeDocument/2006/relationships/notesMaster" Target="/ppt/notesMasters/notesMaster1.xml" Id="Rfa6084c7847142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8d1e02d2284ab2" /><Relationship Type="http://schemas.openxmlformats.org/officeDocument/2006/relationships/notesMaster" Target="/ppt/notesMasters/notesMaster1.xml" Id="R02e6580e1b6940a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4406f0ab342400c" /><Relationship Type="http://schemas.openxmlformats.org/officeDocument/2006/relationships/notesMaster" Target="/ppt/notesMasters/notesMaster1.xml" Id="Rbdb64a100d1f497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282fe5c01b24e84" /><Relationship Type="http://schemas.openxmlformats.org/officeDocument/2006/relationships/notesMaster" Target="/ppt/notesMasters/notesMaster1.xml" Id="Rdf5fd715e0ef42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时间：0:30</a:t>
            </a:r>
          </a:p>
          <a:p xmlns:a="http://schemas.openxmlformats.org/drawingml/2006/main">
            <a:r>
              <a:t>要点：介绍课题名称、研究对象与汇报人。</a:t>
            </a:r>
          </a:p>
          <a:p xmlns:a="http://schemas.openxmlformats.org/drawingml/2006/main">
            <a:r>
              <a:t>过渡：从在线策略蒸馏的研究动机开始，说明为什么需要把学生真实生成状态纳入训练。</a:t>
            </a:r>
          </a:p>
          <a:p xmlns:a="http://schemas.openxmlformats.org/drawingml/2006/main">
            <a:r>
              <a:t>提示：封面信息为项目当前开题阶段信息。 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时间：0:50</a:t>
            </a:r>
          </a:p>
          <a:p xmlns:a="http://schemas.openxmlformats.org/drawingml/2006/main">
            <a:r>
              <a:t>要点：强调三类缺口：状态分布偏移、目标函数与监督粒度的耦合、token 指标和端到端工具调用之间的断层。</a:t>
            </a:r>
          </a:p>
          <a:p xmlns:a="http://schemas.openxmlformats.org/drawingml/2006/main">
            <a:r>
              <a:t>过渡：下面把这些缺口压缩成三个可检验的研究问题。</a:t>
            </a:r>
          </a:p>
          <a:p xmlns:a="http://schemas.openxmlformats.org/drawingml/2006/main">
            <a:r>
              <a:t>提示：此页是研究动机与问题缺口，不报告实验结论。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要点：依次说明 RQ1 状态分布、RQ2 散度目标、RQ3 监督信息粒度；每一列都给出问题、方案和输出。</a:t>
            </a:r>
          </a:p>
          <a:p xmlns:a="http://schemas.openxmlformats.org/drawingml/2006/main">
            <a:r>
              <a:t>过渡：三个问题共享同一条可复现训练与评测流水线。</a:t>
            </a:r>
          </a:p>
          <a:p xmlns:a="http://schemas.openxmlformats.org/drawingml/2006/main">
            <a:r>
              <a:t>提示：这里展示研究设计，具体结论仍待实验验证。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时间：0:45</a:t>
            </a:r>
          </a:p>
          <a:p xmlns:a="http://schemas.openxmlformats.org/drawingml/2006/main">
            <a:r>
              <a:t>要点：技术路线分为对齐准备、在线反馈、受控训练、统一评测和归因复现五步；数据划分、模型版本、token 预算、采样参数和 evaluator 贯穿全程保持一致。</a:t>
            </a:r>
          </a:p>
          <a:p xmlns:a="http://schemas.openxmlformats.org/drawingml/2006/main">
            <a:r>
              <a:t>过渡：下一页展开在线反馈闭环。</a:t>
            </a:r>
          </a:p>
          <a:p xmlns:a="http://schemas.openxmlformats.org/drawingml/2006/main">
            <a:r>
              <a:t>提示：此页说明计划中的工程链路，不代表实验已经完成。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要点：学生先按当前策略 rollout，教师在真实学生状态上反馈；公式说明状态定义与逐位置在线目标，左侧流程图强调训练闭环。</a:t>
            </a:r>
          </a:p>
          <a:p xmlns:a="http://schemas.openxmlformats.org/drawingml/2006/main">
            <a:r>
              <a:t>过渡：状态固定后，第二个变量是散度目标本身。</a:t>
            </a:r>
          </a:p>
          <a:p xmlns:a="http://schemas.openxmlformats.org/drawingml/2006/main">
            <a:r>
              <a:t>提示：在线方案的实际收益待实验验证。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要点：这一页不是三个孤立方法框，而是一条从覆盖到聚焦的待检验连续轴。Forward KL 由教师分布加权，Reverse KL 由学生分布加权，Jensen–Shannon 通过混合分布连接两种方向。实验固定学生状态与训练预算，只切换目标函数，并从优化轨迹、分布变化和工具调用结果三个层次观察。</a:t>
            </a:r>
          </a:p>
          <a:p xmlns:a="http://schemas.openxmlformats.org/drawingml/2006/main">
            <a:r>
              <a:t>过渡：散度确定以后，还要比较教师反馈保留多少信息。</a:t>
            </a:r>
          </a:p>
          <a:p xmlns:a="http://schemas.openxmlformats.org/drawingml/2006/main">
            <a:r>
              <a:t>提示：连续轴表示研究假设，不预设优胜者。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要点：这张阶梯图强调监督信息逐级收窄。Full vocabulary 保留完整教师分布；Top-K 保留高概率支持集并重新归一化；K1 每次只采样一个教师 token，是教师交叉熵项的单样本估计，并不等价于完整 KL。向下收窄时，信息量和反馈成本下降，估计方差上升。</a:t>
            </a:r>
          </a:p>
          <a:p xmlns:a="http://schemas.openxmlformats.org/drawingml/2006/main">
            <a:r>
              <a:t>过渡：下面说明如何固定其他因素，完成公平比较。</a:t>
            </a:r>
          </a:p>
          <a:p xmlns:a="http://schemas.openxmlformats.org/drawingml/2006/main">
            <a:r>
              <a:t>提示：效果、稳定性和成本差异均待实验验证。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时间：0:55</a:t>
            </a:r>
          </a:p>
          <a:p xmlns:a="http://schemas.openxmlformats.org/drawingml/2006/main">
            <a:r>
              <a:t>要点：固定模型、数据、LoRA、训练预算、生成参数与评测脚本；同时报告任务、稳定性、资源和可追溯性指标。</a:t>
            </a:r>
          </a:p>
          <a:p xmlns:a="http://schemas.openxmlformats.org/drawingml/2006/main">
            <a:r>
              <a:t>过渡：最后给出当前计划、风险与预期产出。</a:t>
            </a:r>
          </a:p>
          <a:p xmlns:a="http://schemas.openxmlformats.org/drawingml/2006/main">
            <a:r>
              <a:t>提示：正式实验至少 3 个随机种子，所有性能结论待实验验证。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时间：0:45</a:t>
            </a:r>
          </a:p>
          <a:p xmlns:a="http://schemas.openxmlformats.org/drawingml/2006/main">
            <a:r>
              <a:t>要点：按月份说明文献与方案、基线实现、正式实验、论文初稿、修改与答辩的安排；红色节点对应开题、中期和答辩。</a:t>
            </a:r>
          </a:p>
          <a:p xmlns:a="http://schemas.openxmlformats.org/drawingml/2006/main">
            <a:r>
              <a:t>过渡：计划之外，还需要提前识别预期贡献与主要风险。</a:t>
            </a:r>
          </a:p>
          <a:p xmlns:a="http://schemas.openxmlformats.org/drawingml/2006/main">
            <a:r>
              <a:t>提示：时间表是当前计划，实际节点将随实验进展调整。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时间：0:45</a:t>
            </a:r>
          </a:p>
          <a:p xmlns:a="http://schemas.openxmlformats.org/drawingml/2006/main">
            <a:r>
              <a:t>要点：把预期贡献、主要风险和对应措施放在同一行解释；贡献是研究目标，量化收益仍待实验验证。</a:t>
            </a:r>
          </a:p>
          <a:p xmlns:a="http://schemas.openxmlformats.org/drawingml/2006/main">
            <a:r>
              <a:t>过渡：以上内容汇报完毕，进入答辩交流。</a:t>
            </a:r>
          </a:p>
          <a:p xmlns:a="http://schemas.openxmlformats.org/drawingml/2006/main">
            <a:r>
              <a:t>提示：此页只列出预期贡献和风险，不把预期写成已验证结果。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时间：0:20 + 交流</a:t>
            </a:r>
          </a:p>
          <a:p xmlns:a="http://schemas.openxmlformats.org/drawingml/2006/main">
            <a:r>
              <a:t>要点：感谢老师，准备围绕研究问题、控制变量、成本预算与待验证实验假设回答。</a:t>
            </a:r>
          </a:p>
          <a:p xmlns:a="http://schemas.openxmlformats.org/drawingml/2006/main">
            <a:r>
              <a:t>过渡：邀请老师提问。</a:t>
            </a:r>
          </a:p>
          <a:p xmlns:a="http://schemas.openxmlformats.org/drawingml/2006/main">
            <a:r>
              <a:t>提示：交流页不包含任何实验结果。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18a5e0a2fb44e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cb03eb0e5b4f7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9e8ee7a6fd48b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8329bc9bf2445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5adcbe69654fd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c732c4d3a34ad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f0c011ddd4477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263915b29b472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f0d92c2f9541e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7e17e93851406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74c02f029c4a41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jpeg" Id="Re2b50f7dcf874876" /><Relationship Type="http://schemas.openxmlformats.org/officeDocument/2006/relationships/theme" Target="/ppt/slideMasters/theme/theme2.xml" Id="R25403a11d56744b9" /><Relationship Type="http://schemas.openxmlformats.org/officeDocument/2006/relationships/slideLayout" Target="/ppt/slideLayouts/slideLayout1.xml" Id="R716bb9f478e449c2" /><Relationship Type="http://schemas.openxmlformats.org/officeDocument/2006/relationships/slideLayout" Target="/ppt/slideLayouts/slideLayout2.xml" Id="R585a5b0bd78644f5" /><Relationship Type="http://schemas.openxmlformats.org/officeDocument/2006/relationships/slideLayout" Target="/ppt/slideLayouts/slideLayout3.xml" Id="R0cd7a987a91f4fb8" /><Relationship Type="http://schemas.openxmlformats.org/officeDocument/2006/relationships/slideLayout" Target="/ppt/slideLayouts/slideLayout4.xml" Id="R0d1a466acc404914" /><Relationship Type="http://schemas.openxmlformats.org/officeDocument/2006/relationships/slideLayout" Target="/ppt/slideLayouts/slideLayout5.xml" Id="R3ac804dc4c6546f8" /><Relationship Type="http://schemas.openxmlformats.org/officeDocument/2006/relationships/slideLayout" Target="/ppt/slideLayouts/slideLayout6.xml" Id="R99bec8efbc144e91" /><Relationship Type="http://schemas.openxmlformats.org/officeDocument/2006/relationships/slideLayout" Target="/ppt/slideLayouts/slideLayout7.xml" Id="R375376dc4e8b487a" /><Relationship Type="http://schemas.openxmlformats.org/officeDocument/2006/relationships/slideLayout" Target="/ppt/slideLayouts/slideLayout8.xml" Id="Rb395270b5f0f4caa" /><Relationship Type="http://schemas.openxmlformats.org/officeDocument/2006/relationships/slideLayout" Target="/ppt/slideLayouts/slideLayout9.xml" Id="R087963e9ec414422" /><Relationship Type="http://schemas.openxmlformats.org/officeDocument/2006/relationships/slideLayout" Target="/ppt/slideLayouts/slideLayout10.xml" Id="Rdfee44f9e2b44c0b" /><Relationship Type="http://schemas.openxmlformats.org/officeDocument/2006/relationships/slideLayout" Target="/ppt/slideLayouts/slideLayout11.xml" Id="R3fab549c26f546c7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2b50f7dcf87487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6bb9f478e449c2"/>
    <p:sldLayoutId xmlns:r="http://schemas.openxmlformats.org/officeDocument/2006/relationships" id="2147483650" r:id="R585a5b0bd78644f5"/>
    <p:sldLayoutId xmlns:r="http://schemas.openxmlformats.org/officeDocument/2006/relationships" id="2147483651" r:id="R0cd7a987a91f4fb8"/>
    <p:sldLayoutId xmlns:r="http://schemas.openxmlformats.org/officeDocument/2006/relationships" id="2147483652" r:id="R0d1a466acc404914"/>
    <p:sldLayoutId xmlns:r="http://schemas.openxmlformats.org/officeDocument/2006/relationships" id="2147483653" r:id="R3ac804dc4c6546f8"/>
    <p:sldLayoutId xmlns:r="http://schemas.openxmlformats.org/officeDocument/2006/relationships" id="2147483654" r:id="R99bec8efbc144e91"/>
    <p:sldLayoutId xmlns:r="http://schemas.openxmlformats.org/officeDocument/2006/relationships" id="2147483655" r:id="R375376dc4e8b487a"/>
    <p:sldLayoutId xmlns:r="http://schemas.openxmlformats.org/officeDocument/2006/relationships" id="2147483656" r:id="Rb395270b5f0f4caa"/>
    <p:sldLayoutId xmlns:r="http://schemas.openxmlformats.org/officeDocument/2006/relationships" id="2147483657" r:id="R087963e9ec414422"/>
    <p:sldLayoutId xmlns:r="http://schemas.openxmlformats.org/officeDocument/2006/relationships" id="2147483658" r:id="Rdfee44f9e2b44c0b"/>
    <p:sldLayoutId xmlns:r="http://schemas.openxmlformats.org/officeDocument/2006/relationships" id="2147483659" r:id="R3fab549c26f546c7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e97f5c3f9446f2" /><Relationship Type="http://schemas.openxmlformats.org/officeDocument/2006/relationships/image" Target="/ppt/media/image.png" Id="R36ea2ad1953a4736" /><Relationship Type="http://schemas.openxmlformats.org/officeDocument/2006/relationships/image" Target="/ppt/media/image2.png" Id="R9187029110c64dae" /><Relationship Type="http://schemas.openxmlformats.org/officeDocument/2006/relationships/image" Target="/ppt/media/image3.png" Id="R70761b8df1874abe" /><Relationship Type="http://schemas.openxmlformats.org/officeDocument/2006/relationships/notesSlide" Target="/ppt/notesSlides/notesSlide1.xml" Id="R5b0ad5f9ac3946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67f1929ef54801" /><Relationship Type="http://schemas.openxmlformats.org/officeDocument/2006/relationships/notesSlide" Target="/ppt/notesSlides/notesSlide2.xml" Id="R442650b9166948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6972cbae314ef3" /><Relationship Type="http://schemas.openxmlformats.org/officeDocument/2006/relationships/notesSlide" Target="/ppt/notesSlides/notesSlide3.xml" Id="R8887b4e39a3d49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4a1f5985964f9a" /><Relationship Type="http://schemas.openxmlformats.org/officeDocument/2006/relationships/notesSlide" Target="/ppt/notesSlides/notesSlide4.xml" Id="R1ee4b1241ff647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582fa616a344fd" /><Relationship Type="http://schemas.openxmlformats.org/officeDocument/2006/relationships/image" Target="/ppt/media/image4.png" Id="R5c35e772143f4ff6" /><Relationship Type="http://schemas.openxmlformats.org/officeDocument/2006/relationships/image" Target="/ppt/media/image5.png" Id="R042257d2ca33475e" /><Relationship Type="http://schemas.openxmlformats.org/officeDocument/2006/relationships/notesSlide" Target="/ppt/notesSlides/notesSlide5.xml" Id="R66bc7f3e7543435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be31c6ed424295" /><Relationship Type="http://schemas.openxmlformats.org/officeDocument/2006/relationships/image" Target="/ppt/media/image6.png" Id="Re6ee335990254d44" /><Relationship Type="http://schemas.openxmlformats.org/officeDocument/2006/relationships/image" Target="/ppt/media/image7.png" Id="R45b3254ce8d64a53" /><Relationship Type="http://schemas.openxmlformats.org/officeDocument/2006/relationships/image" Target="/ppt/media/image8.png" Id="R3d13c9a5de8148ba" /><Relationship Type="http://schemas.openxmlformats.org/officeDocument/2006/relationships/image" Target="/ppt/media/image9.png" Id="R451d4eedd79c4b19" /><Relationship Type="http://schemas.openxmlformats.org/officeDocument/2006/relationships/notesSlide" Target="/ppt/notesSlides/notesSlide6.xml" Id="R3bb4d80a600243f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cb14fa0ffd4d72" /><Relationship Type="http://schemas.openxmlformats.org/officeDocument/2006/relationships/image" Target="/ppt/media/image10.png" Id="Rd87446c74a414a67" /><Relationship Type="http://schemas.openxmlformats.org/officeDocument/2006/relationships/image" Target="/ppt/media/image11.png" Id="Re25c5f3d090e4056" /><Relationship Type="http://schemas.openxmlformats.org/officeDocument/2006/relationships/notesSlide" Target="/ppt/notesSlides/notesSlide7.xml" Id="R2311708eb35346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aa4f0489ac4c81" /><Relationship Type="http://schemas.openxmlformats.org/officeDocument/2006/relationships/notesSlide" Target="/ppt/notesSlides/notesSlide8.xml" Id="R6a2cd2e6b70c48c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a67c27333e40b1" /><Relationship Type="http://schemas.openxmlformats.org/officeDocument/2006/relationships/image" Target="/ppt/media/image2.jpeg" Id="Rc00cf52dc0b14615" /><Relationship Type="http://schemas.openxmlformats.org/officeDocument/2006/relationships/image" Target="/ppt/media/image.png" Id="Rb9b64be0f11a447c" /><Relationship Type="http://schemas.openxmlformats.org/officeDocument/2006/relationships/image" Target="/ppt/media/image2.png" Id="Rcee71dd1289747fd" /><Relationship Type="http://schemas.openxmlformats.org/officeDocument/2006/relationships/image" Target="/ppt/media/image3.png" Id="Re152ef5163ac4293" /><Relationship Type="http://schemas.openxmlformats.org/officeDocument/2006/relationships/notesSlide" Target="/ppt/notesSlides/notesSlide9.xml" Id="R051de5458c854ae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62e852e2d94fb3" /><Relationship Type="http://schemas.openxmlformats.org/officeDocument/2006/relationships/image" Target="/ppt/media/image2.jpeg" Id="R096d39425498496c" /><Relationship Type="http://schemas.openxmlformats.org/officeDocument/2006/relationships/image" Target="/ppt/media/image.png" Id="Rfebf8029d231486d" /><Relationship Type="http://schemas.openxmlformats.org/officeDocument/2006/relationships/image" Target="/ppt/media/image2.png" Id="Rc01f1ebe5ce940f0" /><Relationship Type="http://schemas.openxmlformats.org/officeDocument/2006/relationships/image" Target="/ppt/media/image3.png" Id="R8fbb5c6587dd4edc" /><Relationship Type="http://schemas.openxmlformats.org/officeDocument/2006/relationships/notesSlide" Target="/ppt/notesSlides/notesSlide10.xml" Id="R5e4f723324e441d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7c82f7e1fc45b9" /><Relationship Type="http://schemas.openxmlformats.org/officeDocument/2006/relationships/image" Target="/ppt/media/image6.png" Id="Rb1a8b454cf6f4b15" /><Relationship Type="http://schemas.openxmlformats.org/officeDocument/2006/relationships/image" Target="/ppt/media/image7.png" Id="R72680b3896444d3e" /><Relationship Type="http://schemas.openxmlformats.org/officeDocument/2006/relationships/image" Target="/ppt/media/image8.png" Id="R3441be6c81a84c6a" /><Relationship Type="http://schemas.openxmlformats.org/officeDocument/2006/relationships/image" Target="/ppt/media/image9.png" Id="Raca8b85644824c8b" /><Relationship Type="http://schemas.openxmlformats.org/officeDocument/2006/relationships/notesSlide" Target="/ppt/notesSlides/notesSlide11.xml" Id="R16b30a6216004f0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图片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ea2ad1953a47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79282" y="3602075"/>
            <a:ext cx="6287881" cy="2749276"/>
          </a:xfrm>
          <a:prstGeom xmlns:a="http://schemas.openxmlformats.org/drawingml/2006/main" prst="rect">
            <a:avLst/>
          </a:prstGeom>
        </p:spPr>
      </p:pic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A4B8E62-0484-4399-BB95-9C58D90D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" y="6296878"/>
            <a:ext cx="12191999" cy="5611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solidFill>
              <a:srgbClr val="005375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309CFFD4-7FA8-41CD-B3C6-6670C268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30206"/>
            <a:ext cx="12192000" cy="21736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solidFill>
              <a:srgbClr val="005375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40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直接连接符 5">
            <a:extLst xmlns:a="http://schemas.openxmlformats.org/drawingml/2006/main">
              <a:ext uri="{FF2B5EF4-FFF2-40B4-BE49-F238E27FC236}">
                <a16:creationId xmlns:a16="http://schemas.microsoft.com/office/drawing/2014/main" id="{63224764-5715-486D-AAE5-02A8411F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" y="672215"/>
            <a:ext cx="11174288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副标题 2">
            <a:extLst xmlns:a="http://schemas.openxmlformats.org/drawingml/2006/main">
              <a:ext uri="{FF2B5EF4-FFF2-40B4-BE49-F238E27FC236}">
                <a16:creationId xmlns:a16="http://schemas.microsoft.com/office/drawing/2014/main" id="{13219075-55A7-41FF-AD1E-5861A2A3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50" y="5386000"/>
            <a:ext cx="11214100" cy="6804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/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defRPr sz="1725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2026年9月27日</a:t>
            </a:r>
          </a:p>
        </p:txBody>
      </p:sp>
      <p:sp>
        <p:nvSpPr>
          <p:cNvPr id="10" name="文本框 9">
            <a:extLst xmlns:a="http://schemas.openxmlformats.org/drawingml/2006/main">
              <a:ext uri="{FF2B5EF4-FFF2-40B4-BE49-F238E27FC236}">
                <a16:creationId xmlns:a16="http://schemas.microsoft.com/office/drawing/2014/main" id="{C2EE677B-07B1-4D2B-A471-D5E9161A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4934"/>
            <a:ext cx="4119880" cy="3987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本科毕业设计开题答辩</a:t>
            </a:r>
          </a:p>
        </p:txBody>
      </p:sp>
      <p:pic>
        <p:nvPicPr>
          <p:cNvPr id="27" name="图片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87029110c6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48710" y="228600"/>
            <a:ext cx="1061070" cy="463936"/>
          </a:xfrm>
          <a:prstGeom xmlns:a="http://schemas.openxmlformats.org/drawingml/2006/main" prst="rect">
            <a:avLst/>
          </a:prstGeom>
        </p:spPr>
      </p:pic>
      <p:pic>
        <p:nvPicPr>
          <p:cNvPr id="28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61b8df1874a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0314" y="6415212"/>
            <a:ext cx="1655733" cy="324128"/>
          </a:xfrm>
          <a:prstGeom xmlns:a="http://schemas.openxmlformats.org/drawingml/2006/main" prst="rect">
            <a:avLst/>
          </a:prstGeom>
        </p:spPr>
      </p:pic>
      <p:sp>
        <p:nvSpPr>
          <p:cNvPr id="12" name="副标题 2">
            <a:extLst xmlns:a="http://schemas.openxmlformats.org/drawingml/2006/main">
              <a:ext uri="{FF2B5EF4-FFF2-40B4-BE49-F238E27FC236}">
                <a16:creationId xmlns:a16="http://schemas.microsoft.com/office/drawing/2014/main" id="{077F7373-2BDF-4355-8F9E-745B8B33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50" y="4070300"/>
            <a:ext cx="11214100" cy="6804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/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defRPr sz="1800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计算机科学与技术</a:t>
            </a:r>
            <a:endParaRPr b="1">
              <a:solidFill>
                <a:srgbClr val="00537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BFAD82-2683-4B43-8869-F00BB27D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48100"/>
            <a:ext cx="7239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E96BA2-58EA-48B2-8141-63F6B992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57650"/>
            <a:ext cx="11201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800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计算机科学与技术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5EF28E-6D42-40A4-9BBE-F8AA2C00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62550"/>
            <a:ext cx="11201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2026年9月27日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F30806-A272-4AA3-9A16-AB81BBF2A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682" y="1382173"/>
            <a:ext cx="11201400" cy="20696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基于在线策略蒸馏的</a:t>
            </a:r>
          </a:p>
          <a:p xmlns:a="http://schemas.openxmlformats.org/drawingml/2006/main">
            <a:pPr algn="ctr">
              <a:def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大语言模型后训练方法研究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53EC91-BAED-4196-AC45-B9419248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18" y="4591050"/>
            <a:ext cx="11214068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2025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汇报人：张子琦</a:t>
            </a:r>
          </a:p>
        </p:txBody>
      </p:sp>
    </p:spTree>
    <p:extLst>
      <p:ext uri="{BB962C8B-B14F-4D97-AF65-F5344CB8AC3E}">
        <p14:creationId xmlns:p14="http://schemas.microsoft.com/office/powerpoint/2010/main" val="43719656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gwheels_376015">
            <a:extLst xmlns:a="http://schemas.openxmlformats.org/drawingml/2006/main">
              <a:ext uri="{FF2B5EF4-FFF2-40B4-BE49-F238E27FC236}">
                <a16:creationId xmlns:a16="http://schemas.microsoft.com/office/drawing/2014/main" id="{467E5B3A-FA62-4948-8B35-A4013E8C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33" y="1415499"/>
            <a:ext cx="4224055" cy="4280147"/>
          </a:xfrm>
          <a:custGeom xmlns:a="http://schemas.openxmlformats.org/drawingml/2006/main">
            <a:gdLst>
              <a:gd name="T0" fmla="*/ 3621 w 6468"/>
              <a:gd name="T1" fmla="*/ 3299 h 6564"/>
              <a:gd name="T2" fmla="*/ 4214 w 6468"/>
              <a:gd name="T3" fmla="*/ 4727 h 6564"/>
              <a:gd name="T4" fmla="*/ 6337 w 6468"/>
              <a:gd name="T5" fmla="*/ 4571 h 6564"/>
              <a:gd name="T6" fmla="*/ 5974 w 6468"/>
              <a:gd name="T7" fmla="*/ 3603 h 6564"/>
              <a:gd name="T8" fmla="*/ 6429 w 6468"/>
              <a:gd name="T9" fmla="*/ 3225 h 6564"/>
              <a:gd name="T10" fmla="*/ 6022 w 6468"/>
              <a:gd name="T11" fmla="*/ 2697 h 6564"/>
              <a:gd name="T12" fmla="*/ 5080 w 6468"/>
              <a:gd name="T13" fmla="*/ 2269 h 6564"/>
              <a:gd name="T14" fmla="*/ 5136 w 6468"/>
              <a:gd name="T15" fmla="*/ 1681 h 6564"/>
              <a:gd name="T16" fmla="*/ 4477 w 6468"/>
              <a:gd name="T17" fmla="*/ 1593 h 6564"/>
              <a:gd name="T18" fmla="*/ 3837 w 6468"/>
              <a:gd name="T19" fmla="*/ 1917 h 6564"/>
              <a:gd name="T20" fmla="*/ 3357 w 6468"/>
              <a:gd name="T21" fmla="*/ 2412 h 6564"/>
              <a:gd name="T22" fmla="*/ 3445 w 6468"/>
              <a:gd name="T23" fmla="*/ 2889 h 6564"/>
              <a:gd name="T24" fmla="*/ 5048 w 6468"/>
              <a:gd name="T25" fmla="*/ 3547 h 6564"/>
              <a:gd name="T26" fmla="*/ 2792 w 6468"/>
              <a:gd name="T27" fmla="*/ 4483 h 6564"/>
              <a:gd name="T28" fmla="*/ 2397 w 6468"/>
              <a:gd name="T29" fmla="*/ 3364 h 6564"/>
              <a:gd name="T30" fmla="*/ 1830 w 6468"/>
              <a:gd name="T31" fmla="*/ 3843 h 6564"/>
              <a:gd name="T32" fmla="*/ 1502 w 6468"/>
              <a:gd name="T33" fmla="*/ 4577 h 6564"/>
              <a:gd name="T34" fmla="*/ 1589 w 6468"/>
              <a:gd name="T35" fmla="*/ 5239 h 6564"/>
              <a:gd name="T36" fmla="*/ 2178 w 6468"/>
              <a:gd name="T37" fmla="*/ 5181 h 6564"/>
              <a:gd name="T38" fmla="*/ 2609 w 6468"/>
              <a:gd name="T39" fmla="*/ 6123 h 6564"/>
              <a:gd name="T40" fmla="*/ 3138 w 6468"/>
              <a:gd name="T41" fmla="*/ 6528 h 6564"/>
              <a:gd name="T42" fmla="*/ 3513 w 6468"/>
              <a:gd name="T43" fmla="*/ 6072 h 6564"/>
              <a:gd name="T44" fmla="*/ 4484 w 6468"/>
              <a:gd name="T45" fmla="*/ 6433 h 6564"/>
              <a:gd name="T46" fmla="*/ 5145 w 6468"/>
              <a:gd name="T47" fmla="*/ 6347 h 6564"/>
              <a:gd name="T48" fmla="*/ 5088 w 6468"/>
              <a:gd name="T49" fmla="*/ 5759 h 6564"/>
              <a:gd name="T50" fmla="*/ 6029 w 6468"/>
              <a:gd name="T51" fmla="*/ 5328 h 6564"/>
              <a:gd name="T52" fmla="*/ 6434 w 6468"/>
              <a:gd name="T53" fmla="*/ 4799 h 6564"/>
              <a:gd name="T54" fmla="*/ 370 w 6468"/>
              <a:gd name="T55" fmla="*/ 1975 h 6564"/>
              <a:gd name="T56" fmla="*/ 0 w 6468"/>
              <a:gd name="T57" fmla="*/ 1827 h 6564"/>
              <a:gd name="T58" fmla="*/ 148 w 6468"/>
              <a:gd name="T59" fmla="*/ 1436 h 6564"/>
              <a:gd name="T60" fmla="*/ 580 w 6468"/>
              <a:gd name="T61" fmla="*/ 947 h 6564"/>
              <a:gd name="T62" fmla="*/ 424 w 6468"/>
              <a:gd name="T63" fmla="*/ 583 h 6564"/>
              <a:gd name="T64" fmla="*/ 802 w 6468"/>
              <a:gd name="T65" fmla="*/ 412 h 6564"/>
              <a:gd name="T66" fmla="*/ 1454 w 6468"/>
              <a:gd name="T67" fmla="*/ 371 h 6564"/>
              <a:gd name="T68" fmla="*/ 1602 w 6468"/>
              <a:gd name="T69" fmla="*/ 0 h 6564"/>
              <a:gd name="T70" fmla="*/ 1993 w 6468"/>
              <a:gd name="T71" fmla="*/ 148 h 6564"/>
              <a:gd name="T72" fmla="*/ 2482 w 6468"/>
              <a:gd name="T73" fmla="*/ 580 h 6564"/>
              <a:gd name="T74" fmla="*/ 2848 w 6468"/>
              <a:gd name="T75" fmla="*/ 423 h 6564"/>
              <a:gd name="T76" fmla="*/ 3018 w 6468"/>
              <a:gd name="T77" fmla="*/ 801 h 6564"/>
              <a:gd name="T78" fmla="*/ 3060 w 6468"/>
              <a:gd name="T79" fmla="*/ 1453 h 6564"/>
              <a:gd name="T80" fmla="*/ 3430 w 6468"/>
              <a:gd name="T81" fmla="*/ 1601 h 6564"/>
              <a:gd name="T82" fmla="*/ 3282 w 6468"/>
              <a:gd name="T83" fmla="*/ 1992 h 6564"/>
              <a:gd name="T84" fmla="*/ 2850 w 6468"/>
              <a:gd name="T85" fmla="*/ 2481 h 6564"/>
              <a:gd name="T86" fmla="*/ 3008 w 6468"/>
              <a:gd name="T87" fmla="*/ 2847 h 6564"/>
              <a:gd name="T88" fmla="*/ 2629 w 6468"/>
              <a:gd name="T89" fmla="*/ 3017 h 6564"/>
              <a:gd name="T90" fmla="*/ 1977 w 6468"/>
              <a:gd name="T91" fmla="*/ 3059 h 6564"/>
              <a:gd name="T92" fmla="*/ 1829 w 6468"/>
              <a:gd name="T93" fmla="*/ 3429 h 6564"/>
              <a:gd name="T94" fmla="*/ 1438 w 6468"/>
              <a:gd name="T95" fmla="*/ 3281 h 6564"/>
              <a:gd name="T96" fmla="*/ 949 w 6468"/>
              <a:gd name="T97" fmla="*/ 2849 h 6564"/>
              <a:gd name="T98" fmla="*/ 584 w 6468"/>
              <a:gd name="T99" fmla="*/ 3007 h 6564"/>
              <a:gd name="T100" fmla="*/ 413 w 6468"/>
              <a:gd name="T101" fmla="*/ 2628 h 6564"/>
              <a:gd name="T102" fmla="*/ 370 w 6468"/>
              <a:gd name="T103" fmla="*/ 1975 h 6564"/>
              <a:gd name="T104" fmla="*/ 2173 w 6468"/>
              <a:gd name="T105" fmla="*/ 2177 h 6564"/>
              <a:gd name="T106" fmla="*/ 1257 w 6468"/>
              <a:gd name="T107" fmla="*/ 1251 h 6564"/>
            </a:gdLst>
            <a:rect l="0" t="0" r="r" b="b"/>
            <a:pathLst>
              <a:path w="6468" h="6564">
                <a:moveTo>
                  <a:pt x="3204" y="4309"/>
                </a:moveTo>
                <a:cubicBezTo>
                  <a:pt x="3040" y="3916"/>
                  <a:pt x="3228" y="3463"/>
                  <a:pt x="3621" y="3299"/>
                </a:cubicBezTo>
                <a:cubicBezTo>
                  <a:pt x="4014" y="3135"/>
                  <a:pt x="4468" y="3323"/>
                  <a:pt x="4632" y="3716"/>
                </a:cubicBezTo>
                <a:cubicBezTo>
                  <a:pt x="4796" y="4109"/>
                  <a:pt x="4608" y="4563"/>
                  <a:pt x="4214" y="4727"/>
                </a:cubicBezTo>
                <a:cubicBezTo>
                  <a:pt x="3821" y="4891"/>
                  <a:pt x="3368" y="4703"/>
                  <a:pt x="3204" y="4309"/>
                </a:cubicBezTo>
                <a:close/>
                <a:moveTo>
                  <a:pt x="6337" y="4571"/>
                </a:moveTo>
                <a:lnTo>
                  <a:pt x="5974" y="4421"/>
                </a:lnTo>
                <a:cubicBezTo>
                  <a:pt x="6028" y="4156"/>
                  <a:pt x="6029" y="3877"/>
                  <a:pt x="5974" y="3603"/>
                </a:cubicBezTo>
                <a:lnTo>
                  <a:pt x="6336" y="3452"/>
                </a:lnTo>
                <a:cubicBezTo>
                  <a:pt x="6424" y="3416"/>
                  <a:pt x="6466" y="3315"/>
                  <a:pt x="6429" y="3225"/>
                </a:cubicBezTo>
                <a:lnTo>
                  <a:pt x="6249" y="2791"/>
                </a:lnTo>
                <a:cubicBezTo>
                  <a:pt x="6213" y="2703"/>
                  <a:pt x="6112" y="2660"/>
                  <a:pt x="6022" y="2697"/>
                </a:cubicBezTo>
                <a:lnTo>
                  <a:pt x="5660" y="2848"/>
                </a:lnTo>
                <a:cubicBezTo>
                  <a:pt x="5504" y="2615"/>
                  <a:pt x="5305" y="2419"/>
                  <a:pt x="5080" y="2269"/>
                </a:cubicBezTo>
                <a:lnTo>
                  <a:pt x="5229" y="1907"/>
                </a:lnTo>
                <a:cubicBezTo>
                  <a:pt x="5265" y="1819"/>
                  <a:pt x="5224" y="1717"/>
                  <a:pt x="5136" y="1681"/>
                </a:cubicBezTo>
                <a:lnTo>
                  <a:pt x="4702" y="1500"/>
                </a:lnTo>
                <a:cubicBezTo>
                  <a:pt x="4614" y="1464"/>
                  <a:pt x="4513" y="1505"/>
                  <a:pt x="4477" y="1593"/>
                </a:cubicBezTo>
                <a:lnTo>
                  <a:pt x="4328" y="1956"/>
                </a:lnTo>
                <a:cubicBezTo>
                  <a:pt x="4168" y="1924"/>
                  <a:pt x="4002" y="1911"/>
                  <a:pt x="3837" y="1917"/>
                </a:cubicBezTo>
                <a:cubicBezTo>
                  <a:pt x="3804" y="2165"/>
                  <a:pt x="3609" y="2361"/>
                  <a:pt x="3364" y="2397"/>
                </a:cubicBezTo>
                <a:cubicBezTo>
                  <a:pt x="3361" y="2403"/>
                  <a:pt x="3360" y="2407"/>
                  <a:pt x="3357" y="2412"/>
                </a:cubicBezTo>
                <a:cubicBezTo>
                  <a:pt x="3426" y="2507"/>
                  <a:pt x="3465" y="2621"/>
                  <a:pt x="3465" y="2743"/>
                </a:cubicBezTo>
                <a:cubicBezTo>
                  <a:pt x="3465" y="2793"/>
                  <a:pt x="3458" y="2841"/>
                  <a:pt x="3445" y="2889"/>
                </a:cubicBezTo>
                <a:cubicBezTo>
                  <a:pt x="3448" y="2888"/>
                  <a:pt x="3449" y="2887"/>
                  <a:pt x="3452" y="2887"/>
                </a:cubicBezTo>
                <a:cubicBezTo>
                  <a:pt x="4073" y="2628"/>
                  <a:pt x="4789" y="2924"/>
                  <a:pt x="5048" y="3547"/>
                </a:cubicBezTo>
                <a:cubicBezTo>
                  <a:pt x="5306" y="4168"/>
                  <a:pt x="5010" y="4884"/>
                  <a:pt x="4388" y="5143"/>
                </a:cubicBezTo>
                <a:cubicBezTo>
                  <a:pt x="3766" y="5401"/>
                  <a:pt x="3050" y="5105"/>
                  <a:pt x="2792" y="4483"/>
                </a:cubicBezTo>
                <a:cubicBezTo>
                  <a:pt x="2650" y="4140"/>
                  <a:pt x="2676" y="3771"/>
                  <a:pt x="2832" y="3464"/>
                </a:cubicBezTo>
                <a:cubicBezTo>
                  <a:pt x="2682" y="3491"/>
                  <a:pt x="2524" y="3459"/>
                  <a:pt x="2397" y="3364"/>
                </a:cubicBezTo>
                <a:cubicBezTo>
                  <a:pt x="2392" y="3367"/>
                  <a:pt x="2388" y="3368"/>
                  <a:pt x="2382" y="3369"/>
                </a:cubicBezTo>
                <a:cubicBezTo>
                  <a:pt x="2341" y="3637"/>
                  <a:pt x="2109" y="3843"/>
                  <a:pt x="1830" y="3843"/>
                </a:cubicBezTo>
                <a:cubicBezTo>
                  <a:pt x="1814" y="4035"/>
                  <a:pt x="1824" y="4231"/>
                  <a:pt x="1864" y="4427"/>
                </a:cubicBezTo>
                <a:lnTo>
                  <a:pt x="1502" y="4577"/>
                </a:lnTo>
                <a:cubicBezTo>
                  <a:pt x="1414" y="4613"/>
                  <a:pt x="1372" y="4715"/>
                  <a:pt x="1409" y="4804"/>
                </a:cubicBezTo>
                <a:lnTo>
                  <a:pt x="1589" y="5239"/>
                </a:lnTo>
                <a:cubicBezTo>
                  <a:pt x="1625" y="5327"/>
                  <a:pt x="1726" y="5369"/>
                  <a:pt x="1816" y="5332"/>
                </a:cubicBezTo>
                <a:lnTo>
                  <a:pt x="2178" y="5181"/>
                </a:lnTo>
                <a:cubicBezTo>
                  <a:pt x="2334" y="5415"/>
                  <a:pt x="2533" y="5611"/>
                  <a:pt x="2758" y="5760"/>
                </a:cubicBezTo>
                <a:lnTo>
                  <a:pt x="2609" y="6123"/>
                </a:lnTo>
                <a:cubicBezTo>
                  <a:pt x="2573" y="6211"/>
                  <a:pt x="2614" y="6312"/>
                  <a:pt x="2702" y="6348"/>
                </a:cubicBezTo>
                <a:lnTo>
                  <a:pt x="3138" y="6528"/>
                </a:lnTo>
                <a:cubicBezTo>
                  <a:pt x="3226" y="6564"/>
                  <a:pt x="3328" y="6523"/>
                  <a:pt x="3364" y="6435"/>
                </a:cubicBezTo>
                <a:lnTo>
                  <a:pt x="3513" y="6072"/>
                </a:lnTo>
                <a:cubicBezTo>
                  <a:pt x="3778" y="6125"/>
                  <a:pt x="4057" y="6127"/>
                  <a:pt x="4333" y="6072"/>
                </a:cubicBezTo>
                <a:lnTo>
                  <a:pt x="4484" y="6433"/>
                </a:lnTo>
                <a:cubicBezTo>
                  <a:pt x="4520" y="6521"/>
                  <a:pt x="4621" y="6564"/>
                  <a:pt x="4710" y="6527"/>
                </a:cubicBezTo>
                <a:lnTo>
                  <a:pt x="5145" y="6347"/>
                </a:lnTo>
                <a:cubicBezTo>
                  <a:pt x="5233" y="6311"/>
                  <a:pt x="5276" y="6209"/>
                  <a:pt x="5238" y="6120"/>
                </a:cubicBezTo>
                <a:lnTo>
                  <a:pt x="5088" y="5759"/>
                </a:lnTo>
                <a:cubicBezTo>
                  <a:pt x="5321" y="5603"/>
                  <a:pt x="5517" y="5404"/>
                  <a:pt x="5666" y="5179"/>
                </a:cubicBezTo>
                <a:lnTo>
                  <a:pt x="6029" y="5328"/>
                </a:lnTo>
                <a:cubicBezTo>
                  <a:pt x="6117" y="5364"/>
                  <a:pt x="6218" y="5323"/>
                  <a:pt x="6254" y="5235"/>
                </a:cubicBezTo>
                <a:lnTo>
                  <a:pt x="6434" y="4799"/>
                </a:lnTo>
                <a:cubicBezTo>
                  <a:pt x="6468" y="4708"/>
                  <a:pt x="6425" y="4608"/>
                  <a:pt x="6337" y="4571"/>
                </a:cubicBezTo>
                <a:close/>
                <a:moveTo>
                  <a:pt x="370" y="1975"/>
                </a:moveTo>
                <a:lnTo>
                  <a:pt x="145" y="1973"/>
                </a:lnTo>
                <a:cubicBezTo>
                  <a:pt x="65" y="1973"/>
                  <a:pt x="0" y="1908"/>
                  <a:pt x="0" y="1827"/>
                </a:cubicBezTo>
                <a:lnTo>
                  <a:pt x="1" y="1581"/>
                </a:lnTo>
                <a:cubicBezTo>
                  <a:pt x="1" y="1501"/>
                  <a:pt x="66" y="1436"/>
                  <a:pt x="148" y="1436"/>
                </a:cubicBezTo>
                <a:lnTo>
                  <a:pt x="373" y="1437"/>
                </a:lnTo>
                <a:cubicBezTo>
                  <a:pt x="408" y="1264"/>
                  <a:pt x="477" y="1097"/>
                  <a:pt x="580" y="947"/>
                </a:cubicBezTo>
                <a:lnTo>
                  <a:pt x="422" y="788"/>
                </a:lnTo>
                <a:cubicBezTo>
                  <a:pt x="366" y="731"/>
                  <a:pt x="366" y="639"/>
                  <a:pt x="424" y="583"/>
                </a:cubicBezTo>
                <a:lnTo>
                  <a:pt x="597" y="411"/>
                </a:lnTo>
                <a:cubicBezTo>
                  <a:pt x="654" y="355"/>
                  <a:pt x="746" y="355"/>
                  <a:pt x="802" y="412"/>
                </a:cubicBezTo>
                <a:lnTo>
                  <a:pt x="961" y="572"/>
                </a:lnTo>
                <a:cubicBezTo>
                  <a:pt x="1113" y="471"/>
                  <a:pt x="1281" y="404"/>
                  <a:pt x="1454" y="371"/>
                </a:cubicBezTo>
                <a:lnTo>
                  <a:pt x="1456" y="145"/>
                </a:lnTo>
                <a:cubicBezTo>
                  <a:pt x="1456" y="65"/>
                  <a:pt x="1521" y="0"/>
                  <a:pt x="1602" y="0"/>
                </a:cubicBezTo>
                <a:lnTo>
                  <a:pt x="1848" y="1"/>
                </a:lnTo>
                <a:cubicBezTo>
                  <a:pt x="1928" y="1"/>
                  <a:pt x="1993" y="67"/>
                  <a:pt x="1993" y="148"/>
                </a:cubicBezTo>
                <a:lnTo>
                  <a:pt x="1992" y="373"/>
                </a:lnTo>
                <a:cubicBezTo>
                  <a:pt x="2165" y="408"/>
                  <a:pt x="2332" y="477"/>
                  <a:pt x="2482" y="580"/>
                </a:cubicBezTo>
                <a:lnTo>
                  <a:pt x="2642" y="421"/>
                </a:lnTo>
                <a:cubicBezTo>
                  <a:pt x="2700" y="365"/>
                  <a:pt x="2792" y="365"/>
                  <a:pt x="2848" y="423"/>
                </a:cubicBezTo>
                <a:lnTo>
                  <a:pt x="3020" y="596"/>
                </a:lnTo>
                <a:cubicBezTo>
                  <a:pt x="3076" y="653"/>
                  <a:pt x="3076" y="745"/>
                  <a:pt x="3018" y="801"/>
                </a:cubicBezTo>
                <a:lnTo>
                  <a:pt x="2858" y="960"/>
                </a:lnTo>
                <a:cubicBezTo>
                  <a:pt x="2960" y="1112"/>
                  <a:pt x="3026" y="1280"/>
                  <a:pt x="3060" y="1453"/>
                </a:cubicBezTo>
                <a:lnTo>
                  <a:pt x="3285" y="1455"/>
                </a:lnTo>
                <a:cubicBezTo>
                  <a:pt x="3365" y="1455"/>
                  <a:pt x="3430" y="1520"/>
                  <a:pt x="3430" y="1601"/>
                </a:cubicBezTo>
                <a:lnTo>
                  <a:pt x="3429" y="1847"/>
                </a:lnTo>
                <a:cubicBezTo>
                  <a:pt x="3429" y="1927"/>
                  <a:pt x="3364" y="1992"/>
                  <a:pt x="3282" y="1992"/>
                </a:cubicBezTo>
                <a:lnTo>
                  <a:pt x="3057" y="1991"/>
                </a:lnTo>
                <a:cubicBezTo>
                  <a:pt x="3022" y="2164"/>
                  <a:pt x="2953" y="2331"/>
                  <a:pt x="2850" y="2481"/>
                </a:cubicBezTo>
                <a:lnTo>
                  <a:pt x="3009" y="2641"/>
                </a:lnTo>
                <a:cubicBezTo>
                  <a:pt x="3065" y="2699"/>
                  <a:pt x="3065" y="2791"/>
                  <a:pt x="3008" y="2847"/>
                </a:cubicBezTo>
                <a:lnTo>
                  <a:pt x="2834" y="3019"/>
                </a:lnTo>
                <a:cubicBezTo>
                  <a:pt x="2777" y="3075"/>
                  <a:pt x="2685" y="3075"/>
                  <a:pt x="2629" y="3017"/>
                </a:cubicBezTo>
                <a:lnTo>
                  <a:pt x="2470" y="2857"/>
                </a:lnTo>
                <a:cubicBezTo>
                  <a:pt x="2318" y="2959"/>
                  <a:pt x="2150" y="3025"/>
                  <a:pt x="1977" y="3059"/>
                </a:cubicBezTo>
                <a:lnTo>
                  <a:pt x="1976" y="3284"/>
                </a:lnTo>
                <a:cubicBezTo>
                  <a:pt x="1976" y="3364"/>
                  <a:pt x="1910" y="3429"/>
                  <a:pt x="1829" y="3429"/>
                </a:cubicBezTo>
                <a:lnTo>
                  <a:pt x="1584" y="3428"/>
                </a:lnTo>
                <a:cubicBezTo>
                  <a:pt x="1504" y="3428"/>
                  <a:pt x="1438" y="3363"/>
                  <a:pt x="1438" y="3281"/>
                </a:cubicBezTo>
                <a:lnTo>
                  <a:pt x="1440" y="3056"/>
                </a:lnTo>
                <a:cubicBezTo>
                  <a:pt x="1266" y="3021"/>
                  <a:pt x="1100" y="2952"/>
                  <a:pt x="949" y="2849"/>
                </a:cubicBezTo>
                <a:lnTo>
                  <a:pt x="789" y="3008"/>
                </a:lnTo>
                <a:cubicBezTo>
                  <a:pt x="732" y="3064"/>
                  <a:pt x="640" y="3064"/>
                  <a:pt x="584" y="3007"/>
                </a:cubicBezTo>
                <a:lnTo>
                  <a:pt x="412" y="2833"/>
                </a:lnTo>
                <a:cubicBezTo>
                  <a:pt x="356" y="2776"/>
                  <a:pt x="356" y="2684"/>
                  <a:pt x="413" y="2628"/>
                </a:cubicBezTo>
                <a:lnTo>
                  <a:pt x="573" y="2469"/>
                </a:lnTo>
                <a:cubicBezTo>
                  <a:pt x="470" y="2316"/>
                  <a:pt x="404" y="2148"/>
                  <a:pt x="370" y="1975"/>
                </a:cubicBezTo>
                <a:close/>
                <a:moveTo>
                  <a:pt x="1252" y="2172"/>
                </a:moveTo>
                <a:cubicBezTo>
                  <a:pt x="1505" y="2428"/>
                  <a:pt x="1917" y="2431"/>
                  <a:pt x="2173" y="2177"/>
                </a:cubicBezTo>
                <a:cubicBezTo>
                  <a:pt x="2429" y="1924"/>
                  <a:pt x="2432" y="1512"/>
                  <a:pt x="2178" y="1256"/>
                </a:cubicBezTo>
                <a:cubicBezTo>
                  <a:pt x="1925" y="1000"/>
                  <a:pt x="1513" y="997"/>
                  <a:pt x="1257" y="1251"/>
                </a:cubicBezTo>
                <a:cubicBezTo>
                  <a:pt x="1000" y="1504"/>
                  <a:pt x="998" y="1916"/>
                  <a:pt x="1252" y="2172"/>
                </a:cubicBezTo>
                <a:close/>
              </a:path>
            </a:pathLst>
          </a:custGeom>
          <a:solidFill xmlns:a="http://schemas.openxmlformats.org/drawingml/2006/main">
            <a:schemeClr val="bg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D6BF236-4789-4BF7-BBCC-1CBFDDCB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1536479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1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0C105D99-4C9C-42CF-AF02-4BF99A8E4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2110111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文本框 11">
            <a:extLst xmlns:a="http://schemas.openxmlformats.org/drawingml/2006/main">
              <a:ext uri="{FF2B5EF4-FFF2-40B4-BE49-F238E27FC236}">
                <a16:creationId xmlns:a16="http://schemas.microsoft.com/office/drawing/2014/main" id="{7A340944-B75F-4A11-9AD1-355E7446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1513798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赛事简介和办赛条件</a:t>
            </a:r>
            <a:endParaRPr sz="28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71FA0404-58D7-4848-BCA1-262CFEC0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2461150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2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BE675FDF-E235-49AE-929A-984F0423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3034782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文本框 14">
            <a:extLst xmlns:a="http://schemas.openxmlformats.org/drawingml/2006/main">
              <a:ext uri="{FF2B5EF4-FFF2-40B4-BE49-F238E27FC236}">
                <a16:creationId xmlns:a16="http://schemas.microsoft.com/office/drawing/2014/main" id="{026C66A2-F497-4B8F-84C4-18CD760E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2411742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运行模式和时间安排</a:t>
            </a:r>
            <a:endParaRPr sz="2800"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FDDFA0A1-903B-4678-ACDC-42CAEB50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3385821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3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17" name="直接连接符 16">
            <a:extLst xmlns:a="http://schemas.openxmlformats.org/drawingml/2006/main">
              <a:ext uri="{FF2B5EF4-FFF2-40B4-BE49-F238E27FC236}">
                <a16:creationId xmlns:a16="http://schemas.microsoft.com/office/drawing/2014/main" id="{BADBA305-C604-407F-B8CD-0CC9E727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3959453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文本框 17">
            <a:extLst xmlns:a="http://schemas.openxmlformats.org/drawingml/2006/main">
              <a:ext uri="{FF2B5EF4-FFF2-40B4-BE49-F238E27FC236}">
                <a16:creationId xmlns:a16="http://schemas.microsoft.com/office/drawing/2014/main" id="{1CEB69E3-5BF9-4E34-89F7-24CB4D52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3336413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预期赛事规模和获奖</a:t>
            </a:r>
            <a:endParaRPr sz="2800"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E0F2DBF-5DAB-4C16-B080-1F157773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4310492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4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20" name="直接连接符 19">
            <a:extLst xmlns:a="http://schemas.openxmlformats.org/drawingml/2006/main">
              <a:ext uri="{FF2B5EF4-FFF2-40B4-BE49-F238E27FC236}">
                <a16:creationId xmlns:a16="http://schemas.microsoft.com/office/drawing/2014/main" id="{48D581A4-F1B0-4BDC-B6A5-2E9785BB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4884124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文本框 20">
            <a:extLst xmlns:a="http://schemas.openxmlformats.org/drawingml/2006/main">
              <a:ext uri="{FF2B5EF4-FFF2-40B4-BE49-F238E27FC236}">
                <a16:creationId xmlns:a16="http://schemas.microsoft.com/office/drawing/2014/main" id="{73045579-A0F8-40AB-A3A3-155EB5EC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4261084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组织创新点和育人成效</a:t>
            </a:r>
            <a:endParaRPr sz="2800"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FBE8938-EC71-4D71-8C1D-7C0FD861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458" y="5235162"/>
            <a:ext cx="559044" cy="58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latin typeface="Arial Black"/>
                <a:ea typeface="Arial Black"/>
                <a:cs typeface="Arial Black"/>
              </a:rPr>
              <a:t>5</a:t>
            </a:r>
            <a:endParaRPr sz="2400">
              <a:latin typeface="Arial Black"/>
              <a:ea typeface="Arial Black"/>
              <a:cs typeface="Arial Black"/>
            </a:endParaRPr>
          </a:p>
        </p:txBody>
      </p:sp>
      <p:sp>
        <p:nvSpPr>
          <p:cNvPr id="23" name="直接连接符 22">
            <a:extLst xmlns:a="http://schemas.openxmlformats.org/drawingml/2006/main">
              <a:ext uri="{FF2B5EF4-FFF2-40B4-BE49-F238E27FC236}">
                <a16:creationId xmlns:a16="http://schemas.microsoft.com/office/drawing/2014/main" id="{255C7C33-A4D5-4F25-8BED-56A21573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2093" y="5808794"/>
            <a:ext cx="54000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0537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文本框 23">
            <a:extLst xmlns:a="http://schemas.openxmlformats.org/drawingml/2006/main">
              <a:ext uri="{FF2B5EF4-FFF2-40B4-BE49-F238E27FC236}">
                <a16:creationId xmlns:a16="http://schemas.microsoft.com/office/drawing/2014/main" id="{C8E61891-5C85-4C41-88F6-6A9F41A0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413" y="5185754"/>
            <a:ext cx="4853680" cy="5232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latin typeface="微软雅黑"/>
                <a:ea typeface="微软雅黑"/>
                <a:cs typeface="微软雅黑"/>
              </a:rPr>
              <a:t>经费预算</a:t>
            </a:r>
            <a:endParaRPr sz="2800"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文本框 24">
            <a:extLst xmlns:a="http://schemas.openxmlformats.org/drawingml/2006/main">
              <a:ext uri="{FF2B5EF4-FFF2-40B4-BE49-F238E27FC236}">
                <a16:creationId xmlns:a16="http://schemas.microsoft.com/office/drawing/2014/main" id="{DC5F8549-20C1-44D0-8372-CE5DEDF6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830" y="242797"/>
            <a:ext cx="8552341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b="1">
                <a:solidFill>
                  <a:srgbClr val="FF0000"/>
                </a:solidFill>
                <a:latin typeface="幼圆"/>
                <a:ea typeface="幼圆"/>
                <a:cs typeface="幼圆"/>
              </a:rPr>
              <a:t/>
            </a:r>
            <a:endParaRPr b="1">
              <a:solidFill>
                <a:srgbClr val="FF0000"/>
              </a:solidFill>
              <a:latin typeface="幼圆"/>
              <a:ea typeface="幼圆"/>
              <a:cs typeface="幼圆"/>
            </a:endParaRP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F8721C-83EF-4960-992C-88D5EB2D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18D818-70C6-41B7-B502-14C7DFEA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研究背景与问题缺口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749E69-814E-447F-BA4D-5C88E27F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4A6465-8628-4AAC-BCB5-A3E9DEC6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287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在线策略蒸馏的关键矛盾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EB655A-1342-4E88-A150-D2AC6E6BB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5C7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F62235-F03F-4B4A-8549-42C3828E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0A639B-84CA-44B2-B690-34F2457A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4305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状态分布发生偏移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02F1BA-C4EA-4FDD-8F4A-B0B20A22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4310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05463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405463"/>
                </a:solidFill>
                <a:latin typeface="微软雅黑"/>
                <a:ea typeface="微软雅黑"/>
                <a:cs typeface="微软雅黑"/>
              </a:rPr>
              <a:t>离线前缀与学生实际 rollout 不同，教师反馈难以对准真实生成状态。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8A61BA-D7EA-4C3E-A063-D3DDECAC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43175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F1F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810806-5763-4C46-8161-BDE85C34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90825"/>
            <a:ext cx="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5C7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FDD706-ABCE-4D81-915E-38F6CBB0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8F9B20-191E-4EB0-B348-3EEFDAE4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14625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散度与监督粒度交织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7C9A943-3E4F-4AE9-9EF8-28CD368A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14675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05463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405463"/>
                </a:solidFill>
                <a:latin typeface="微软雅黑"/>
                <a:ea typeface="微软雅黑"/>
                <a:cs typeface="微软雅黑"/>
              </a:rPr>
              <a:t>不同 KL 目标、全词表/Top-K/K1 同时变化，训练行为差异难以归因。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BB58E86-49FC-4048-8A24-49C3D6D3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147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F1F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42D4FF-90B2-46BF-AB0F-9BA59850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62400"/>
            <a:ext cx="0" cy="49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75C7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B651783-9938-4359-A420-29FA760F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00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A6266F6-BBB2-44A0-8717-7C699739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952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局部指标难代表工具调用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33DEDE-AC17-4905-B65A-B19BCB1F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8625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05463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405463"/>
                </a:solidFill>
                <a:latin typeface="微软雅黑"/>
                <a:ea typeface="微软雅黑"/>
                <a:cs typeface="微软雅黑"/>
              </a:rPr>
              <a:t>需要从格式、选函数、参数到执行成功的端到端证据。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DA1E050-BF38-41DD-BD4C-08F5EF14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1083945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E8F1F3"/>
          </a:solidFill>
          <a:ln xmlns:a="http://schemas.openxmlformats.org/drawingml/2006/main" w="0">
            <a:solidFill>
              <a:srgbClr val="E8F1F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43EC43-708F-41AF-B21C-B4F15A9B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24500"/>
            <a:ext cx="1038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研究目标：建立可复现、可归因、可部署的在线策略蒸馏比较协议。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A979575-18E1-4EE7-A18F-5E4B791F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0496860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直角三角形 2">
            <a:extLst xmlns:a="http://schemas.openxmlformats.org/drawingml/2006/main">
              <a:ext uri="{FF2B5EF4-FFF2-40B4-BE49-F238E27FC236}">
                <a16:creationId xmlns:a16="http://schemas.microsoft.com/office/drawing/2014/main" id="{15AB3A6F-620D-41DB-9099-AFAEF7B7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7328" y="892613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4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35AA0EB4-D84F-489D-BD31-C2D264CFA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164449"/>
            <a:ext cx="11214100" cy="101092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5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CD2A5938-5614-4B9C-9617-694A7583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74" y="892613"/>
            <a:ext cx="1357217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9778D3-5C17-40B0-8F1B-C8759306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4BAD26-DF9C-4222-9EC2-48B6DFED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三个研究问题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3E0B25-A63B-46C5-911A-F67BAC24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CB133F-67A0-4A84-B67D-86ADA6FA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三个问题共用同一条在线反馈—统一评测链路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ECE975-D5DC-48FA-8F0B-E77AC639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3124200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F6CDFA-49EB-4BDF-BBE4-454B8307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3124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58094E-B32D-443B-8190-C53DEB88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RQ1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F17491-EB3A-449A-B79D-CE831C6F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74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学生状态分布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ED2A36-4722-402A-AE89-4B3CDADF7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274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0E892D-A815-4FB0-ABA7-06393548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C2B2BC-8371-4659-9E3A-EDA20F363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9900"/>
            <a:ext cx="274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教师应在学生生成的哪些状态上反馈？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896E5F-2C7E-4186-B3CD-DCCBFB62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719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研究方案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112644-10DB-47F3-95D8-ECDAED67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38600"/>
            <a:ext cx="2743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Student rollout</a:t>
            </a:r>
          </a:p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教师在真实前缀上评分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621AE4-81B1-43CB-82F7-E9397383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2440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BCA972-AFA6-4A77-AAE2-AD55C32C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24400"/>
            <a:ext cx="2152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检验 OPD 是否缓解</a:t>
            </a:r>
          </a:p>
          <a:p xmlns:a="http://schemas.openxmlformats.org/drawingml/2006/main">
            <a:pPr>
              <a:def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训练—推理分布偏移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D42E2D-0974-4CD0-AB06-35D71804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476625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5C7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200CA7-9EC1-43E6-9671-229F2D82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295650"/>
            <a:ext cx="24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2A02F6-4A25-4967-A6B4-FD711E27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81150"/>
            <a:ext cx="3124200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025CE2-19EE-4238-948B-63EF5258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81150"/>
            <a:ext cx="3124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6386C7-C012-4CA2-AB90-600002E3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RQ2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52DC4D-A1D9-4004-90A9-029A5E06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95500"/>
            <a:ext cx="274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散度目标选择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E716B9-18C2-4482-BD7C-9D242BCD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571750"/>
            <a:ext cx="274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C72EC3-D6DA-415D-B6B1-3BC9E2A6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432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FE08F9-D136-4D7E-986A-81D76457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009900"/>
            <a:ext cx="274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不同散度如何改变覆盖、聚焦与稳定性？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1333FC-FC17-4561-8ABA-E99D894E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719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研究方案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7FC22A-28EC-490B-B2C2-EF3B138C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38600"/>
            <a:ext cx="2743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Forward KL / Reverse KL</a:t>
            </a:r>
          </a:p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Jensen–Shannon 对照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E0415C-F0A8-450E-A53E-0D983360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2440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E1E603-16CC-42BA-A6EE-8F1FF553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724400"/>
            <a:ext cx="2152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解释覆盖—聚焦差异</a:t>
            </a:r>
          </a:p>
          <a:p xmlns:a="http://schemas.openxmlformats.org/drawingml/2006/main">
            <a:pPr>
              <a:def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定位优化机制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DD3059-C034-4CB2-8413-789AEFAE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476625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5C7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685E66-55A7-4E07-A655-1B9C6EF3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295650"/>
            <a:ext cx="24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0949C6-12C2-495B-9916-11EB16CE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81150"/>
            <a:ext cx="3124200" cy="394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461716-F891-4C27-902C-B336FB355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81150"/>
            <a:ext cx="3124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6310A83-6172-45EF-ADFE-AE9EFF5B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097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RQ3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6D0768-3DCC-461A-A6E7-FDF83B16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95500"/>
            <a:ext cx="274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监督信息粒度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09E63BB-02DF-4284-8EE1-CF456F90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71750"/>
            <a:ext cx="274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1BB90F5-DBEC-454C-B937-E86B203E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F67E15C-1CA5-4ABC-98EA-0E55BE59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9900"/>
            <a:ext cx="274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教师信息量如何平衡效果与资源开销？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715804C-6B4D-4CC6-985E-962233BB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719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研究方案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FC0AD10-C893-49E4-BCD0-F30E80CC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38600"/>
            <a:ext cx="2743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Full vocabulary / Top-K / K1</a:t>
            </a:r>
          </a:p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共享训练预算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3721979-0B6C-48E5-B3B8-821E81D6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72440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B3D7590-AFA1-446E-92D5-7B7B4316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24400"/>
            <a:ext cx="2152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形成效果—成本</a:t>
            </a:r>
          </a:p>
          <a:p xmlns:a="http://schemas.openxmlformats.org/drawingml/2006/main">
            <a:pPr>
              <a:def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选择依据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81EAAF2-A519-4380-AE3F-46328611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580B9EF-A74A-40FF-B5A0-94F836DC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5312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统一模型、数据、预算与 evaluator，分别回答状态、目标和信息量三个层次。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D391A22-65B5-4264-9AF1-EBB48AF2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823818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直角三角形 2">
            <a:extLst xmlns:a="http://schemas.openxmlformats.org/drawingml/2006/main">
              <a:ext uri="{FF2B5EF4-FFF2-40B4-BE49-F238E27FC236}">
                <a16:creationId xmlns:a16="http://schemas.microsoft.com/office/drawing/2014/main" id="{90249F66-2462-4750-B50A-030FD7A9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6128" y="881324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4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1884CCD8-1F2B-4D19-8DBC-28BE95C7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599" y="1153160"/>
            <a:ext cx="11214099" cy="101092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F4357694-592E-43E2-9EEA-601BA3209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70" y="881324"/>
            <a:ext cx="1916058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A1C722-DC00-41DE-9742-A1EE5572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4D4CCE-F42C-4EF5-A1D5-E315CFF3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总体技术路线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D00996-2607-4B29-A818-D468EBB1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F778A4-C085-44E0-A51A-25647DF0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统一输入与预算，沿同一训练和评测链路完成受控比较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80BC8-0458-4B6E-827B-4D3AC972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19240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033908-6C37-4C72-A4C3-0A679457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19240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5C71A8-4BCE-4C05-821C-EDCB9CDA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335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EF3D68-9835-42BC-BD41-4AEE99B4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1581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对齐准备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AD4DC6-F48C-44E7-BD46-C283BF40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38450"/>
            <a:ext cx="158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7917A1-FB91-4C0F-8E57-16B3F1CB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数据与 schema</a:t>
            </a:r>
          </a:p>
          <a:p xmlns:a="http://schemas.openxmlformats.org/drawingml/2006/main">
            <a:pPr>
              <a:def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词表和模板审计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924D10-7B65-48BC-BFF6-B4225CD9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9560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5C7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4C2EB7-A7F1-4481-B12D-830D04F9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714625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D39476-EF6A-4841-A10B-1300FB2D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695450"/>
            <a:ext cx="19240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116E30-39E8-4E2A-9733-0BA58FB4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695450"/>
            <a:ext cx="19240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E65A85-BEBE-4FC3-9ACD-E1374AAE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9335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F4DF12-1267-403A-8439-7AF55B8C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05050"/>
            <a:ext cx="1581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在线反馈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7FDEE6-6C24-4DF9-8981-68F79E45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38450"/>
            <a:ext cx="158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9E09D1-3B23-497C-A628-3ECF75BB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08610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学生 rollout</a:t>
            </a:r>
          </a:p>
          <a:p xmlns:a="http://schemas.openxmlformats.org/drawingml/2006/main">
            <a:pPr>
              <a:def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冻结教师评分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C804A0-454A-43E1-B33D-4A9AE3F5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9560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5C7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AF514F-57E0-438E-B519-95278361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714625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D99C6D-57DD-46EA-8252-8378F873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695450"/>
            <a:ext cx="19240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75C028-9B21-4791-9455-9285CC11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695450"/>
            <a:ext cx="19240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solidFill>
              <a:srgbClr val="17324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BB9EFB-0D7D-4309-BD40-56E43B77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9335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B80958-D2FB-4CDA-B2A8-74311740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305050"/>
            <a:ext cx="1581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受控训练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E4D7C4-7761-419B-8FBA-549902C9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838450"/>
            <a:ext cx="158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4BB082-3521-4483-A148-303CEFAA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8610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切换散度</a:t>
            </a:r>
          </a:p>
          <a:p xmlns:a="http://schemas.openxmlformats.org/drawingml/2006/main">
            <a:pPr>
              <a:def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切换监督粒度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7991BF-87FC-4E1F-A7AE-2A2D1409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89560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5C7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463E4F-CA8B-4541-B63F-305E6D79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14625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903A48-7D7B-498A-9090-04008199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19240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6EE82A3-A259-462D-AB7F-FCC6C921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95450"/>
            <a:ext cx="19240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466822-046B-4157-8098-D82DF780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335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3E63CE-7F91-49EB-999E-21BC661F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05050"/>
            <a:ext cx="1581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统一评测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C8C30C-4EF9-47D8-9D78-BCA39964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38450"/>
            <a:ext cx="158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C60A2C0-91C0-462C-AB7E-2E4F3E6E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8610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任务、稳定性</a:t>
            </a:r>
          </a:p>
          <a:p xmlns:a="http://schemas.openxmlformats.org/drawingml/2006/main">
            <a:pPr>
              <a:def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时间与显存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7ACA74-0AF5-4752-A952-15502016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89560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5C7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AE9F840-B2F5-4EAB-96ED-A93C51111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14625"/>
            <a:ext cx="22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8820130-0F92-4013-BA75-7C4EEE45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695450"/>
            <a:ext cx="19240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AF042BF-E3F2-4B32-A743-28645CBE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695450"/>
            <a:ext cx="19240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D920CD-A55A-4418-982E-7434320D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9335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48C0E42-4245-49D6-A9DA-A6C86B8F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305050"/>
            <a:ext cx="1581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归因复现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E2E9903-39A1-47F4-84B3-14A9D3C8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838450"/>
            <a:ext cx="158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795EDF-8846-42FA-8277-C4A03CB7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086100"/>
            <a:ext cx="1581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统计与失败轨迹</a:t>
            </a:r>
          </a:p>
          <a:p xmlns:a="http://schemas.openxmlformats.org/drawingml/2006/main">
            <a:pPr>
              <a:def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配置和原始指标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D49407B-BE53-4C61-A51D-EB25B65A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52950"/>
            <a:ext cx="10839450" cy="81915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0">
            <a:solidFill>
              <a:srgbClr val="F2F7F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27E2228-2E59-496E-B35B-43E78C51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3392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贯穿全流程的控制条件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4310AF2-CFAD-416A-A53F-B791ACEB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38725"/>
            <a:ext cx="1019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同一数据划分、模型版本、有效 token 预算、采样参数与 evaluator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3DDA2C-4C2C-4A39-9C03-8CD3BD8B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07310174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直角三角形 7">
            <a:extLst xmlns:a="http://schemas.openxmlformats.org/drawingml/2006/main">
              <a:ext uri="{FF2B5EF4-FFF2-40B4-BE49-F238E27FC236}">
                <a16:creationId xmlns:a16="http://schemas.microsoft.com/office/drawing/2014/main" id="{44726EFA-8B0D-486D-A150-40F414C8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3834" y="1006057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9" name="直角三角形 8">
            <a:extLst xmlns:a="http://schemas.openxmlformats.org/drawingml/2006/main">
              <a:ext uri="{FF2B5EF4-FFF2-40B4-BE49-F238E27FC236}">
                <a16:creationId xmlns:a16="http://schemas.microsoft.com/office/drawing/2014/main" id="{BB1BF623-61FC-4778-AC6C-E49B006A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5724" y="993050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" name="直角三角形 9">
            <a:extLst xmlns:a="http://schemas.openxmlformats.org/drawingml/2006/main">
              <a:ext uri="{FF2B5EF4-FFF2-40B4-BE49-F238E27FC236}">
                <a16:creationId xmlns:a16="http://schemas.microsoft.com/office/drawing/2014/main" id="{EB6F50F4-42CB-4537-9195-40B0A3A7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99" y="3732858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241E5454-8E3A-49F9-A3EC-91769493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360312"/>
            <a:ext cx="5312210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9859E46F-C1EB-4412-9809-6E1E6DBD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4490" y="1360312"/>
            <a:ext cx="5312210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6DFECB0A-CF44-495B-B26C-DC70CACF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420" y="1006057"/>
            <a:ext cx="2608304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0A4175E2-7D33-4080-8E47-816B5928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530" y="1006057"/>
            <a:ext cx="2608304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718C84-19DF-4745-9326-CABF465F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DBED94-0C6B-4EA8-8CDA-9454970F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问题一：学生状态上的教师监督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A257B5-58EE-4DF1-9B4B-F2CAF854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198B4C-EB05-4E69-ACE8-BFFAE6E2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90600"/>
            <a:ext cx="676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核心机制：教师在学生真正生成的状态上反馈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F963D2-CAD8-4A21-99F2-7FD1C2EB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62075"/>
            <a:ext cx="581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学生 rollout → 教师评分 → 学生更新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9B36A8-E79E-48E8-886A-5180310C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24025"/>
            <a:ext cx="16764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B0FC4E-8060-46FA-8CD0-16223BD8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24025"/>
            <a:ext cx="1676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06DD02-2FB8-402E-84DB-14AF2F02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2FE362-58BF-4B9B-BC3E-EA7EBF39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38375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Student rollout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26527C-8DCF-486A-BE5F-D752AF85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71775"/>
            <a:ext cx="1371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按当前策略生成</a:t>
            </a:r>
          </a:p>
          <a:p xmlns:a="http://schemas.openxmlformats.org/drawingml/2006/main">
            <a:pPr>
              <a:def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保留真实前缀 s_t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8085D5-1C8E-4B9D-A4BB-08C1E2EE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800350"/>
            <a:ext cx="1809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5C7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8363D6-1F79-4336-8266-15867143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619375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0B8DC4-A521-43F3-A3D7-18E7FF14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24025"/>
            <a:ext cx="16764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E7FE9D-86E2-4B39-8483-ECA9A2E4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24025"/>
            <a:ext cx="1676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solidFill>
              <a:srgbClr val="17324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5B5677-D31E-4658-BB64-6A06E56F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9431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704CA4-B81B-42F2-AE3F-177BEB4C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238375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Teacher scoring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955AF8-B450-4DD2-84F3-7E49C205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771775"/>
            <a:ext cx="1371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冻结教师分布</a:t>
            </a:r>
          </a:p>
          <a:p xmlns:a="http://schemas.openxmlformats.org/drawingml/2006/main">
            <a:pPr>
              <a:def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在同一状态反馈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748C1B-0E8E-4941-A047-994AE76BC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2800350"/>
            <a:ext cx="1809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5C7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D499BC-3C2B-4352-9181-4DFED478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19375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173FE4F-BB3E-4B97-93BF-A5096428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24025"/>
            <a:ext cx="16764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281FBE-C060-4AFD-B86B-5EF38708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24025"/>
            <a:ext cx="1676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74E571C-36DE-4357-81DF-940EAED1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431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B79884B-0C61-44D6-9E26-476435C9C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38375"/>
            <a:ext cx="137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Student update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13A72F7-1A28-46E7-A690-FBD63EFA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71775"/>
            <a:ext cx="1371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计算逐位置目标</a:t>
            </a:r>
          </a:p>
          <a:p xmlns:a="http://schemas.openxmlformats.org/drawingml/2006/main">
            <a:pPr>
              <a:def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只更新 LoRA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671A89-BE20-490D-96F7-18A01907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552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00DF137-7B0A-442D-8CC5-0B482313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76725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每一步都保留学生真实前缀 s_t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448949-9624-4EC8-9559-F0EBBD3D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9060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在线策略蒸馏目标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F899B9-02C5-4BCB-A92F-84029082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438275"/>
            <a:ext cx="4667250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FAB7DF1-73AC-4D03-BEBC-B7CC4ECFD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8115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状态与采样</a:t>
            </a:r>
          </a:p>
        </p:txBody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35e772143f4ff6"/>
          <a:stretch xmlns:a="http://schemas.openxmlformats.org/drawingml/2006/main"/>
        </p:blipFill>
        <p:spPr>
          <a:xfrm xmlns:a="http://schemas.openxmlformats.org/drawingml/2006/main">
            <a:off x="7143750" y="1869055"/>
            <a:ext cx="4286250" cy="367165"/>
          </a:xfrm>
          <a:prstGeom xmlns:a="http://schemas.openxmlformats.org/drawingml/2006/main" prst="rect">
            <a:avLst/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7E094F-D2DC-471C-AFAB-B4ED38B8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43150"/>
            <a:ext cx="428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C05607C-E50C-4B8F-89DE-C768454D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4574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逐位置在线目标</a:t>
            </a:r>
          </a:p>
        </p:txBody>
      </p:sp>
      <p:pic>
        <p:nvPicPr>
          <p:cNvPr id="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2257d2ca33475e"/>
          <a:stretch xmlns:a="http://schemas.openxmlformats.org/drawingml/2006/main"/>
        </p:blipFill>
        <p:spPr>
          <a:xfrm xmlns:a="http://schemas.openxmlformats.org/drawingml/2006/main">
            <a:off x="7143750" y="2810114"/>
            <a:ext cx="4286250" cy="475772"/>
          </a:xfrm>
          <a:prstGeom xmlns:a="http://schemas.openxmlformats.org/drawingml/2006/main" prst="rect">
            <a:avLst/>
          </a:prstGeom>
        </p:spPr>
      </p:pic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8EB70AD-D231-4026-A809-C0D13ABE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766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一句话解释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2AAFEFC-E7B2-4DF8-B78B-8D2A9A59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386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EE74D15-7AB4-4293-B1AF-73869A5E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038600"/>
            <a:ext cx="409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在哪里监督：学生自己的 rollout 状态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7B55EC5-76AA-4A6E-980E-9B48F394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672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93B94A2-475F-4138-BE24-33FC2B10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467225"/>
            <a:ext cx="409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监督什么：教师的下一 token 分布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3773F22-3318-4ACC-B73A-CE4A4DAF5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9585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2B5574E-6647-4B49-B8A5-5FBBA9CF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895850"/>
            <a:ext cx="409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怎样比较：逐位置散度后求和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D886ADC-A82D-4954-8852-68F80F44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1068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D6CF73C-84CE-4709-B93F-2DE05BB6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34075"/>
            <a:ext cx="11068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控制变量：数据、模板、采样规则、有效 token 预算与评测脚本固定；收益待实验验证。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3FD245D-2B83-4F96-B62B-77075ED5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5677095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直角三角形 17">
            <a:extLst xmlns:a="http://schemas.openxmlformats.org/drawingml/2006/main">
              <a:ext uri="{FF2B5EF4-FFF2-40B4-BE49-F238E27FC236}">
                <a16:creationId xmlns:a16="http://schemas.microsoft.com/office/drawing/2014/main" id="{BB615EAC-2CC1-440A-8673-8FF42A69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651" y="1094649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9" name="直角三角形 18">
            <a:extLst xmlns:a="http://schemas.openxmlformats.org/drawingml/2006/main">
              <a:ext uri="{FF2B5EF4-FFF2-40B4-BE49-F238E27FC236}">
                <a16:creationId xmlns:a16="http://schemas.microsoft.com/office/drawing/2014/main" id="{7AC21E0C-1E56-4A6B-9F72-C9FA98AB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655" y="1107656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20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F065D44B-1ED0-4DB6-9C3E-EF0F54F8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461911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F8AF61F5-A628-42BA-AC57-17D76A2A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799" y="1107656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7ACDFC89-5FB5-4AEA-89B0-DD65ECA6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978" y="1461911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71AE1705-35DB-4611-83AD-5D10D81FD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3176" y="1107656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直角三角形 23">
            <a:extLst xmlns:a="http://schemas.openxmlformats.org/drawingml/2006/main">
              <a:ext uri="{FF2B5EF4-FFF2-40B4-BE49-F238E27FC236}">
                <a16:creationId xmlns:a16="http://schemas.microsoft.com/office/drawing/2014/main" id="{D94FD47D-F8A9-4159-8514-BC88C3D0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1493" y="1094649"/>
            <a:ext cx="93174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25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1E8EA778-030F-4BC2-908B-970D3B33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816" y="1448904"/>
            <a:ext cx="3557884" cy="4933224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6AAB7529-3C73-4CC3-A619-0D43DD33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4015" y="1094649"/>
            <a:ext cx="2327480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18DE0C-B45B-4398-8686-22935D2F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E95093-A3AC-47DE-924F-9713CBDE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问题二：散度目标如何改变学习行为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F70958-6935-4DAD-A101-9C137800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8EE76F-17D5-4541-B7B1-2C03E3D5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固定学生状态与训练预算，只切换目标函数。下方行为倾向均待实验验证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C823BB-6FBD-4B3D-877C-E9658544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62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覆盖教师支持区域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5BA33E-E904-4F35-83F8-F13BDA4C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62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权重更对称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1B61B5-8F33-4B38-BCCC-618A7C996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62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5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聚焦学生当前模态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8A698B-FA30-4CF8-8FC7-28E02006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52675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8FB2B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13343B-7910-4E2A-937F-7DD9E11F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5267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075C7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9F9779D-7B2B-4E5B-BB36-3537BDEB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2143125"/>
            <a:ext cx="34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2061CC-E819-4794-9A25-B8B190C3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209800"/>
            <a:ext cx="190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71A331-F452-4C4F-90A8-A588BBF9E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95250" y="26479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Forward KL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658C184-A680-4C7D-AB5A-5FD29D99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95250" y="30099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教师分布加权</a:t>
            </a:r>
          </a:p>
        </p:txBody>
      </p:sp>
      <p:pic>
        <p:nvPicPr>
          <p:cNvPr id="8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ee335990254d44"/>
          <a:stretch xmlns:a="http://schemas.openxmlformats.org/drawingml/2006/main"/>
        </p:blipFill>
        <p:spPr>
          <a:xfrm xmlns:a="http://schemas.openxmlformats.org/drawingml/2006/main">
            <a:off x="523875" y="3475769"/>
            <a:ext cx="3238500" cy="439862"/>
          </a:xfrm>
          <a:prstGeom xmlns:a="http://schemas.openxmlformats.org/drawingml/2006/main" prst="rect">
            <a:avLst/>
          </a:prstGeom>
        </p:spPr>
      </p:pic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F676AF-A943-494B-AB80-68A92F5D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209800"/>
            <a:ext cx="190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solidFill>
              <a:srgbClr val="17324D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02033D8-EECD-44A4-BE4F-61BC2E3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6479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Jensen–Shannon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6741762-2549-4B18-BE69-22EF914C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混合分布连接两种方向</a:t>
            </a:r>
          </a:p>
        </p:txBody>
      </p:sp>
      <p:pic>
        <p:nvPicPr>
          <p:cNvPr id="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b3254ce8d64a53"/>
          <a:stretch xmlns:a="http://schemas.openxmlformats.org/drawingml/2006/main"/>
        </p:blipFill>
        <p:spPr>
          <a:xfrm xmlns:a="http://schemas.openxmlformats.org/drawingml/2006/main">
            <a:off x="4191000" y="3527425"/>
            <a:ext cx="3810000" cy="317500"/>
          </a:xfrm>
          <a:prstGeom xmlns:a="http://schemas.openxmlformats.org/drawingml/2006/main" prst="rect">
            <a:avLst/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99B1F6B-0AF5-4889-9FCC-8DB42170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2209800"/>
            <a:ext cx="190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E2FC12B-4673-42B6-857F-1BD02F69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479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Reverse KL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F76922-F54E-4E0B-9B7A-374A750EC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099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学生分布加权</a:t>
            </a:r>
          </a:p>
        </p:txBody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13c9a5de8148ba"/>
          <a:stretch xmlns:a="http://schemas.openxmlformats.org/drawingml/2006/main"/>
        </p:blipFill>
        <p:spPr>
          <a:xfrm xmlns:a="http://schemas.openxmlformats.org/drawingml/2006/main">
            <a:off x="8429625" y="3475769"/>
            <a:ext cx="3238500" cy="439862"/>
          </a:xfrm>
          <a:prstGeom xmlns:a="http://schemas.openxmlformats.org/drawingml/2006/main" prst="rect">
            <a:avLst/>
          </a:prstGeom>
        </p:spPr>
      </p:pic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1d4eedd79c4b19"/>
          <a:stretch xmlns:a="http://schemas.openxmlformats.org/drawingml/2006/main"/>
        </p:blipFill>
        <p:spPr>
          <a:xfrm xmlns:a="http://schemas.openxmlformats.org/drawingml/2006/main">
            <a:off x="5410200" y="4032129"/>
            <a:ext cx="1381125" cy="308217"/>
          </a:xfrm>
          <a:prstGeom xmlns:a="http://schemas.openxmlformats.org/drawingml/2006/main" prst="rect">
            <a:avLst/>
          </a:prstGeom>
        </p:spPr>
      </p:pic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2E121FA-6928-4A9F-B4DA-D4D213F0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10629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21508BA-44DC-46C3-9F10-CC8D9919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实验观察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11072E1-0742-4E2D-83E2-A68A6C7C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9149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优化轨迹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F578EE6-F43C-48DE-8638-EF18B3E6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2387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loss、梯度与熵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D3269EF-8A83-4C32-B507-48070F32E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9149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分布变化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CB35202-DB83-43BC-9E0E-02B02AEB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2387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重叠度与高概率区域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7BA01AD-B4FF-4DC5-B93F-1FF37CC5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149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任务结果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B50D47B-FE2C-4971-B413-85880CB0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2387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函数、参数与端到端成功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945959E-8B34-4F69-81E0-99E51D13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772150"/>
            <a:ext cx="1219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6F055D2-5272-4044-B91B-83798E5D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38825"/>
            <a:ext cx="1062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连续轴表示待检验的行为倾向，不表示三种目标存在固定优劣顺序。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8443E30-F2D7-4742-86FB-169FDB9A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72140159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直角三角形 3">
            <a:extLst xmlns:a="http://schemas.openxmlformats.org/drawingml/2006/main">
              <a:ext uri="{FF2B5EF4-FFF2-40B4-BE49-F238E27FC236}">
                <a16:creationId xmlns:a16="http://schemas.microsoft.com/office/drawing/2014/main" id="{5880C8B8-F862-4217-B055-0C7B104F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104" y="3617146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直角三角形 4">
            <a:extLst xmlns:a="http://schemas.openxmlformats.org/drawingml/2006/main">
              <a:ext uri="{FF2B5EF4-FFF2-40B4-BE49-F238E27FC236}">
                <a16:creationId xmlns:a16="http://schemas.microsoft.com/office/drawing/2014/main" id="{4CF94AA2-8CF0-4C53-88AA-A7840068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104" y="890345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6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3E011DCD-6909-4C2A-A2B5-6603E0F1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3993424"/>
            <a:ext cx="11214100" cy="218440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BB0A6AA1-A6B3-4159-BEFF-F9BE2D411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1244600"/>
            <a:ext cx="11214100" cy="218440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56D4D1D6-4E72-4BE7-80E4-71DD41FC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" y="890345"/>
            <a:ext cx="2608304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对角圆角矩形 81">
            <a:extLst xmlns:a="http://schemas.openxmlformats.org/drawingml/2006/main">
              <a:ext uri="{FF2B5EF4-FFF2-40B4-BE49-F238E27FC236}">
                <a16:creationId xmlns:a16="http://schemas.microsoft.com/office/drawing/2014/main" id="{E88C4101-48AC-450D-8E5E-CD3017A6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800" y="3617146"/>
            <a:ext cx="2608304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XXXX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00B331-1822-4E8D-94D0-387185F5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3888F7-049B-4F41-B419-315A5658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问题三：监督信息粒度与成本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1841D9-646A-4150-AAB4-E0FC5C6B7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DC79CE-B3B2-43EB-84DF-D3928B0D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同一 rollout、同一优化预算，教师反馈从完整分布逐级收窄到单个采样 token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D8EB21-8534-4BDB-8437-298CB20D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10858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8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B86CD7-BF36-4074-B3BA-FEEFE830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114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solidFill>
              <a:srgbClr val="17324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CCD018-0278-421D-B6E6-EF03C8CC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01  Full vocabulary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634FE3-C58C-4C2E-8C8E-9DCEFEAD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145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保留完整教师分布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3948B3-F508-4F82-9E47-1105C7C79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F2D3D"/>
                </a:solidFill>
                <a:latin typeface="Cambria Math"/>
                <a:ea typeface="Cambria Math"/>
                <a:cs typeface="Cambria Math"/>
              </a:defRPr>
            </a:pPr>
            <a:r>
              <a:rPr sz="2025">
                <a:solidFill>
                  <a:srgbClr val="1F2D3D"/>
                </a:solidFill>
                <a:latin typeface="Cambria Math"/>
                <a:ea typeface="Cambria Math"/>
                <a:cs typeface="Cambria Math"/>
              </a:rPr>
              <a:t>qₜ(v | sₜ),   v ∈ 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320B56-43D0-44CA-8C62-9DEFABDA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信息完整，教师反馈体积最大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8E6CE1-EBE1-4D74-82D2-41ED2D8F9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952750"/>
            <a:ext cx="8001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6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B9BF61-6237-48A7-8D8D-6B1A5F7D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952750"/>
            <a:ext cx="1143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611A6C-6408-4C3E-98E9-73566CCE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432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02  Top-K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AB3D2A-58F1-455A-AAE0-BDADF1FD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5623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截断到高概率支持集并重新归一化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7446c74a414a67"/>
          <a:stretch xmlns:a="http://schemas.openxmlformats.org/drawingml/2006/main"/>
        </p:blipFill>
        <p:spPr>
          <a:xfrm xmlns:a="http://schemas.openxmlformats.org/drawingml/2006/main">
            <a:off x="5702050" y="3095625"/>
            <a:ext cx="3835900" cy="83820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C42E02-31F3-40A5-90B0-FF58E13D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38650"/>
            <a:ext cx="6191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F2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ABC1BC-13CA-48E4-AC85-A2419D44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38650"/>
            <a:ext cx="114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AF1308-F544-4850-A8C3-45618FCF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629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03  K1 sampled-token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CE554E-8B29-4166-BBAC-184A3915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067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单样本估计教师交叉熵项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5c5f3d090e4056"/>
          <a:stretch xmlns:a="http://schemas.openxmlformats.org/drawingml/2006/main"/>
        </p:blipFill>
        <p:spPr>
          <a:xfrm xmlns:a="http://schemas.openxmlformats.org/drawingml/2006/main">
            <a:off x="5810250" y="4871217"/>
            <a:ext cx="3143250" cy="258816"/>
          </a:xfrm>
          <a:prstGeom xmlns:a="http://schemas.openxmlformats.org/drawingml/2006/main" prst="rect">
            <a:avLst/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663A21-B768-46CF-BF06-7F017FEE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信息量 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B93336-11D6-4164-8420-7047C6C0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886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教师反馈成本 ↓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022A6B-06EB-4589-BF15-731165AC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864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估计方差 ↑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993D630-AEBC-4900-9EBB-BBDB5C68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6075379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直角三角形 3">
            <a:extLst xmlns:a="http://schemas.openxmlformats.org/drawingml/2006/main">
              <a:ext uri="{FF2B5EF4-FFF2-40B4-BE49-F238E27FC236}">
                <a16:creationId xmlns:a16="http://schemas.microsoft.com/office/drawing/2014/main" id="{38E503C1-8B90-4C53-BEE2-B61021C5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63" y="1144153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47356F7E-D4E5-4E07-8C13-4AF8D4BC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476" y="1344768"/>
            <a:ext cx="11214100" cy="127508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A325CEB2-9203-44B0-AAD8-3B3360C6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50" y="1072932"/>
            <a:ext cx="671417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直角三角形 6">
            <a:extLst xmlns:a="http://schemas.openxmlformats.org/drawingml/2006/main">
              <a:ext uri="{FF2B5EF4-FFF2-40B4-BE49-F238E27FC236}">
                <a16:creationId xmlns:a16="http://schemas.microsoft.com/office/drawing/2014/main" id="{1C3F8F8C-2BE3-45AD-84B2-82B8328C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425" y="2962905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8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42E392E2-EAED-47FF-88E4-7F6F118A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8" y="3163520"/>
            <a:ext cx="11214100" cy="127508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E0309DC0-66F1-4FF4-8F85-4CF13615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12" y="2891684"/>
            <a:ext cx="671417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直角三角形 9">
            <a:extLst xmlns:a="http://schemas.openxmlformats.org/drawingml/2006/main">
              <a:ext uri="{FF2B5EF4-FFF2-40B4-BE49-F238E27FC236}">
                <a16:creationId xmlns:a16="http://schemas.microsoft.com/office/drawing/2014/main" id="{4F968579-53D6-4BE0-9E0F-65637FEC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487" y="4781657"/>
            <a:ext cx="104416" cy="543672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chemeClr val="accent1">
              <a:lumMod val="50000"/>
            </a:schemeClr>
          </a:solidFill>
          <a:ln xmlns:a="http://schemas.openxmlformats.org/drawingml/2006/main" w="19050">
            <a:noFill/>
            <a:prstDash val="solid"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spcAft>
                <a:spcPts val="600"/>
              </a:spcAft>
              <a:buNone/>
            </a:pPr>
            <a:endParaRPr sz="2000" b="1">
              <a:solidFill>
                <a:srgbClr val="FFFFFF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" name="圆角矩形 2">
            <a:extLst xmlns:a="http://schemas.openxmlformats.org/drawingml/2006/main">
              <a:ext uri="{FF2B5EF4-FFF2-40B4-BE49-F238E27FC236}">
                <a16:creationId xmlns:a16="http://schemas.microsoft.com/office/drawing/2014/main" id="{E1C9F5C5-9D84-4C06-992A-D085F064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00" y="4982272"/>
            <a:ext cx="11214100" cy="127508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solidFill>
              <a:srgbClr val="00537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对角圆角矩形 80">
            <a:extLst xmlns:a="http://schemas.openxmlformats.org/drawingml/2006/main">
              <a:ext uri="{FF2B5EF4-FFF2-40B4-BE49-F238E27FC236}">
                <a16:creationId xmlns:a16="http://schemas.microsoft.com/office/drawing/2014/main" id="{4A53EBBB-A7D1-4FE4-ABEF-75DB5F23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74" y="4710436"/>
            <a:ext cx="671417" cy="543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lIns="98581" tIns="49291" rIns="98581" bIns="49291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2800" b="1">
              <a:solidFill>
                <a:schemeClr val="bg1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AF7BB2-62C9-492F-8424-9997B14B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0550FE-4A91-4703-BFE5-B13F2586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实验设计与公平比较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CEFA30-F7A7-464F-B610-75CAEADB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BAE3D6-D177-4A34-A170-109F78E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906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先固定协议，再改变一个研究因素；正式结论待实验验证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F913FB-99B0-4FA6-82D5-F08DEBEA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固定条件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DD3933-0D11-4554-8137-44647881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287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分层指标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81DB2D-81B1-481E-8CD3-EF9598B7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5C7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205BBB-97F1-404C-9AE6-58D4E857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097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5C7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D8C3DA-45F9-43B2-BB83-EFEF7B516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0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089067-600D-4316-92E5-7A75593B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模型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3A0A12-FD68-406F-9BB1-66435180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2047875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Student Qwen3-0.6B / Teacher Qwen3-4B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C5A0FA-C0D1-44FE-9C1A-E387A08F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04F169-9E8F-4401-975D-878AFD36B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47875"/>
            <a:ext cx="100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任务层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A1F8EA-9286-4383-8038-E7C413ABC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4787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JSON、选函数、参数、执行与端到端完成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A0686D-12B6-4753-A905-DA6D5891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479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75E7BB-0673-41C5-A9DC-FF03DDEA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574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数据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6D8397-890B-4D37-B0F8-935AD112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2657475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Function Calling，固定 train / valid split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4ED980-7319-40CA-8F20-DCF4C857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575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39A422-A30C-439B-8D42-E4CFDCB55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57475"/>
            <a:ext cx="100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稳定层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19FFF7-6B49-4380-9247-2FA08921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5747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loss / grad、NaN / Inf、entropy / overlap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5051A7-60D6-4C75-868D-837D6AD7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575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12B5216-7D42-4006-B586-59E2D6DB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670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F1FC67-07FA-4910-8544-C92C72AB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267075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LoRA 配置、steps、有效 token 预算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32F9B0-6606-4513-B849-AA17930B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3E8B30-7035-491C-8BE9-B6FEA4D8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67075"/>
            <a:ext cx="100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资源层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11389EC-3CA3-4D8F-9B5B-88AC4373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6707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teacher time、吞吐、显存与反馈体积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47708F-A9E4-421B-8465-33C32356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03A136D-37B2-40C3-9167-CCC45EF2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766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生成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5D90855-6A13-4DE8-97E5-D9C6DA38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876675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模板、采样参数与 evaluator 保持一致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6ADADE5-632F-43A8-B5FB-0F602A10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767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83BB7A-F728-4752-B4C5-AC41D6A1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76675"/>
            <a:ext cx="100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追溯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A1988E9-D630-401F-B5BB-3F762A18F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7667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commit、config、environment 与 raw metrics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777F557-28FB-4582-A7D6-978DA9BE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767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80A8C6-5215-46A2-823F-B16F66E8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86275"/>
            <a:ext cx="95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随机性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8FBF8EC-975F-4BAA-B624-DE6206CF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486275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至少 3 个随机种子，报告均值与标准差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337584-9DD4-4BEC-924B-EC4370D9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863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7E7FE38-14B0-4123-BBF0-31242EB0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86275"/>
            <a:ext cx="1000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比较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C366EA7-28B5-47F7-8E82-833B6D51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8627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散度 × 监督粒度的受控组合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53F7C59-234B-4C5C-93EB-00E2E49F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8632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F921D13-AD17-4796-9D9A-B73A479C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00700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一次只改变一个因素，并保存配置、环境与原始指标。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0A75B63-703D-4C1B-A4FE-C8460FDBE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22268887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00cf52dc0b14615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7" name="图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64be0f11a44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96427" y="3596360"/>
            <a:ext cx="6287881" cy="2749276"/>
          </a:xfrm>
          <a:prstGeom xmlns:a="http://schemas.openxmlformats.org/drawingml/2006/main" prst="rect">
            <a:avLst/>
          </a:prstGeom>
        </p:spPr>
      </p:pic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FAA0325-D8F8-4429-9481-D32D6842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96878"/>
            <a:ext cx="12191999" cy="5611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D93666E-AB8E-4E71-A010-029C392D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89647"/>
            <a:ext cx="12192002" cy="177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40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3DBB7C70-C7C3-41E9-BF71-50EF1227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0" y="1149746"/>
            <a:ext cx="4933046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" name="标题 1">
            <a:extLst xmlns:a="http://schemas.openxmlformats.org/drawingml/2006/main">
              <a:ext uri="{FF2B5EF4-FFF2-40B4-BE49-F238E27FC236}">
                <a16:creationId xmlns:a16="http://schemas.microsoft.com/office/drawing/2014/main" id="{D76EA0F4-AB20-418B-8A58-0B3AA4E4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12860"/>
            <a:ext cx="11201400" cy="14905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4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A4A2D6A5-04F9-4AB4-9FC7-D772B8A2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239000" y="1145795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73" name="图片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e71dd1289747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7788" y="219682"/>
            <a:ext cx="2199274" cy="961598"/>
          </a:xfrm>
          <a:prstGeom xmlns:a="http://schemas.openxmlformats.org/drawingml/2006/main" prst="rect">
            <a:avLst/>
          </a:prstGeom>
        </p:spPr>
      </p:pic>
      <p:sp>
        <p:nvSpPr>
          <p:cNvPr id="12" name="副标题 2">
            <a:extLst xmlns:a="http://schemas.openxmlformats.org/drawingml/2006/main">
              <a:ext uri="{FF2B5EF4-FFF2-40B4-BE49-F238E27FC236}">
                <a16:creationId xmlns:a16="http://schemas.microsoft.com/office/drawing/2014/main" id="{094EA864-9D21-47FB-9ACD-36B9DB05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12451"/>
            <a:ext cx="12192000" cy="6800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pic>
        <p:nvPicPr>
          <p:cNvPr id="75" name="图片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52ef5163ac42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9679" y="6415212"/>
            <a:ext cx="1655733" cy="324128"/>
          </a:xfrm>
          <a:prstGeom xmlns:a="http://schemas.openxmlformats.org/drawingml/2006/main" prst="rect">
            <a:avLst/>
          </a:prstGeom>
        </p:spPr>
      </p:pic>
      <p:sp>
        <p:nvSpPr>
          <p:cNvPr id="16" name="副标题 2">
            <a:extLst xmlns:a="http://schemas.openxmlformats.org/drawingml/2006/main">
              <a:ext uri="{FF2B5EF4-FFF2-40B4-BE49-F238E27FC236}">
                <a16:creationId xmlns:a16="http://schemas.microsoft.com/office/drawing/2014/main" id="{3FFCD2DB-EF52-4A5D-9A1A-B08CDE49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50" y="4204207"/>
            <a:ext cx="11214100" cy="6804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/>
            </a:r>
            <a:endParaRPr b="1">
              <a:solidFill>
                <a:srgbClr val="00537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5A32DB-ED49-4584-A532-EA9531CB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4A485A-FAAE-4675-9E32-938BE2628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进度安排（2026.09—2027.05）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2A16EF-A4A2-4FBE-8A8B-4C71084F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6BBA82-57B9-4B9C-AA67-853AF006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开题、实现、实验与答辩节点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619CF3-17C9-45F6-81EC-FAC91664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10582275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D7FA37-A5D1-493A-9F31-3FCCF5C6C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14475"/>
            <a:ext cx="2781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阶段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F94EEA-6797-440C-BE92-18149F28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28750"/>
            <a:ext cx="0" cy="3733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2671A1-B038-41A6-9E62-87292886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24000"/>
            <a:ext cx="8667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2026.09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CE2E90-7ABF-4916-AD77-78C88764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1428750"/>
            <a:ext cx="0" cy="3733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20333E-BCD8-4060-9767-5FF78CE5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1524000"/>
            <a:ext cx="8667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51A9F2-E518-4457-9E04-756145B2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428750"/>
            <a:ext cx="0" cy="3733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412A50-ED0F-4BB7-BEE8-6EFF36FB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524000"/>
            <a:ext cx="8667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029B63-50B9-4C89-B9E7-092F06C1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428750"/>
            <a:ext cx="0" cy="3733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EDA771-C1B6-4A28-8B06-A3D4A230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524000"/>
            <a:ext cx="8667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7A4E67-99A0-4313-82AC-F2B448F5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428750"/>
            <a:ext cx="0" cy="3733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8DE444-5AAB-435F-BD9E-7F92FE67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524000"/>
            <a:ext cx="8667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2027.01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F289D31-9715-44A5-B2C4-4AA80438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0" cy="3733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46553F-F8EA-496F-8A6E-7637958B6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524000"/>
            <a:ext cx="8667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9A508B5-DA83-407E-9D66-2CF3BDEA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28750"/>
            <a:ext cx="0" cy="3733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3637D7C-1140-46AD-956A-7725BF90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524000"/>
            <a:ext cx="8667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6B2B2E-E934-4E3D-8E0B-BB05A219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1428750"/>
            <a:ext cx="0" cy="3733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CFA593-5AA6-48A4-B374-19892EB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1524000"/>
            <a:ext cx="8667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A1820B2-6283-467E-BA31-DC2D5D6D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1428750"/>
            <a:ext cx="0" cy="3733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24CB230-A618-458A-8348-E1175CB2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1524000"/>
            <a:ext cx="8667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EC9EC3-B6B3-47A1-A5A3-6F585201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10582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BE6121C-A539-4EA8-9411-A9CFF60D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90725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1  开题申请与方案确认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74DC068-19FF-4C59-BC30-A124A7464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1990725"/>
            <a:ext cx="695325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5797CE"/>
          </a:solidFill>
          <a:ln xmlns:a="http://schemas.openxmlformats.org/drawingml/2006/main" w="0">
            <a:solidFill>
              <a:srgbClr val="5797CE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56018E2-4086-4B80-B535-21D49283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10582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5347A16-3FD2-4619-82F7-479AF70C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43175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2  文献、数据与兼容性准备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B3D7189-6DBD-4658-915B-818760B8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43175"/>
            <a:ext cx="15621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5B447"/>
          </a:solidFill>
          <a:ln xmlns:a="http://schemas.openxmlformats.org/drawingml/2006/main" w="0">
            <a:solidFill>
              <a:srgbClr val="75B447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EEA09A8-86EC-4BC0-B801-7BFB5C142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10582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7C84F2F-4204-46F2-A652-B36D3A9E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95625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3  训练与推理管线实现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063824C-FF6F-44FF-8EF8-1E0485BA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95625"/>
            <a:ext cx="15621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6E9EC5"/>
          </a:solidFill>
          <a:ln xmlns:a="http://schemas.openxmlformats.org/drawingml/2006/main" w="0">
            <a:solidFill>
              <a:srgbClr val="6E9EC5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5BF2C69-771B-425A-A3F7-90F68B3B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05200"/>
            <a:ext cx="10582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B9C9EAC-819D-4B54-9F90-6BD777D1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48075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4  正式实验与中期检查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9CAB29D-5E25-4CAF-99EE-5D003441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48075"/>
            <a:ext cx="15621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FA7D24"/>
          </a:solidFill>
          <a:ln xmlns:a="http://schemas.openxmlformats.org/drawingml/2006/main" w="0">
            <a:solidFill>
              <a:srgbClr val="FA7D24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5F5C2D-4F36-4F15-8EAA-F4C73867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10582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CE25383-6375-41C9-87F4-C6B8B087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00525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5  补充实验、评测与分析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D94351E-EE4F-4431-9A32-94094FAD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200525"/>
            <a:ext cx="15621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9E9E9E"/>
          </a:solidFill>
          <a:ln xmlns:a="http://schemas.openxmlformats.org/drawingml/2006/main" w="0">
            <a:solidFill>
              <a:srgbClr val="9E9E9E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CD8C734-1C3C-4801-8BB1-7432C63F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10582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A2F1AF8-BE50-44B4-BC6B-CAE606D6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52975"/>
            <a:ext cx="2552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6  论文、结题与答辩准备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A4DF651-3CD5-4F31-810E-D9DBC88E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752975"/>
            <a:ext cx="15621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8467A8"/>
          </a:solidFill>
          <a:ln xmlns:a="http://schemas.openxmlformats.org/drawingml/2006/main" w="0">
            <a:solidFill>
              <a:srgbClr val="8467A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747F604-91AF-4B63-AA34-45F82181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62550"/>
            <a:ext cx="10582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FB2BE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C989FC9-F8CF-40EC-93C9-42DE4825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95900"/>
            <a:ext cx="381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953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D9534F"/>
                </a:solidFill>
                <a:latin typeface="微软雅黑"/>
                <a:ea typeface="微软雅黑"/>
                <a:cs typeface="微软雅黑"/>
              </a:rPr>
              <a:t>开题申请：2026年9月14日—9月30日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5AAFA8E-5971-4718-A1CD-53A1E4FC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529590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953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D9534F"/>
                </a:solidFill>
                <a:latin typeface="微软雅黑"/>
                <a:ea typeface="微软雅黑"/>
                <a:cs typeface="微软雅黑"/>
              </a:rPr>
              <a:t>中期申请：预计2027年3月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BA403C7-88A2-47AB-9BE3-70512BD6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95900"/>
            <a:ext cx="3714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D953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D9534F"/>
                </a:solidFill>
                <a:latin typeface="微软雅黑"/>
                <a:ea typeface="微软雅黑"/>
                <a:cs typeface="微软雅黑"/>
              </a:rPr>
              <a:t>结题申请与答辩：预计2027年5月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8767DEF-6A37-4106-8277-64594874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43575"/>
            <a:ext cx="10782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各阶段按实验运行情况交叉推进，中期检查前完成训练链路与阶段性结果。</a:t>
            </a:r>
          </a:p>
        </p:txBody>
      </p:sp>
    </p:spTree>
    <p:extLst>
      <p:ext uri="{BB962C8B-B14F-4D97-AF65-F5344CB8AC3E}">
        <p14:creationId xmlns:p14="http://schemas.microsoft.com/office/powerpoint/2010/main" val="113307776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96d39425498496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9" name="图片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f8029d23148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96427" y="3596360"/>
            <a:ext cx="6287881" cy="2749276"/>
          </a:xfrm>
          <a:prstGeom xmlns:a="http://schemas.openxmlformats.org/drawingml/2006/main" prst="rect">
            <a:avLst/>
          </a:prstGeom>
        </p:spPr>
      </p:pic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FAA0325-D8F8-4429-9481-D32D6842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296878"/>
            <a:ext cx="12191999" cy="5611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D93666E-AB8E-4E71-A010-029C392D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89647"/>
            <a:ext cx="12192002" cy="177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37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4000" b="1"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直接连接符 3">
            <a:extLst xmlns:a="http://schemas.openxmlformats.org/drawingml/2006/main">
              <a:ext uri="{FF2B5EF4-FFF2-40B4-BE49-F238E27FC236}">
                <a16:creationId xmlns:a16="http://schemas.microsoft.com/office/drawing/2014/main" id="{3DBB7C70-C7C3-41E9-BF71-50EF1227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0" y="1149746"/>
            <a:ext cx="4933046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5" name="标题 1">
            <a:extLst xmlns:a="http://schemas.openxmlformats.org/drawingml/2006/main">
              <a:ext uri="{FF2B5EF4-FFF2-40B4-BE49-F238E27FC236}">
                <a16:creationId xmlns:a16="http://schemas.microsoft.com/office/drawing/2014/main" id="{D76EA0F4-AB20-418B-8A58-0B3AA4E4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12860"/>
            <a:ext cx="11201400" cy="14905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ctr">
              <a:buNone/>
            </a:pPr>
            <a:r>
              <a:rPr sz="4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谢</a:t>
            </a:r>
            <a:r>
              <a:rPr sz="4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800" b="1">
                <a:solidFill>
                  <a:schemeClr val="bg1"/>
                </a:solidFill>
                <a:latin typeface="微软雅黑"/>
                <a:ea typeface="微软雅黑"/>
                <a:cs typeface="微软雅黑"/>
              </a:rPr>
              <a:t>谢</a:t>
            </a: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A4A2D6A5-04F9-4AB4-9FC7-D772B8A2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239000" y="1145795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00537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5" name="图片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1f1ebe5ce940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7788" y="219682"/>
            <a:ext cx="2199274" cy="961598"/>
          </a:xfrm>
          <a:prstGeom xmlns:a="http://schemas.openxmlformats.org/drawingml/2006/main" prst="rect">
            <a:avLst/>
          </a:prstGeom>
        </p:spPr>
      </p:pic>
      <p:sp>
        <p:nvSpPr>
          <p:cNvPr id="12" name="副标题 2">
            <a:extLst xmlns:a="http://schemas.openxmlformats.org/drawingml/2006/main">
              <a:ext uri="{FF2B5EF4-FFF2-40B4-BE49-F238E27FC236}">
                <a16:creationId xmlns:a16="http://schemas.microsoft.com/office/drawing/2014/main" id="{094EA864-9D21-47FB-9ACD-36B9DB05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12451"/>
            <a:ext cx="12192000" cy="6800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202X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年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X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月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XX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日</a:t>
            </a:r>
          </a:p>
        </p:txBody>
      </p:sp>
      <p:pic>
        <p:nvPicPr>
          <p:cNvPr id="57" name="图片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bb5c6587dd4e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9679" y="6415212"/>
            <a:ext cx="1655733" cy="324128"/>
          </a:xfrm>
          <a:prstGeom xmlns:a="http://schemas.openxmlformats.org/drawingml/2006/main" prst="rect">
            <a:avLst/>
          </a:prstGeom>
        </p:spPr>
      </p:pic>
      <p:sp>
        <p:nvSpPr>
          <p:cNvPr id="16" name="副标题 2">
            <a:extLst xmlns:a="http://schemas.openxmlformats.org/drawingml/2006/main">
              <a:ext uri="{FF2B5EF4-FFF2-40B4-BE49-F238E27FC236}">
                <a16:creationId xmlns:a16="http://schemas.microsoft.com/office/drawing/2014/main" id="{3FFCD2DB-EF52-4A5D-9A1A-B08CDE49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950" y="4204207"/>
            <a:ext cx="11214100" cy="6804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XX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学院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/</a:t>
            </a:r>
            <a:r>
              <a:rPr b="1">
                <a:solidFill>
                  <a:srgbClr val="005376"/>
                </a:solidFill>
                <a:latin typeface="微软雅黑"/>
                <a:ea typeface="微软雅黑"/>
                <a:cs typeface="微软雅黑"/>
              </a:rPr>
              <a:t>学部</a:t>
            </a:r>
            <a:endParaRPr b="1">
              <a:solidFill>
                <a:srgbClr val="00537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A9601A-41BE-4397-8840-D055A180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931D8D-3055-4099-9BB9-0CE41905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预期贡献与风险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6AB4CB-9F72-4464-9E5B-5F3BBFBC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382367-5568-4295-96E2-CD27B551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每项预期产出都对应一项风险与一条缓解路径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E4B848-B3CB-46F1-A529-0C79F4B43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预期贡献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69AF4F-E5E9-493A-9FFF-881A87C0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5C7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3AB2CA-FF4E-4E98-80DA-AA82C9A5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5049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主要风险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8E4CCF-C9A4-46F6-89F3-A881B433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050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5C7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A452AB-95D9-4A24-9C4E-A24B9532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5049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对应措施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DB7F62-4551-4D2F-9C6E-46967F5D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050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5C7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79B456-46BE-41A9-A7BE-7E4339FF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统一、可复现的实验协议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EAD2E6-9846-4F8A-B29F-C41B1074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05EB1E5-4C3F-4398-8CE4-61579B28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33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师生 tokenizer、消息模板或 schema 不兼容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33C827-6DB0-495C-8350-4E96CDB4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099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47F5F06-2E08-49F2-893A-2F281F7C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336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训练前完成词表、模板与 schema 对齐审计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BF6D7BA-DF00-4171-A4E5-C8B69D66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3E20D4-38AC-4DE5-9033-73BF22ED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956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散度与监督粒度的受控比较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0B65A9D-BA57-439E-98FA-B74ECACF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28B1A8-FDAE-47D2-8AEB-E3DE4132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956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组合数量扩大，教师反馈与算力超出预算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D94F3A-93C2-491D-A542-5208789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71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BBCD3E-1F53-4F27-ABE2-1E38520B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956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固定训练预算；先小规模筛选，再运行核心组合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9FEAC3-02A0-4A1A-8848-721E22276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171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884D7EB-BF83-4693-9695-37D3CB60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工具调用的分层评测证据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4C62276-66AC-4A04-BB30-2889170F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E8D27F8-3CC7-42C1-B661-14EB8D6D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577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token 指标与端到端执行成功率不一致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2D5F723-F1C6-4BC7-B8DD-DE1B9992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3340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55B44B9-4E77-4B5C-BBD2-EDEE9A68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4577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  <a:cs typeface="微软雅黑"/>
              </a:rPr>
              <a:t>同步报告函数、参数与执行成功，并保留失败轨迹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FDC9C81-A37B-4059-84BA-BB777173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3400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8F1F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D453019-347F-4127-B7BC-E4B7B24D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72150"/>
            <a:ext cx="1076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三行严格一一对应；贡献是计划产出，量化收益仍待实验验证。</a:t>
            </a:r>
          </a:p>
        </p:txBody>
      </p:sp>
    </p:spTree>
    <p:extLst>
      <p:ext uri="{BB962C8B-B14F-4D97-AF65-F5344CB8AC3E}">
        <p14:creationId xmlns:p14="http://schemas.microsoft.com/office/powerpoint/2010/main" val="11330777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a8b454cf6f4b15"/>
          <a:stretch xmlns:a="http://schemas.openxmlformats.org/drawingml/2006/main"/>
        </p:blipFill>
        <p:spPr>
          <a:xfrm xmlns:a="http://schemas.openxmlformats.org/drawingml/2006/main">
            <a:off x="523875" y="3475769"/>
            <a:ext cx="3238500" cy="439862"/>
          </a:xfrm>
          <a:prstGeom xmlns:a="http://schemas.openxmlformats.org/drawingml/2006/main" prst="rect">
            <a:avLst/>
          </a:prstGeom>
        </p:spPr>
      </p:pic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680b3896444d3e"/>
          <a:stretch xmlns:a="http://schemas.openxmlformats.org/drawingml/2006/main"/>
        </p:blipFill>
        <p:spPr>
          <a:xfrm xmlns:a="http://schemas.openxmlformats.org/drawingml/2006/main">
            <a:off x="4191000" y="3527425"/>
            <a:ext cx="3810000" cy="317500"/>
          </a:xfrm>
          <a:prstGeom xmlns:a="http://schemas.openxmlformats.org/drawingml/2006/main" prst="rect">
            <a:avLst/>
          </a:prstGeom>
        </p:spPr>
      </p:pic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41be6c81a84c6a"/>
          <a:stretch xmlns:a="http://schemas.openxmlformats.org/drawingml/2006/main"/>
        </p:blipFill>
        <p:spPr>
          <a:xfrm xmlns:a="http://schemas.openxmlformats.org/drawingml/2006/main">
            <a:off x="8429625" y="3475769"/>
            <a:ext cx="3238500" cy="439862"/>
          </a:xfrm>
          <a:prstGeom xmlns:a="http://schemas.openxmlformats.org/drawingml/2006/main" prst="rect">
            <a:avLst/>
          </a:prstGeom>
        </p:spPr>
      </p:pic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8b85644824c8b"/>
          <a:stretch xmlns:a="http://schemas.openxmlformats.org/drawingml/2006/main"/>
        </p:blipFill>
        <p:spPr>
          <a:xfrm xmlns:a="http://schemas.openxmlformats.org/drawingml/2006/main">
            <a:off x="5410200" y="4032129"/>
            <a:ext cx="1381125" cy="308217"/>
          </a:xfrm>
          <a:prstGeom xmlns:a="http://schemas.openxmlformats.org/drawingml/2006/main" prst="rect">
            <a:avLst/>
          </a:prstGeom>
        </p:spPr>
      </p:pic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A1711E2-A825-4E25-9314-95851CE3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66775"/>
            <a:ext cx="12192000" cy="542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944A9FD-6FC0-49A4-BDAB-21F1ADCF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905500"/>
            <a:ext cx="12192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649654E-F04C-4919-9D91-6C6019D2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15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AF92AC5-612F-434F-A2B2-6767C35A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33350"/>
            <a:ext cx="11220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Q&amp;A｜答辩交流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68419D2-F130-4948-A558-8ED6D0C7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14375"/>
            <a:ext cx="11220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C79"/>
          </a:solidFill>
          <a:ln xmlns:a="http://schemas.openxmlformats.org/drawingml/2006/main" w="0">
            <a:solidFill>
              <a:srgbClr val="075C79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1153A7E-3E3F-4E84-A3E1-7AF89C36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defRPr>
            </a:pPr>
            <a:r>
              <a:rPr sz="4950" b="1">
                <a:solidFill>
                  <a:srgbClr val="075C79"/>
                </a:solidFill>
                <a:latin typeface="微软雅黑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CB5D210-E0A9-4D8E-A4E7-628582CF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>
                <a:solidFill>
                  <a:srgbClr val="17324D"/>
                </a:solidFill>
                <a:latin typeface="微软雅黑"/>
                <a:ea typeface="微软雅黑"/>
                <a:cs typeface="微软雅黑"/>
              </a:defRPr>
            </a:pPr>
            <a:r>
              <a:rPr sz="2100">
                <a:solidFill>
                  <a:srgbClr val="17324D"/>
                </a:solidFill>
                <a:latin typeface="微软雅黑"/>
                <a:ea typeface="微软雅黑"/>
                <a:cs typeface="微软雅黑"/>
              </a:rPr>
              <a:t>请老师指导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D97E6C7-3EC7-4703-A475-A9C9E178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62450"/>
            <a:ext cx="1009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张子琦　计算机科学与技术</a:t>
            </a:r>
          </a:p>
          <a:p xmlns:a="http://schemas.openxmlformats.org/drawingml/2006/main">
            <a:pPr algn="ctr">
              <a:defRPr sz="1425">
                <a:solidFill>
                  <a:srgbClr val="5F6F78"/>
                </a:solidFill>
                <a:latin typeface="微软雅黑"/>
                <a:ea typeface="微软雅黑"/>
                <a:cs typeface="微软雅黑"/>
              </a:defRPr>
            </a:pPr>
            <a:r>
              <a:rPr sz="1425">
                <a:solidFill>
                  <a:srgbClr val="5F6F78"/>
                </a:solidFill>
                <a:latin typeface="微软雅黑"/>
                <a:ea typeface="微软雅黑"/>
                <a:cs typeface="微软雅黑"/>
              </a:rPr>
              <a:t>2026年9月27日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23E2554-F547-426F-8E57-8A5B0AF3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172" y="6578632"/>
            <a:ext cx="2743200" cy="279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21401595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2026-09-27T08:23:32.6270000Z</dcterms:created>
  <dcterms:modified xsi:type="dcterms:W3CDTF">2026-09-27T08:23:32.6270000Z</dcterms:modified>
</coreProperties>
</file>